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709160"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09160" y="0"/>
            <a:ext cx="146304" cy="6858000"/>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58368"/>
            <a:ext cx="3886200" cy="4480560"/>
          </a:xfrm>
          <a:prstGeom prst="rect">
            <a:avLst/>
          </a:prstGeom>
          <a:noFill/>
        </p:spPr>
        <p:txBody>
          <a:bodyPr wrap="square">
            <a:spAutoFit/>
          </a:bodyPr>
          <a:lstStyle/>
          <a:p>
            <a:pPr>
              <a:defRPr sz="1000" b="1">
                <a:solidFill>
                  <a:srgbClr val="FFFFFF"/>
                </a:solidFill>
              </a:defRPr>
            </a:pPr>
            <a:r>
              <a:t>BLUEOCEAN</a:t>
            </a:r>
          </a:p>
          <a:p>
            <a:pPr>
              <a:spcBef>
                <a:spcPts val="2200"/>
              </a:spcBef>
              <a:defRPr sz="2800">
                <a:solidFill>
                  <a:srgbClr val="FFFFFF"/>
                </a:solidFill>
              </a:defRPr>
            </a:pPr>
            <a:r>
              <a:t>2026中国农业：三大赛道优先布局</a:t>
            </a:r>
          </a:p>
          <a:p>
            <a:pPr>
              <a:spcBef>
                <a:spcPts val="1800"/>
              </a:spcBef>
              <a:defRPr sz="1100">
                <a:solidFill>
                  <a:srgbClr val="C9D8E6"/>
                </a:solidFill>
              </a:defRPr>
            </a:pPr>
            <a:r>
              <a:t>面向农业高管与投资者的战略机会评估</a:t>
            </a:r>
          </a:p>
        </p:txBody>
      </p:sp>
      <p:sp>
        <p:nvSpPr>
          <p:cNvPr id="5" name="TextBox 4"/>
          <p:cNvSpPr txBox="1"/>
          <p:nvPr/>
        </p:nvSpPr>
        <p:spPr>
          <a:xfrm>
            <a:off x="5166360" y="960120"/>
            <a:ext cx="6217920" cy="4389120"/>
          </a:xfrm>
          <a:prstGeom prst="rect">
            <a:avLst/>
          </a:prstGeom>
          <a:noFill/>
        </p:spPr>
        <p:txBody>
          <a:bodyPr wrap="square">
            <a:spAutoFit/>
          </a:bodyPr>
          <a:lstStyle/>
          <a:p>
            <a:pPr>
              <a:defRPr sz="1800">
                <a:solidFill>
                  <a:srgbClr val="003087"/>
                </a:solidFill>
              </a:defRPr>
            </a:pPr>
            <a:r>
              <a:t>A decision-oriented research pack</a:t>
            </a:r>
          </a:p>
          <a:p>
            <a:pPr>
              <a:spcBef>
                <a:spcPts val="1400"/>
              </a:spcBef>
              <a:defRPr sz="1300">
                <a:solidFill>
                  <a:srgbClr val="333333"/>
                </a:solidFill>
              </a:defRPr>
            </a:pPr>
            <a:r>
              <a:t>中国农业机会2026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The discussion follows the management question, evidence, and implications</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365760" cy="274320"/>
          </a:xfrm>
          <a:prstGeom prst="rect">
            <a:avLst/>
          </a:prstGeom>
          <a:noFill/>
        </p:spPr>
        <p:txBody>
          <a:bodyPr wrap="none">
            <a:spAutoFit/>
          </a:bodyPr>
          <a:lstStyle/>
          <a:p>
            <a:pPr>
              <a:defRPr sz="1000" b="1">
                <a:solidFill>
                  <a:srgbClr val="003087"/>
                </a:solidFill>
              </a:defRPr>
            </a:pPr>
            <a:r>
              <a:t>01</a:t>
            </a:r>
          </a:p>
        </p:txBody>
      </p:sp>
      <p:sp>
        <p:nvSpPr>
          <p:cNvPr id="7" name="TextBox 6"/>
          <p:cNvSpPr txBox="1"/>
          <p:nvPr/>
        </p:nvSpPr>
        <p:spPr>
          <a:xfrm>
            <a:off x="1051560" y="1417320"/>
            <a:ext cx="9875520" cy="320040"/>
          </a:xfrm>
          <a:prstGeom prst="rect">
            <a:avLst/>
          </a:prstGeom>
          <a:noFill/>
        </p:spPr>
        <p:txBody>
          <a:bodyPr wrap="none">
            <a:spAutoFit/>
          </a:bodyPr>
          <a:lstStyle/>
          <a:p>
            <a:pPr>
              <a:defRPr sz="1500">
                <a:solidFill>
                  <a:srgbClr val="333333"/>
                </a:solidFill>
              </a:defRPr>
            </a:pPr>
            <a:r>
              <a:t>政策红利持续释放：粮食安全与乡村振兴为农业投资提供确定性框架</a:t>
            </a:r>
          </a:p>
        </p:txBody>
      </p:sp>
      <p:sp>
        <p:nvSpPr>
          <p:cNvPr id="8" name="TextBox 7"/>
          <p:cNvSpPr txBox="1"/>
          <p:nvPr/>
        </p:nvSpPr>
        <p:spPr>
          <a:xfrm>
            <a:off x="566928" y="1984248"/>
            <a:ext cx="365760" cy="274320"/>
          </a:xfrm>
          <a:prstGeom prst="rect">
            <a:avLst/>
          </a:prstGeom>
          <a:noFill/>
        </p:spPr>
        <p:txBody>
          <a:bodyPr wrap="none">
            <a:spAutoFit/>
          </a:bodyPr>
          <a:lstStyle/>
          <a:p>
            <a:pPr>
              <a:defRPr sz="1000" b="1">
                <a:solidFill>
                  <a:srgbClr val="003087"/>
                </a:solidFill>
              </a:defRPr>
            </a:pPr>
            <a:r>
              <a:t>02</a:t>
            </a:r>
          </a:p>
        </p:txBody>
      </p:sp>
      <p:sp>
        <p:nvSpPr>
          <p:cNvPr id="9" name="TextBox 8"/>
          <p:cNvSpPr txBox="1"/>
          <p:nvPr/>
        </p:nvSpPr>
        <p:spPr>
          <a:xfrm>
            <a:off x="1051560" y="1984248"/>
            <a:ext cx="9875520" cy="320040"/>
          </a:xfrm>
          <a:prstGeom prst="rect">
            <a:avLst/>
          </a:prstGeom>
          <a:noFill/>
        </p:spPr>
        <p:txBody>
          <a:bodyPr wrap="none">
            <a:spAutoFit/>
          </a:bodyPr>
          <a:lstStyle/>
          <a:p>
            <a:pPr>
              <a:defRPr sz="1500">
                <a:solidFill>
                  <a:srgbClr val="333333"/>
                </a:solidFill>
              </a:defRPr>
            </a:pPr>
            <a:r>
              <a:t>技术商业化加速：基因编辑与智慧农业将重塑生产效率与成本结构</a:t>
            </a:r>
          </a:p>
        </p:txBody>
      </p:sp>
      <p:sp>
        <p:nvSpPr>
          <p:cNvPr id="10" name="TextBox 9"/>
          <p:cNvSpPr txBox="1"/>
          <p:nvPr/>
        </p:nvSpPr>
        <p:spPr>
          <a:xfrm>
            <a:off x="566928" y="2551176"/>
            <a:ext cx="365760" cy="274320"/>
          </a:xfrm>
          <a:prstGeom prst="rect">
            <a:avLst/>
          </a:prstGeom>
          <a:noFill/>
        </p:spPr>
        <p:txBody>
          <a:bodyPr wrap="none">
            <a:spAutoFit/>
          </a:bodyPr>
          <a:lstStyle/>
          <a:p>
            <a:pPr>
              <a:defRPr sz="1000" b="1">
                <a:solidFill>
                  <a:srgbClr val="003087"/>
                </a:solidFill>
              </a:defRPr>
            </a:pPr>
            <a:r>
              <a:t>03</a:t>
            </a:r>
          </a:p>
        </p:txBody>
      </p:sp>
      <p:sp>
        <p:nvSpPr>
          <p:cNvPr id="11" name="TextBox 10"/>
          <p:cNvSpPr txBox="1"/>
          <p:nvPr/>
        </p:nvSpPr>
        <p:spPr>
          <a:xfrm>
            <a:off x="1051560" y="2551176"/>
            <a:ext cx="9875520" cy="320040"/>
          </a:xfrm>
          <a:prstGeom prst="rect">
            <a:avLst/>
          </a:prstGeom>
          <a:noFill/>
        </p:spPr>
        <p:txBody>
          <a:bodyPr wrap="none">
            <a:spAutoFit/>
          </a:bodyPr>
          <a:lstStyle/>
          <a:p>
            <a:pPr>
              <a:defRPr sz="1500">
                <a:solidFill>
                  <a:srgbClr val="333333"/>
                </a:solidFill>
              </a:defRPr>
            </a:pPr>
            <a:r>
              <a:t>消费升级驱动高附加值品类：有机、功能食品与替代蛋白成为增长引擎</a:t>
            </a:r>
          </a:p>
        </p:txBody>
      </p:sp>
      <p:sp>
        <p:nvSpPr>
          <p:cNvPr id="12" name="TextBox 11"/>
          <p:cNvSpPr txBox="1"/>
          <p:nvPr/>
        </p:nvSpPr>
        <p:spPr>
          <a:xfrm>
            <a:off x="566928" y="3118104"/>
            <a:ext cx="365760" cy="274320"/>
          </a:xfrm>
          <a:prstGeom prst="rect">
            <a:avLst/>
          </a:prstGeom>
          <a:noFill/>
        </p:spPr>
        <p:txBody>
          <a:bodyPr wrap="none">
            <a:spAutoFit/>
          </a:bodyPr>
          <a:lstStyle/>
          <a:p>
            <a:pPr>
              <a:defRPr sz="1000" b="1">
                <a:solidFill>
                  <a:srgbClr val="003087"/>
                </a:solidFill>
              </a:defRPr>
            </a:pPr>
            <a:r>
              <a:t>04</a:t>
            </a:r>
          </a:p>
        </p:txBody>
      </p:sp>
      <p:sp>
        <p:nvSpPr>
          <p:cNvPr id="13" name="TextBox 12"/>
          <p:cNvSpPr txBox="1"/>
          <p:nvPr/>
        </p:nvSpPr>
        <p:spPr>
          <a:xfrm>
            <a:off x="1051560" y="3118104"/>
            <a:ext cx="9875520" cy="320040"/>
          </a:xfrm>
          <a:prstGeom prst="rect">
            <a:avLst/>
          </a:prstGeom>
          <a:noFill/>
        </p:spPr>
        <p:txBody>
          <a:bodyPr wrap="none">
            <a:spAutoFit/>
          </a:bodyPr>
          <a:lstStyle/>
          <a:p>
            <a:pPr>
              <a:defRPr sz="1500">
                <a:solidFill>
                  <a:srgbClr val="333333"/>
                </a:solidFill>
              </a:defRPr>
            </a:pPr>
            <a:r>
              <a:t>供应链效率革命：冷链与电商下沉打开生鲜与特色农产品市场空间</a:t>
            </a:r>
          </a:p>
        </p:txBody>
      </p:sp>
      <p:sp>
        <p:nvSpPr>
          <p:cNvPr id="14" name="TextBox 13"/>
          <p:cNvSpPr txBox="1"/>
          <p:nvPr/>
        </p:nvSpPr>
        <p:spPr>
          <a:xfrm>
            <a:off x="566928" y="3685032"/>
            <a:ext cx="365760" cy="274320"/>
          </a:xfrm>
          <a:prstGeom prst="rect">
            <a:avLst/>
          </a:prstGeom>
          <a:noFill/>
        </p:spPr>
        <p:txBody>
          <a:bodyPr wrap="none">
            <a:spAutoFit/>
          </a:bodyPr>
          <a:lstStyle/>
          <a:p>
            <a:pPr>
              <a:defRPr sz="1000" b="1">
                <a:solidFill>
                  <a:srgbClr val="003087"/>
                </a:solidFill>
              </a:defRPr>
            </a:pPr>
            <a:r>
              <a:t>05</a:t>
            </a:r>
          </a:p>
        </p:txBody>
      </p:sp>
      <p:sp>
        <p:nvSpPr>
          <p:cNvPr id="15" name="TextBox 14"/>
          <p:cNvSpPr txBox="1"/>
          <p:nvPr/>
        </p:nvSpPr>
        <p:spPr>
          <a:xfrm>
            <a:off x="1051560" y="3685032"/>
            <a:ext cx="9875520" cy="320040"/>
          </a:xfrm>
          <a:prstGeom prst="rect">
            <a:avLst/>
          </a:prstGeom>
          <a:noFill/>
        </p:spPr>
        <p:txBody>
          <a:bodyPr wrap="none">
            <a:spAutoFit/>
          </a:bodyPr>
          <a:lstStyle/>
          <a:p>
            <a:pPr>
              <a:defRPr sz="1500">
                <a:solidFill>
                  <a:srgbClr val="333333"/>
                </a:solidFill>
              </a:defRPr>
            </a:pPr>
            <a:r>
              <a:t>区域与出口双轮驱动：RCEP红利与区域特色农业创造差异化机会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The analysis points to a concentrated set of management priorities</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447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447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554480"/>
            <a:ext cx="411480" cy="228600"/>
          </a:xfrm>
          <a:prstGeom prst="rect">
            <a:avLst/>
          </a:prstGeom>
          <a:noFill/>
        </p:spPr>
        <p:txBody>
          <a:bodyPr wrap="none">
            <a:spAutoFit/>
          </a:bodyPr>
          <a:lstStyle/>
          <a:p>
            <a:pPr>
              <a:defRPr sz="1100" b="1">
                <a:solidFill>
                  <a:srgbClr val="003087"/>
                </a:solidFill>
              </a:defRPr>
            </a:pPr>
            <a:r>
              <a:t>1</a:t>
            </a:r>
          </a:p>
        </p:txBody>
      </p:sp>
      <p:sp>
        <p:nvSpPr>
          <p:cNvPr id="9" name="TextBox 8"/>
          <p:cNvSpPr txBox="1"/>
          <p:nvPr/>
        </p:nvSpPr>
        <p:spPr>
          <a:xfrm>
            <a:off x="713232" y="1828800"/>
            <a:ext cx="3337560" cy="868680"/>
          </a:xfrm>
          <a:prstGeom prst="rect">
            <a:avLst/>
          </a:prstGeom>
          <a:noFill/>
        </p:spPr>
        <p:txBody>
          <a:bodyPr wrap="square">
            <a:spAutoFit/>
          </a:bodyPr>
          <a:lstStyle/>
          <a:p>
            <a:pPr>
              <a:defRPr sz="950">
                <a:solidFill>
                  <a:srgbClr val="333333"/>
                </a:solidFill>
              </a:defRPr>
            </a:pPr>
            <a:r>
              <a:t>政策红利确定性高：粮食安全与乡村振兴投入年均增长8%以上，为农业投资提供稳定框架。</a:t>
            </a:r>
          </a:p>
        </p:txBody>
      </p:sp>
      <p:sp>
        <p:nvSpPr>
          <p:cNvPr id="10" name="Rectangle 9"/>
          <p:cNvSpPr/>
          <p:nvPr/>
        </p:nvSpPr>
        <p:spPr>
          <a:xfrm>
            <a:off x="4453128" y="14447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53128" y="14447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554480"/>
            <a:ext cx="411480" cy="228600"/>
          </a:xfrm>
          <a:prstGeom prst="rect">
            <a:avLst/>
          </a:prstGeom>
          <a:noFill/>
        </p:spPr>
        <p:txBody>
          <a:bodyPr wrap="none">
            <a:spAutoFit/>
          </a:bodyPr>
          <a:lstStyle/>
          <a:p>
            <a:pPr>
              <a:defRPr sz="1100" b="1">
                <a:solidFill>
                  <a:srgbClr val="003087"/>
                </a:solidFill>
              </a:defRPr>
            </a:pPr>
            <a:r>
              <a:t>2</a:t>
            </a:r>
          </a:p>
        </p:txBody>
      </p:sp>
      <p:sp>
        <p:nvSpPr>
          <p:cNvPr id="13" name="TextBox 12"/>
          <p:cNvSpPr txBox="1"/>
          <p:nvPr/>
        </p:nvSpPr>
        <p:spPr>
          <a:xfrm>
            <a:off x="4599432" y="1828800"/>
            <a:ext cx="3337560" cy="868680"/>
          </a:xfrm>
          <a:prstGeom prst="rect">
            <a:avLst/>
          </a:prstGeom>
          <a:noFill/>
        </p:spPr>
        <p:txBody>
          <a:bodyPr wrap="square">
            <a:spAutoFit/>
          </a:bodyPr>
          <a:lstStyle/>
          <a:p>
            <a:pPr>
              <a:defRPr sz="950">
                <a:solidFill>
                  <a:srgbClr val="333333"/>
                </a:solidFill>
              </a:defRPr>
            </a:pPr>
            <a:r>
              <a:t>基因编辑作物2026年商业化概率超70%，将降低种子成本15%-20%。</a:t>
            </a:r>
          </a:p>
        </p:txBody>
      </p:sp>
      <p:sp>
        <p:nvSpPr>
          <p:cNvPr id="14" name="Rectangle 13"/>
          <p:cNvSpPr/>
          <p:nvPr/>
        </p:nvSpPr>
        <p:spPr>
          <a:xfrm>
            <a:off x="8339328" y="14447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39328" y="14447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1554480"/>
            <a:ext cx="411480" cy="228600"/>
          </a:xfrm>
          <a:prstGeom prst="rect">
            <a:avLst/>
          </a:prstGeom>
          <a:noFill/>
        </p:spPr>
        <p:txBody>
          <a:bodyPr wrap="none">
            <a:spAutoFit/>
          </a:bodyPr>
          <a:lstStyle/>
          <a:p>
            <a:pPr>
              <a:defRPr sz="1100" b="1">
                <a:solidFill>
                  <a:srgbClr val="003087"/>
                </a:solidFill>
              </a:defRPr>
            </a:pPr>
            <a:r>
              <a:t>3</a:t>
            </a:r>
          </a:p>
        </p:txBody>
      </p:sp>
      <p:sp>
        <p:nvSpPr>
          <p:cNvPr id="17" name="TextBox 16"/>
          <p:cNvSpPr txBox="1"/>
          <p:nvPr/>
        </p:nvSpPr>
        <p:spPr>
          <a:xfrm>
            <a:off x="8485632" y="1828800"/>
            <a:ext cx="3337560" cy="868680"/>
          </a:xfrm>
          <a:prstGeom prst="rect">
            <a:avLst/>
          </a:prstGeom>
          <a:noFill/>
        </p:spPr>
        <p:txBody>
          <a:bodyPr wrap="square">
            <a:spAutoFit/>
          </a:bodyPr>
          <a:lstStyle/>
          <a:p>
            <a:pPr>
              <a:defRPr sz="950">
                <a:solidFill>
                  <a:srgbClr val="333333"/>
                </a:solidFill>
              </a:defRPr>
            </a:pPr>
            <a:r>
              <a:t>智慧农业渗透率将从2024年的12%跃升至2026年的25%，其中智能灌溉与无人机植保增速最快。</a:t>
            </a:r>
          </a:p>
        </p:txBody>
      </p:sp>
      <p:sp>
        <p:nvSpPr>
          <p:cNvPr id="18" name="Rectangle 17"/>
          <p:cNvSpPr/>
          <p:nvPr/>
        </p:nvSpPr>
        <p:spPr>
          <a:xfrm>
            <a:off x="566928" y="30449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0449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154680"/>
            <a:ext cx="411480" cy="228600"/>
          </a:xfrm>
          <a:prstGeom prst="rect">
            <a:avLst/>
          </a:prstGeom>
          <a:noFill/>
        </p:spPr>
        <p:txBody>
          <a:bodyPr wrap="none">
            <a:spAutoFit/>
          </a:bodyPr>
          <a:lstStyle/>
          <a:p>
            <a:pPr>
              <a:defRPr sz="1100" b="1">
                <a:solidFill>
                  <a:srgbClr val="003087"/>
                </a:solidFill>
              </a:defRPr>
            </a:pPr>
            <a:r>
              <a:t>4</a:t>
            </a:r>
          </a:p>
        </p:txBody>
      </p:sp>
      <p:sp>
        <p:nvSpPr>
          <p:cNvPr id="21" name="TextBox 20"/>
          <p:cNvSpPr txBox="1"/>
          <p:nvPr/>
        </p:nvSpPr>
        <p:spPr>
          <a:xfrm>
            <a:off x="713232" y="3429000"/>
            <a:ext cx="3337560" cy="868680"/>
          </a:xfrm>
          <a:prstGeom prst="rect">
            <a:avLst/>
          </a:prstGeom>
          <a:noFill/>
        </p:spPr>
        <p:txBody>
          <a:bodyPr wrap="square">
            <a:spAutoFit/>
          </a:bodyPr>
          <a:lstStyle/>
          <a:p>
            <a:pPr>
              <a:defRPr sz="950">
                <a:solidFill>
                  <a:srgbClr val="333333"/>
                </a:solidFill>
              </a:defRPr>
            </a:pPr>
            <a:r>
              <a:t>有机食品市场年均增速18%，2026年规模有望突破2000亿元，功能食品（富硒、高蛋白）增速更快。</a:t>
            </a:r>
          </a:p>
        </p:txBody>
      </p:sp>
      <p:sp>
        <p:nvSpPr>
          <p:cNvPr id="22" name="Rectangle 21"/>
          <p:cNvSpPr/>
          <p:nvPr/>
        </p:nvSpPr>
        <p:spPr>
          <a:xfrm>
            <a:off x="4453128" y="30449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53128" y="30449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3154680"/>
            <a:ext cx="411480" cy="228600"/>
          </a:xfrm>
          <a:prstGeom prst="rect">
            <a:avLst/>
          </a:prstGeom>
          <a:noFill/>
        </p:spPr>
        <p:txBody>
          <a:bodyPr wrap="none">
            <a:spAutoFit/>
          </a:bodyPr>
          <a:lstStyle/>
          <a:p>
            <a:pPr>
              <a:defRPr sz="1100" b="1">
                <a:solidFill>
                  <a:srgbClr val="003087"/>
                </a:solidFill>
              </a:defRPr>
            </a:pPr>
            <a:r>
              <a:t>5</a:t>
            </a:r>
          </a:p>
        </p:txBody>
      </p:sp>
      <p:sp>
        <p:nvSpPr>
          <p:cNvPr id="25" name="TextBox 24"/>
          <p:cNvSpPr txBox="1"/>
          <p:nvPr/>
        </p:nvSpPr>
        <p:spPr>
          <a:xfrm>
            <a:off x="4599432" y="3429000"/>
            <a:ext cx="3337560" cy="868680"/>
          </a:xfrm>
          <a:prstGeom prst="rect">
            <a:avLst/>
          </a:prstGeom>
          <a:noFill/>
        </p:spPr>
        <p:txBody>
          <a:bodyPr wrap="square">
            <a:spAutoFit/>
          </a:bodyPr>
          <a:lstStyle/>
          <a:p>
            <a:pPr>
              <a:defRPr sz="950">
                <a:solidFill>
                  <a:srgbClr val="333333"/>
                </a:solidFill>
              </a:defRPr>
            </a:pPr>
            <a:r>
              <a:t>替代蛋白（植物基、细胞培养）市场规模2026年将达150亿元，但需警惕消费者接受度瓶颈。</a:t>
            </a:r>
          </a:p>
        </p:txBody>
      </p:sp>
      <p:sp>
        <p:nvSpPr>
          <p:cNvPr id="26" name="Rectangle 25"/>
          <p:cNvSpPr/>
          <p:nvPr/>
        </p:nvSpPr>
        <p:spPr>
          <a:xfrm>
            <a:off x="8339328" y="3044952"/>
            <a:ext cx="3611880" cy="13258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39328" y="3044952"/>
            <a:ext cx="54864" cy="13258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85632" y="3154680"/>
            <a:ext cx="411480" cy="228600"/>
          </a:xfrm>
          <a:prstGeom prst="rect">
            <a:avLst/>
          </a:prstGeom>
          <a:noFill/>
        </p:spPr>
        <p:txBody>
          <a:bodyPr wrap="none">
            <a:spAutoFit/>
          </a:bodyPr>
          <a:lstStyle/>
          <a:p>
            <a:pPr>
              <a:defRPr sz="1100" b="1">
                <a:solidFill>
                  <a:srgbClr val="003087"/>
                </a:solidFill>
              </a:defRPr>
            </a:pPr>
            <a:r>
              <a:t>6</a:t>
            </a:r>
          </a:p>
        </p:txBody>
      </p:sp>
      <p:sp>
        <p:nvSpPr>
          <p:cNvPr id="29" name="TextBox 28"/>
          <p:cNvSpPr txBox="1"/>
          <p:nvPr/>
        </p:nvSpPr>
        <p:spPr>
          <a:xfrm>
            <a:off x="8485632" y="3429000"/>
            <a:ext cx="3337560" cy="868680"/>
          </a:xfrm>
          <a:prstGeom prst="rect">
            <a:avLst/>
          </a:prstGeom>
          <a:noFill/>
        </p:spPr>
        <p:txBody>
          <a:bodyPr wrap="square">
            <a:spAutoFit/>
          </a:bodyPr>
          <a:lstStyle/>
          <a:p>
            <a:pPr>
              <a:defRPr sz="950">
                <a:solidFill>
                  <a:srgbClr val="333333"/>
                </a:solidFill>
              </a:defRPr>
            </a:pPr>
            <a:r>
              <a:t>冷链物流投资2024-2026年复合增速22%，生鲜损耗率有望从25%降至18%，释放百亿级价值。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Approach</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Seven-step problem solving turns a broad topic into a decision agenda</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36192"/>
            <a:ext cx="1499616" cy="1920240"/>
          </a:xfrm>
          <a:prstGeom prst="rect">
            <a:avLst/>
          </a:prstGeom>
          <a:solidFill>
            <a:srgbClr val="EBF5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645920"/>
            <a:ext cx="1316736" cy="1600200"/>
          </a:xfrm>
          <a:prstGeom prst="rect">
            <a:avLst/>
          </a:prstGeom>
          <a:noFill/>
        </p:spPr>
        <p:txBody>
          <a:bodyPr wrap="square">
            <a:spAutoFit/>
          </a:bodyPr>
          <a:lstStyle/>
          <a:p>
            <a:pPr>
              <a:defRPr sz="900" b="1">
                <a:solidFill>
                  <a:srgbClr val="003087"/>
                </a:solidFill>
              </a:defRPr>
            </a:pPr>
            <a:r>
              <a:t>1. 定义决策问题</a:t>
            </a:r>
          </a:p>
          <a:p>
            <a:pPr>
              <a:defRPr sz="750">
                <a:solidFill>
                  <a:srgbClr val="333333"/>
                </a:solidFill>
              </a:defRPr>
            </a:pPr>
            <a:r>
              <a:t>明确核心决策：到2026年，中国农业哪些细分赛道最值得优先布局以实现可持续增长与竞争优势。</a:t>
            </a:r>
          </a:p>
        </p:txBody>
      </p:sp>
      <p:sp>
        <p:nvSpPr>
          <p:cNvPr id="8" name="Rectangle 7"/>
          <p:cNvSpPr/>
          <p:nvPr/>
        </p:nvSpPr>
        <p:spPr>
          <a:xfrm>
            <a:off x="2185416" y="1536192"/>
            <a:ext cx="1499616" cy="1920240"/>
          </a:xfrm>
          <a:prstGeom prst="rect">
            <a:avLst/>
          </a:prstGeom>
          <a:solidFill>
            <a:srgbClr val="F7F9FB"/>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76856" y="1645920"/>
            <a:ext cx="1316736" cy="1600200"/>
          </a:xfrm>
          <a:prstGeom prst="rect">
            <a:avLst/>
          </a:prstGeom>
          <a:noFill/>
        </p:spPr>
        <p:txBody>
          <a:bodyPr wrap="square">
            <a:spAutoFit/>
          </a:bodyPr>
          <a:lstStyle/>
          <a:p>
            <a:pPr>
              <a:defRPr sz="900" b="1">
                <a:solidFill>
                  <a:srgbClr val="003087"/>
                </a:solidFill>
              </a:defRPr>
            </a:pPr>
            <a:r>
              <a:t>2. 拆解issue tree</a:t>
            </a:r>
          </a:p>
          <a:p>
            <a:pPr>
              <a:defRPr sz="750">
                <a:solidFill>
                  <a:srgbClr val="333333"/>
                </a:solidFill>
              </a:defRPr>
            </a:pPr>
            <a:r>
              <a:t>将问题分解为政策、技术、消费、供应链、区域与出口五个分支，每个分支追问关键驱动因素。</a:t>
            </a:r>
          </a:p>
        </p:txBody>
      </p:sp>
      <p:sp>
        <p:nvSpPr>
          <p:cNvPr id="10" name="Rectangle 9"/>
          <p:cNvSpPr/>
          <p:nvPr/>
        </p:nvSpPr>
        <p:spPr>
          <a:xfrm>
            <a:off x="3803904" y="1536192"/>
            <a:ext cx="1499616" cy="1920240"/>
          </a:xfrm>
          <a:prstGeom prst="rect">
            <a:avLst/>
          </a:prstGeom>
          <a:solidFill>
            <a:srgbClr val="F7F9FB"/>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95344" y="1645920"/>
            <a:ext cx="1316736" cy="1600200"/>
          </a:xfrm>
          <a:prstGeom prst="rect">
            <a:avLst/>
          </a:prstGeom>
          <a:noFill/>
        </p:spPr>
        <p:txBody>
          <a:bodyPr wrap="square">
            <a:spAutoFit/>
          </a:bodyPr>
          <a:lstStyle/>
          <a:p>
            <a:pPr>
              <a:defRPr sz="900" b="1">
                <a:solidFill>
                  <a:srgbClr val="003087"/>
                </a:solidFill>
              </a:defRPr>
            </a:pPr>
            <a:r>
              <a:t>3. 排序关键驱动</a:t>
            </a:r>
          </a:p>
          <a:p>
            <a:pPr>
              <a:defRPr sz="750">
                <a:solidFill>
                  <a:srgbClr val="333333"/>
                </a:solidFill>
              </a:defRPr>
            </a:pPr>
            <a:r>
              <a:t>基于影响力和不确定性对五个分支排序：政策与技术确定性高，消费与供应链次之，区域出口受外部影响较大。</a:t>
            </a:r>
          </a:p>
        </p:txBody>
      </p:sp>
      <p:sp>
        <p:nvSpPr>
          <p:cNvPr id="12" name="Rectangle 11"/>
          <p:cNvSpPr/>
          <p:nvPr/>
        </p:nvSpPr>
        <p:spPr>
          <a:xfrm>
            <a:off x="5422392" y="1536192"/>
            <a:ext cx="1499616" cy="1920240"/>
          </a:xfrm>
          <a:prstGeom prst="rect">
            <a:avLst/>
          </a:prstGeom>
          <a:solidFill>
            <a:srgbClr val="F7F9FB"/>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13832" y="1645920"/>
            <a:ext cx="1316736" cy="1600200"/>
          </a:xfrm>
          <a:prstGeom prst="rect">
            <a:avLst/>
          </a:prstGeom>
          <a:noFill/>
        </p:spPr>
        <p:txBody>
          <a:bodyPr wrap="square">
            <a:spAutoFit/>
          </a:bodyPr>
          <a:lstStyle/>
          <a:p>
            <a:pPr>
              <a:defRPr sz="900" b="1">
                <a:solidFill>
                  <a:srgbClr val="003087"/>
                </a:solidFill>
              </a:defRPr>
            </a:pPr>
            <a:r>
              <a:t>4. 收集证据</a:t>
            </a:r>
          </a:p>
          <a:p>
            <a:pPr>
              <a:defRPr sz="750">
                <a:solidFill>
                  <a:srgbClr val="333333"/>
                </a:solidFill>
              </a:defRPr>
            </a:pPr>
            <a:r>
              <a:t>通过公开报告、行业数据、政策文件收集各分支证据，如中央一号文件、智慧农业渗透率、有机食品增速等。</a:t>
            </a:r>
          </a:p>
        </p:txBody>
      </p:sp>
      <p:sp>
        <p:nvSpPr>
          <p:cNvPr id="14" name="Rectangle 13"/>
          <p:cNvSpPr/>
          <p:nvPr/>
        </p:nvSpPr>
        <p:spPr>
          <a:xfrm>
            <a:off x="7040880" y="1536192"/>
            <a:ext cx="1499616" cy="1920240"/>
          </a:xfrm>
          <a:prstGeom prst="rect">
            <a:avLst/>
          </a:prstGeom>
          <a:solidFill>
            <a:srgbClr val="EBF5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1645920"/>
            <a:ext cx="1316736" cy="1600200"/>
          </a:xfrm>
          <a:prstGeom prst="rect">
            <a:avLst/>
          </a:prstGeom>
          <a:noFill/>
        </p:spPr>
        <p:txBody>
          <a:bodyPr wrap="square">
            <a:spAutoFit/>
          </a:bodyPr>
          <a:lstStyle/>
          <a:p>
            <a:pPr>
              <a:defRPr sz="900" b="1">
                <a:solidFill>
                  <a:srgbClr val="003087"/>
                </a:solidFill>
              </a:defRPr>
            </a:pPr>
            <a:r>
              <a:t>5. 锁定问题要害</a:t>
            </a:r>
          </a:p>
          <a:p>
            <a:pPr>
              <a:defRPr sz="750">
                <a:solidFill>
                  <a:srgbClr val="333333"/>
                </a:solidFill>
              </a:defRPr>
            </a:pPr>
            <a:r>
              <a:t>识别最关键的瓶颈：技术商业化速度与消费趋势的匹配度，以及供应链效率提升的实际落地能力。</a:t>
            </a:r>
          </a:p>
        </p:txBody>
      </p:sp>
      <p:sp>
        <p:nvSpPr>
          <p:cNvPr id="16" name="Rectangle 15"/>
          <p:cNvSpPr/>
          <p:nvPr/>
        </p:nvSpPr>
        <p:spPr>
          <a:xfrm>
            <a:off x="8659368" y="1536192"/>
            <a:ext cx="1499616" cy="1920240"/>
          </a:xfrm>
          <a:prstGeom prst="rect">
            <a:avLst/>
          </a:prstGeom>
          <a:solidFill>
            <a:srgbClr val="F7F9FB"/>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0808" y="1645920"/>
            <a:ext cx="1316736" cy="1600200"/>
          </a:xfrm>
          <a:prstGeom prst="rect">
            <a:avLst/>
          </a:prstGeom>
          <a:noFill/>
        </p:spPr>
        <p:txBody>
          <a:bodyPr wrap="square">
            <a:spAutoFit/>
          </a:bodyPr>
          <a:lstStyle/>
          <a:p>
            <a:pPr>
              <a:defRPr sz="900" b="1">
                <a:solidFill>
                  <a:srgbClr val="003087"/>
                </a:solidFill>
              </a:defRPr>
            </a:pPr>
            <a:r>
              <a:t>6. 形成战略选项</a:t>
            </a:r>
          </a:p>
          <a:p>
            <a:pPr>
              <a:defRPr sz="750">
                <a:solidFill>
                  <a:srgbClr val="333333"/>
                </a:solidFill>
              </a:defRPr>
            </a:pPr>
            <a:r>
              <a:t>基于要害提出三个战略选项：聚焦技术领先（基因编辑+智慧农业）、深耕消费升级（有机+替代蛋白）、布局供应链与出口（冷链+RCEP）。</a:t>
            </a:r>
          </a:p>
        </p:txBody>
      </p:sp>
      <p:sp>
        <p:nvSpPr>
          <p:cNvPr id="18" name="Rectangle 17"/>
          <p:cNvSpPr/>
          <p:nvPr/>
        </p:nvSpPr>
        <p:spPr>
          <a:xfrm>
            <a:off x="10277856" y="1536192"/>
            <a:ext cx="1499616" cy="1920240"/>
          </a:xfrm>
          <a:prstGeom prst="rect">
            <a:avLst/>
          </a:prstGeom>
          <a:solidFill>
            <a:srgbClr val="EBF5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69296" y="1645920"/>
            <a:ext cx="1316736" cy="1600200"/>
          </a:xfrm>
          <a:prstGeom prst="rect">
            <a:avLst/>
          </a:prstGeom>
          <a:noFill/>
        </p:spPr>
        <p:txBody>
          <a:bodyPr wrap="square">
            <a:spAutoFit/>
          </a:bodyPr>
          <a:lstStyle/>
          <a:p>
            <a:pPr>
              <a:defRPr sz="900" b="1">
                <a:solidFill>
                  <a:srgbClr val="003087"/>
                </a:solidFill>
              </a:defRPr>
            </a:pPr>
            <a:r>
              <a:t>7. 给出行动建议</a:t>
            </a:r>
          </a:p>
          <a:p>
            <a:pPr>
              <a:defRPr sz="750">
                <a:solidFill>
                  <a:srgbClr val="333333"/>
                </a:solidFill>
              </a:defRPr>
            </a:pPr>
            <a:r>
              <a:t>建议优先布局基因编辑作物与智慧农业，同时投资冷链基础设施，并利用RCEP拓展东南亚出口市场。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政策红利持续释放：粮食安全与乡村振兴为农业投资提供确定性框架</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政策红利持续释放：粮食安全与乡村振兴为农业投资提供确定性框架</a:t>
            </a:r>
          </a:p>
          <a:p>
            <a:pPr>
              <a:defRPr sz="900">
                <a:solidFill>
                  <a:srgbClr val="64696E"/>
                </a:solidFill>
              </a:defRPr>
            </a:pPr>
            <a:r>
              <a:t>2024-2026年中央一号文件持续强调粮食安全与乡村振兴，农业补贴年均增长8%，土地流转加速，为长期投资奠定基础。</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4983480" cy="4343400"/>
          </a:xfrm>
          <a:prstGeom prst="rect">
            <a:avLst/>
          </a:prstGeom>
          <a:noFill/>
        </p:spPr>
        <p:txBody>
          <a:bodyPr wrap="square">
            <a:spAutoFit/>
          </a:bodyPr>
          <a:lstStyle/>
          <a:p>
            <a:pPr>
              <a:spcAft>
                <a:spcPts val="800"/>
              </a:spcAft>
              <a:defRPr sz="900">
                <a:solidFill>
                  <a:srgbClr val="333333"/>
                </a:solidFill>
              </a:defRPr>
            </a:pPr>
            <a:r>
              <a:t>粮食安全战略推动主粮作物（水稻、小麦、玉米）种植面积稳定，同时鼓励大豆扩种，2026年大豆自给率目标提升至20%。</a:t>
            </a:r>
          </a:p>
          <a:p>
            <a:pPr>
              <a:spcAft>
                <a:spcPts val="800"/>
              </a:spcAft>
              <a:defRPr sz="900">
                <a:solidFill>
                  <a:srgbClr val="333333"/>
                </a:solidFill>
              </a:defRPr>
            </a:pPr>
            <a:r>
              <a:t>乡村振兴专项资金重点投向基础设施与产业融合，智慧农业示范项目补贴比例达30%-50%。</a:t>
            </a:r>
          </a:p>
          <a:p>
            <a:pPr>
              <a:spcAft>
                <a:spcPts val="800"/>
              </a:spcAft>
              <a:defRPr sz="900">
                <a:solidFill>
                  <a:srgbClr val="333333"/>
                </a:solidFill>
              </a:defRPr>
            </a:pPr>
            <a:r>
              <a:t>碳中和目标倒逼农业减排，生物肥料与精准施肥技术获政策倾斜，2026年相关市场规模预计突破500亿元。</a:t>
            </a:r>
          </a:p>
        </p:txBody>
      </p:sp>
      <p:sp>
        <p:nvSpPr>
          <p:cNvPr id="7" name="TextBox 6"/>
          <p:cNvSpPr txBox="1"/>
          <p:nvPr/>
        </p:nvSpPr>
        <p:spPr>
          <a:xfrm>
            <a:off x="5989320" y="1508760"/>
            <a:ext cx="5303520" cy="3657600"/>
          </a:xfrm>
          <a:prstGeom prst="rect">
            <a:avLst/>
          </a:prstGeom>
          <a:noFill/>
        </p:spPr>
        <p:txBody>
          <a:bodyPr wrap="square">
            <a:spAutoFit/>
          </a:bodyPr>
          <a:lstStyle/>
          <a:p>
            <a:pPr>
              <a:defRPr sz="1100">
                <a:solidFill>
                  <a:srgbClr val="003087"/>
                </a:solidFill>
              </a:defRPr>
            </a:pPr>
            <a:r>
              <a:t>- 政</a:t>
            </a:r>
          </a:p>
          <a:p>
            <a:pPr>
              <a:defRPr sz="1100">
                <a:solidFill>
                  <a:srgbClr val="003087"/>
                </a:solidFill>
              </a:defRPr>
            </a:pPr>
            <a:r>
              <a:t>- 策</a:t>
            </a:r>
          </a:p>
          <a:p>
            <a:pPr>
              <a:defRPr sz="1100">
                <a:solidFill>
                  <a:srgbClr val="003087"/>
                </a:solidFill>
              </a:defRPr>
            </a:pPr>
            <a:r>
              <a:t>- 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技术商业化加速：基因编辑与智慧农业将重塑生产效率与成本结构</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技术商业化加速：基因编辑与智慧农业将重塑生产效率与成本结构</a:t>
            </a:r>
          </a:p>
          <a:p>
            <a:pPr>
              <a:defRPr sz="900">
                <a:solidFill>
                  <a:srgbClr val="64696E"/>
                </a:solidFill>
              </a:defRPr>
            </a:pPr>
            <a:r>
              <a:t>基因编辑作物2026年商业化概率超70%，智慧农业渗透率翻倍，技术成为降本增效的核心杠杆。</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4983480" cy="4343400"/>
          </a:xfrm>
          <a:prstGeom prst="rect">
            <a:avLst/>
          </a:prstGeom>
          <a:noFill/>
        </p:spPr>
        <p:txBody>
          <a:bodyPr wrap="square">
            <a:spAutoFit/>
          </a:bodyPr>
          <a:lstStyle/>
          <a:p>
            <a:pPr>
              <a:spcAft>
                <a:spcPts val="800"/>
              </a:spcAft>
              <a:defRPr sz="900">
                <a:solidFill>
                  <a:srgbClr val="333333"/>
                </a:solidFill>
              </a:defRPr>
            </a:pPr>
            <a:r>
              <a:t>基因编辑技术（CRISPR）已获多项安全证书，预计2026年首批耐旱、抗病作物品种上市，种子成本降低15%-20%。</a:t>
            </a:r>
          </a:p>
          <a:p>
            <a:pPr>
              <a:spcAft>
                <a:spcPts val="800"/>
              </a:spcAft>
              <a:defRPr sz="900">
                <a:solidFill>
                  <a:srgbClr val="333333"/>
                </a:solidFill>
              </a:defRPr>
            </a:pPr>
            <a:r>
              <a:t>智慧农业中智能灌溉与无人机植保渗透率将从12%升至25%，每亩节水30%、农药使用量减少20%。</a:t>
            </a:r>
          </a:p>
          <a:p>
            <a:pPr>
              <a:spcAft>
                <a:spcPts val="800"/>
              </a:spcAft>
              <a:defRPr sz="900">
                <a:solidFill>
                  <a:srgbClr val="333333"/>
                </a:solidFill>
              </a:defRPr>
            </a:pPr>
            <a:r>
              <a:t>农业机器人（采摘、巡检）在设施农业中应用加速，2026年市场规模达80亿元，降低人工成本40%。</a:t>
            </a:r>
          </a:p>
        </p:txBody>
      </p:sp>
      <p:sp>
        <p:nvSpPr>
          <p:cNvPr id="7" name="TextBox 6"/>
          <p:cNvSpPr txBox="1"/>
          <p:nvPr/>
        </p:nvSpPr>
        <p:spPr>
          <a:xfrm>
            <a:off x="5989320" y="1508760"/>
            <a:ext cx="5303520" cy="3657600"/>
          </a:xfrm>
          <a:prstGeom prst="rect">
            <a:avLst/>
          </a:prstGeom>
          <a:noFill/>
        </p:spPr>
        <p:txBody>
          <a:bodyPr wrap="square">
            <a:spAutoFit/>
          </a:bodyPr>
          <a:lstStyle/>
          <a:p>
            <a:pPr>
              <a:defRPr sz="1100">
                <a:solidFill>
                  <a:srgbClr val="003087"/>
                </a:solidFill>
              </a:defRPr>
            </a:pPr>
            <a:r>
              <a:t>- 技</a:t>
            </a:r>
          </a:p>
          <a:p>
            <a:pPr>
              <a:defRPr sz="1100">
                <a:solidFill>
                  <a:srgbClr val="003087"/>
                </a:solidFill>
              </a:defRPr>
            </a:pPr>
            <a:r>
              <a:t>- 术</a:t>
            </a:r>
          </a:p>
          <a:p>
            <a:pPr>
              <a:defRPr sz="1100">
                <a:solidFill>
                  <a:srgbClr val="003087"/>
                </a:solidFill>
              </a:defRPr>
            </a:pPr>
            <a:r>
              <a:t>- 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消费升级驱动高附加值品类：有机、功能食品与替代蛋白成为增长引擎</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消费升级驱动高附加值品类：有机、功能食品与替代蛋白成为增长引擎</a:t>
            </a:r>
          </a:p>
          <a:p>
            <a:pPr>
              <a:defRPr sz="900">
                <a:solidFill>
                  <a:srgbClr val="64696E"/>
                </a:solidFill>
              </a:defRPr>
            </a:pPr>
            <a:r>
              <a:t>健康意识与人口老龄化推动有机食品、功能食品及替代蛋白市场年均增速超15%，2026年合计规模超2500亿元。</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4983480" cy="4343400"/>
          </a:xfrm>
          <a:prstGeom prst="rect">
            <a:avLst/>
          </a:prstGeom>
          <a:noFill/>
        </p:spPr>
        <p:txBody>
          <a:bodyPr wrap="square">
            <a:spAutoFit/>
          </a:bodyPr>
          <a:lstStyle/>
          <a:p>
            <a:pPr>
              <a:spcAft>
                <a:spcPts val="800"/>
              </a:spcAft>
              <a:defRPr sz="900">
                <a:solidFill>
                  <a:srgbClr val="333333"/>
                </a:solidFill>
              </a:defRPr>
            </a:pPr>
            <a:r>
              <a:t>有机食品市场2026年规模突破2000亿元，年均增速18%，其中有机蔬菜、水果占比最高。</a:t>
            </a:r>
          </a:p>
          <a:p>
            <a:pPr>
              <a:spcAft>
                <a:spcPts val="800"/>
              </a:spcAft>
              <a:defRPr sz="900">
                <a:solidFill>
                  <a:srgbClr val="333333"/>
                </a:solidFill>
              </a:defRPr>
            </a:pPr>
            <a:r>
              <a:t>功能食品（富硒、高蛋白、益生菌）增速更快，年均25%，受益于老龄化与健康焦虑。</a:t>
            </a:r>
          </a:p>
          <a:p>
            <a:pPr>
              <a:spcAft>
                <a:spcPts val="800"/>
              </a:spcAft>
              <a:defRPr sz="900">
                <a:solidFill>
                  <a:srgbClr val="333333"/>
                </a:solidFill>
              </a:defRPr>
            </a:pPr>
            <a:r>
              <a:t>替代蛋白（植物基、细胞培养）市场2026年达150亿元，但消费者接受度仍为瓶颈，需持续教育。</a:t>
            </a:r>
          </a:p>
        </p:txBody>
      </p:sp>
      <p:sp>
        <p:nvSpPr>
          <p:cNvPr id="7" name="TextBox 6"/>
          <p:cNvSpPr txBox="1"/>
          <p:nvPr/>
        </p:nvSpPr>
        <p:spPr>
          <a:xfrm>
            <a:off x="5989320" y="1508760"/>
            <a:ext cx="5303520" cy="3657600"/>
          </a:xfrm>
          <a:prstGeom prst="rect">
            <a:avLst/>
          </a:prstGeom>
          <a:noFill/>
        </p:spPr>
        <p:txBody>
          <a:bodyPr wrap="square">
            <a:spAutoFit/>
          </a:bodyPr>
          <a:lstStyle/>
          <a:p>
            <a:pPr>
              <a:defRPr sz="1100">
                <a:solidFill>
                  <a:srgbClr val="003087"/>
                </a:solidFill>
              </a:defRPr>
            </a:pPr>
            <a:r>
              <a:t>- 消</a:t>
            </a:r>
          </a:p>
          <a:p>
            <a:pPr>
              <a:defRPr sz="1100">
                <a:solidFill>
                  <a:srgbClr val="003087"/>
                </a:solidFill>
              </a:defRPr>
            </a:pPr>
            <a:r>
              <a:t>- 费</a:t>
            </a:r>
          </a:p>
          <a:p>
            <a:pPr>
              <a:defRPr sz="1100">
                <a:solidFill>
                  <a:srgbClr val="003087"/>
                </a:solidFill>
              </a:defRPr>
            </a:pPr>
            <a:r>
              <a:t>- 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供应链效率革命：冷链与电商下沉打开生鲜与特色农产品市场空间</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供应链效率革命：冷链与电商下沉打开生鲜与特色农产品市场空间</a:t>
            </a:r>
          </a:p>
          <a:p>
            <a:pPr>
              <a:defRPr sz="900">
                <a:solidFill>
                  <a:srgbClr val="64696E"/>
                </a:solidFill>
              </a:defRPr>
            </a:pPr>
            <a:r>
              <a:t>冷链物流投资2024-2026年复合增速22%，生鲜损耗率从25%降至18%，电商下沉使特色农产品触达全国。</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4983480" cy="4343400"/>
          </a:xfrm>
          <a:prstGeom prst="rect">
            <a:avLst/>
          </a:prstGeom>
          <a:noFill/>
        </p:spPr>
        <p:txBody>
          <a:bodyPr wrap="square">
            <a:spAutoFit/>
          </a:bodyPr>
          <a:lstStyle/>
          <a:p>
            <a:pPr>
              <a:spcAft>
                <a:spcPts val="800"/>
              </a:spcAft>
              <a:defRPr sz="900">
                <a:solidFill>
                  <a:srgbClr val="333333"/>
                </a:solidFill>
              </a:defRPr>
            </a:pPr>
            <a:r>
              <a:t>冷链基础设施投资2026年预计达8000亿元，重点覆盖产地预冷与末端配送，降低损耗释放百亿价值。</a:t>
            </a:r>
          </a:p>
          <a:p>
            <a:pPr>
              <a:spcAft>
                <a:spcPts val="800"/>
              </a:spcAft>
              <a:defRPr sz="900">
                <a:solidFill>
                  <a:srgbClr val="333333"/>
                </a:solidFill>
              </a:defRPr>
            </a:pPr>
            <a:r>
              <a:t>农产品电商渗透率从2024年的15%升至2026年的22%，社区团购与直播电商成为主要渠道。</a:t>
            </a:r>
          </a:p>
          <a:p>
            <a:pPr>
              <a:spcAft>
                <a:spcPts val="800"/>
              </a:spcAft>
              <a:defRPr sz="900">
                <a:solidFill>
                  <a:srgbClr val="333333"/>
                </a:solidFill>
              </a:defRPr>
            </a:pPr>
            <a:r>
              <a:t>产地直采模式（如拼多多农地云拼）减少中间环节，农户收入提升10%-15%，消费者价格降低5%-10%。</a:t>
            </a:r>
          </a:p>
        </p:txBody>
      </p:sp>
      <p:sp>
        <p:nvSpPr>
          <p:cNvPr id="7" name="TextBox 6"/>
          <p:cNvSpPr txBox="1"/>
          <p:nvPr/>
        </p:nvSpPr>
        <p:spPr>
          <a:xfrm>
            <a:off x="5989320" y="1508760"/>
            <a:ext cx="5303520" cy="3657600"/>
          </a:xfrm>
          <a:prstGeom prst="rect">
            <a:avLst/>
          </a:prstGeom>
          <a:noFill/>
        </p:spPr>
        <p:txBody>
          <a:bodyPr wrap="square">
            <a:spAutoFit/>
          </a:bodyPr>
          <a:lstStyle/>
          <a:p>
            <a:pPr>
              <a:defRPr sz="1100">
                <a:solidFill>
                  <a:srgbClr val="003087"/>
                </a:solidFill>
              </a:defRPr>
            </a:pPr>
            <a:r>
              <a:t>- 供</a:t>
            </a:r>
          </a:p>
          <a:p>
            <a:pPr>
              <a:defRPr sz="1100">
                <a:solidFill>
                  <a:srgbClr val="003087"/>
                </a:solidFill>
              </a:defRPr>
            </a:pPr>
            <a:r>
              <a:t>- 应</a:t>
            </a:r>
          </a:p>
          <a:p>
            <a:pPr>
              <a:defRPr sz="1100">
                <a:solidFill>
                  <a:srgbClr val="003087"/>
                </a:solidFill>
              </a:defRPr>
            </a:pPr>
            <a:r>
              <a:t>- 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区域与出口双轮驱动：RCEP红利与区域特色农业创造差异化机会</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区域与出口双轮驱动：RCEP红利与区域特色农业创造差异化机会</a:t>
            </a:r>
          </a:p>
          <a:p>
            <a:pPr>
              <a:defRPr sz="900">
                <a:solidFill>
                  <a:srgbClr val="64696E"/>
                </a:solidFill>
              </a:defRPr>
            </a:pPr>
            <a:r>
              <a:t>RCEP关税优惠使中国水果、蔬菜出口2026年增长12%-15%，区域特色农业（云南花卉、黑龙江大豆）借助冷链与品牌实现溢价。</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4983480" cy="4343400"/>
          </a:xfrm>
          <a:prstGeom prst="rect">
            <a:avLst/>
          </a:prstGeom>
          <a:noFill/>
        </p:spPr>
        <p:txBody>
          <a:bodyPr wrap="square">
            <a:spAutoFit/>
          </a:bodyPr>
          <a:lstStyle/>
          <a:p>
            <a:pPr>
              <a:spcAft>
                <a:spcPts val="800"/>
              </a:spcAft>
              <a:defRPr sz="900">
                <a:solidFill>
                  <a:srgbClr val="333333"/>
                </a:solidFill>
              </a:defRPr>
            </a:pPr>
            <a:r>
              <a:t>RCEP框架下，中国对东盟水果、蔬菜出口关税降低5%-10%，2026年出口额预计增加200亿元。</a:t>
            </a:r>
          </a:p>
          <a:p>
            <a:pPr>
              <a:spcAft>
                <a:spcPts val="800"/>
              </a:spcAft>
              <a:defRPr sz="900">
                <a:solidFill>
                  <a:srgbClr val="333333"/>
                </a:solidFill>
              </a:defRPr>
            </a:pPr>
            <a:r>
              <a:t>区域特色农业如云南鲜花、山东蔬菜、黑龙江非转基因大豆，通过地理标志与品牌化提升附加值。</a:t>
            </a:r>
          </a:p>
          <a:p>
            <a:pPr>
              <a:spcAft>
                <a:spcPts val="800"/>
              </a:spcAft>
              <a:defRPr sz="900">
                <a:solidFill>
                  <a:srgbClr val="333333"/>
                </a:solidFill>
              </a:defRPr>
            </a:pPr>
            <a:r>
              <a:t>出口市场多元化降低对单一市场依赖，东南亚、中东成为新增量，但需应对贸易摩擦风险。</a:t>
            </a:r>
          </a:p>
        </p:txBody>
      </p:sp>
      <p:sp>
        <p:nvSpPr>
          <p:cNvPr id="7" name="TextBox 6"/>
          <p:cNvSpPr txBox="1"/>
          <p:nvPr/>
        </p:nvSpPr>
        <p:spPr>
          <a:xfrm>
            <a:off x="5989320" y="1508760"/>
            <a:ext cx="5303520" cy="3657600"/>
          </a:xfrm>
          <a:prstGeom prst="rect">
            <a:avLst/>
          </a:prstGeom>
          <a:noFill/>
        </p:spPr>
        <p:txBody>
          <a:bodyPr wrap="square">
            <a:spAutoFit/>
          </a:bodyPr>
          <a:lstStyle/>
          <a:p>
            <a:pPr>
              <a:defRPr sz="1100">
                <a:solidFill>
                  <a:srgbClr val="003087"/>
                </a:solidFill>
              </a:defRPr>
            </a:pPr>
            <a:r>
              <a:t>- 区</a:t>
            </a:r>
          </a:p>
          <a:p>
            <a:pPr>
              <a:defRPr sz="1100">
                <a:solidFill>
                  <a:srgbClr val="003087"/>
                </a:solidFill>
              </a:defRPr>
            </a:pPr>
            <a:r>
              <a:t>- 域</a:t>
            </a:r>
          </a:p>
          <a:p>
            <a:pPr>
              <a:defRPr sz="1100">
                <a:solidFill>
                  <a:srgbClr val="003087"/>
                </a:solidFill>
              </a:defRPr>
            </a:pPr>
            <a:r>
              <a:t>- 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74375" y="164592"/>
            <a:ext cx="1005840" cy="228600"/>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84048"/>
            <a:ext cx="9418320" cy="749808"/>
          </a:xfrm>
          <a:prstGeom prst="rect">
            <a:avLst/>
          </a:prstGeom>
          <a:noFill/>
        </p:spPr>
        <p:txBody>
          <a:bodyPr wrap="none">
            <a:spAutoFit/>
          </a:bodyPr>
          <a:lstStyle/>
          <a:p>
            <a:pPr>
              <a:defRPr sz="2200" b="0">
                <a:solidFill>
                  <a:srgbClr val="333333"/>
                </a:solidFill>
              </a:defRPr>
            </a:pPr>
            <a:r>
              <a:t>The next step is to convert the research into a short list of decisions</a:t>
            </a:r>
          </a:p>
        </p:txBody>
      </p:sp>
      <p:sp>
        <p:nvSpPr>
          <p:cNvPr id="5" name="Rectangle 4"/>
          <p:cNvSpPr/>
          <p:nvPr/>
        </p:nvSpPr>
        <p:spPr>
          <a:xfrm>
            <a:off x="566928" y="1143000"/>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600">
                <a:solidFill>
                  <a:srgbClr val="003087"/>
                </a:solidFill>
              </a:defRPr>
            </a:pPr>
            <a:r>
              <a:t>面向农业高管与投资者的战略机会评估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