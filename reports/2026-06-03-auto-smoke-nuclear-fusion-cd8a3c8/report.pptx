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Decision-Ready Analysis for Senior Executives and Policymakers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Accelerating but Faces a Decade-Long Path to Grid Power</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Ventures Are Outpacing Public Projects in Speed and Innovation</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Economic Viability Remains Uncertain Until Pilot Plants Demonstrate Net Energy Gain</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Strategic Implications Include Energy Independence and Reduced Fossil Fuel Leverage</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Investment Risks Are High but Early Movers May Gain Significant Advantage</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and Investment should be managed a</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energy commercialization is accelerating, with private ventures outpacing public projects, yet a decade-long path to grid power</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Commercial implications include potential disruption of energy markets, enhanced energy independence, and reduced fossil fuel leverage.</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Immediate next step: conduct a targeted due diligence on leading private fusion ventures and monitor key technical milestones.</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evidence base is thin—no verified net energy gain data exists, and cost projections are highly uncertain. Investment decisions shou</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Early movers may gain strategic advantages, but risks are high. A phased approach with clear decision gates is recommended.</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Accelerating but Faces a Decade-Long Path to Grid Power</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Accelerating but Faces a Decade-Long Path to Grid Power</a:t>
            </a:r>
          </a:p>
          <a:p>
            <a:pPr>
              <a:defRPr sz="830">
                <a:solidFill>
                  <a:srgbClr val="64696E"/>
                </a:solidFill>
              </a:defRPr>
            </a:pPr>
            <a:r>
              <a:t>This chapter concludes that fusion technology is advancing rapidly but remains at least 10-15 years from commercial grid power, requiring executives to monitor milestones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the process that powers the sun, has long been hailed as the ultimate energy source. In recent years, the pace of development has quickened, driven by advances in high-temperature superconductors, AI-assisted plasma control, and a surge of priv</a:t>
            </a:r>
          </a:p>
          <a:p>
            <a:pPr>
              <a:spcAft>
                <a:spcPts val="600"/>
              </a:spcAft>
              <a:defRPr sz="819">
                <a:solidFill>
                  <a:srgbClr val="333333"/>
                </a:solidFill>
              </a:defRPr>
            </a:pPr>
            <a:r>
              <a:t>The most mature fusion reactor designs are the tokamak and stellarator, both of which use magnetic confinement to hold plasma at extreme temperatures. Inertial confinement fusion, which uses lasers to compress fuel pellets, is also being pursued. Each design h</a:t>
            </a:r>
          </a:p>
          <a:p>
            <a:pPr>
              <a:spcAft>
                <a:spcPts val="600"/>
              </a:spcAft>
              <a:defRPr sz="819">
                <a:solidFill>
                  <a:srgbClr val="333333"/>
                </a:solidFill>
              </a:defRPr>
            </a:pPr>
            <a:r>
              <a:t>Major public projects like ITER in France have faced repeated delays and cost overruns, with first plasma now expected in 2035. In contrast, private ventures such as Commonwealth Fusion Systems (SPARC) and Helion Energy are targeting net energy gain by the mid</a:t>
            </a:r>
          </a:p>
          <a:p>
            <a:pPr>
              <a:spcBef>
                <a:spcPts val="600"/>
              </a:spcBef>
              <a:defRPr sz="819" b="1">
                <a:solidFill>
                  <a:srgbClr val="003087"/>
                </a:solidFill>
              </a:defRPr>
            </a:pPr>
            <a:r>
              <a:t>Key implications</a:t>
            </a:r>
          </a:p>
          <a:p>
            <a:pPr>
              <a:defRPr sz="730">
                <a:solidFill>
                  <a:srgbClr val="333333"/>
                </a:solidFill>
              </a:defRPr>
            </a:pPr>
            <a:r>
              <a:t>- Fusion technology is advancing but remains 10-15 years from commercial grid power.</a:t>
            </a:r>
          </a:p>
          <a:p>
            <a:pPr>
              <a:defRPr sz="730">
                <a:solidFill>
                  <a:srgbClr val="333333"/>
                </a:solidFill>
              </a:defRPr>
            </a:pPr>
            <a:r>
              <a:t>- Private ventures are outpacing public projects, offering earlier investment opportunities.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Ventures Are Outpacing Public Projects in Speed and Innovation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Ventures Are Outpacing Public Projects in Speed and Innovation</a:t>
            </a:r>
          </a:p>
          <a:p>
            <a:pPr>
              <a:defRPr sz="830">
                <a:solidFill>
                  <a:srgbClr val="64696E"/>
                </a:solidFill>
              </a:defRPr>
            </a:pPr>
            <a:r>
              <a:t>This chapter concludes that private fusion companies offer faster timelines and innovation, but carry higher financial risk, requiring rigorous due diligence and staged p</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has been transformed by the entry of private companies, which have raised over $6 billion cumulatively by 2025. These ventures are pursuing a variety of reactor designs and business models, often with more aggressive timelines than public</a:t>
            </a:r>
          </a:p>
          <a:p>
            <a:pPr>
              <a:spcAft>
                <a:spcPts val="600"/>
              </a:spcAft>
              <a:defRPr sz="819">
                <a:solidFill>
                  <a:srgbClr val="333333"/>
                </a:solidFill>
              </a:defRPr>
            </a:pPr>
            <a:r>
              <a:t>Commonwealth Fusion Systems (CFS), a spinout from MIT, is developing the SPARC tokamak, which aims to achieve net energy gain by 2025-2026. CFS has raised over $2 billion and is backed by major investors including Bill Gates and Breakthrough Energy Ventures. H</a:t>
            </a:r>
          </a:p>
          <a:p>
            <a:pPr>
              <a:spcAft>
                <a:spcPts val="600"/>
              </a:spcAft>
              <a:defRPr sz="819">
                <a:solidFill>
                  <a:srgbClr val="333333"/>
                </a:solidFill>
              </a:defRPr>
            </a:pPr>
            <a:r>
              <a:t>These private companies are not only faster but also more innovative, leveraging advances in AI, advanced manufacturing, and high-temperature superconductors. They are also more willing to take risks on novel designs. However, their financial sustainability de</a:t>
            </a:r>
          </a:p>
          <a:p>
            <a:pPr>
              <a:spcBef>
                <a:spcPts val="600"/>
              </a:spcBef>
              <a:defRPr sz="819" b="1">
                <a:solidFill>
                  <a:srgbClr val="003087"/>
                </a:solidFill>
              </a:defRPr>
            </a:pPr>
            <a:r>
              <a:t>Key implications</a:t>
            </a:r>
          </a:p>
          <a:p>
            <a:pPr>
              <a:defRPr sz="730">
                <a:solidFill>
                  <a:srgbClr val="333333"/>
                </a:solidFill>
              </a:defRPr>
            </a:pPr>
            <a:r>
              <a:t>- Private fusion ventures have raised over $6 billion and are targeting net energy gain by 2025-20</a:t>
            </a:r>
          </a:p>
          <a:p>
            <a:pPr>
              <a:defRPr sz="730">
                <a:solidFill>
                  <a:srgbClr val="333333"/>
                </a:solidFill>
              </a:defRPr>
            </a:pPr>
            <a:r>
              <a:t>- These companies offer faster innovation but higher financial risk.</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Remains Uncertain Until Pilot Plants Demonstrate Net Energy Gain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Remains Uncertain Until Pilot Plants Demonstrate Net Energy Gain</a:t>
            </a:r>
          </a:p>
          <a:p>
            <a:pPr>
              <a:defRPr sz="830">
                <a:solidFill>
                  <a:srgbClr val="64696E"/>
                </a:solidFill>
              </a:defRPr>
            </a:pPr>
            <a:r>
              <a:t>This chapter concludes that fusion's economic competitiveness is unproven, with cost projections ranging widely, requiring scenario-based investment planning and a focus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economic case for fusion energy hinges on its levelized cost of energy (LCOE) relative to other sources. Without any operating fusion plants, all cost projections are speculative. This section examines the current estimates and the key factors that will de</a:t>
            </a:r>
          </a:p>
          <a:p>
            <a:pPr>
              <a:spcAft>
                <a:spcPts val="600"/>
              </a:spcAft>
              <a:defRPr sz="819">
                <a:solidFill>
                  <a:srgbClr val="333333"/>
                </a:solidFill>
              </a:defRPr>
            </a:pPr>
            <a:r>
              <a:t>Estimates from the Fusion Industry Association and academic studies suggest that fusion LCOE could range from $50/MWh to over $100/MWh by 2050, depending on capital costs, operational efficiency, and fuel costs. For comparison, solar and wind LCOE have fallen</a:t>
            </a:r>
          </a:p>
          <a:p>
            <a:pPr>
              <a:spcAft>
                <a:spcPts val="600"/>
              </a:spcAft>
              <a:defRPr sz="819">
                <a:solidFill>
                  <a:srgbClr val="333333"/>
                </a:solidFill>
              </a:defRPr>
            </a:pPr>
            <a:r>
              <a:t>The capital cost of a fusion plant is expected to be high, potentially $5-10 billion for a first-of-a-kind plant, with significant learning curve reductions over time. Operational costs are expected to be low due to abundant fuel and minimal waste. However, th</a:t>
            </a:r>
          </a:p>
          <a:p>
            <a:pPr>
              <a:spcBef>
                <a:spcPts val="600"/>
              </a:spcBef>
              <a:defRPr sz="819" b="1">
                <a:solidFill>
                  <a:srgbClr val="003087"/>
                </a:solidFill>
              </a:defRPr>
            </a:pPr>
            <a:r>
              <a:t>Key implications</a:t>
            </a:r>
          </a:p>
          <a:p>
            <a:pPr>
              <a:defRPr sz="730">
                <a:solidFill>
                  <a:srgbClr val="333333"/>
                </a:solidFill>
              </a:defRPr>
            </a:pPr>
            <a:r>
              <a:t>- Fusion LCOE projections range from $50 to over $100/MWh, with no verified data.</a:t>
            </a:r>
          </a:p>
          <a:p>
            <a:pPr>
              <a:defRPr sz="730">
                <a:solidFill>
                  <a:srgbClr val="333333"/>
                </a:solidFill>
              </a:defRPr>
            </a:pPr>
            <a:r>
              <a:t>- Renewables and storage are becoming cheaper, raising the bar for fusion competitiveness.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Include Energy Independence and Reduced Fossil Fuel Leverage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Include Energy Independence and Reduced Fossil Fuel Leverage</a:t>
            </a:r>
          </a:p>
          <a:p>
            <a:pPr>
              <a:defRPr sz="830">
                <a:solidFill>
                  <a:srgbClr val="64696E"/>
                </a:solidFill>
              </a:defRPr>
            </a:pPr>
            <a:r>
              <a:t>This chapter concludes that fusion could reshape global geopolitics by enabling energy independence and reducing fossil fuel leverage, but also poses nonproliferation ris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has profound strategic implications for national security and global geopolitics. Countries that develop fusion technology could achieve near-total energy independence, reducing reliance on fossil fuel imports and insulating themselves from price</a:t>
            </a:r>
          </a:p>
          <a:p>
            <a:pPr>
              <a:spcAft>
                <a:spcPts val="600"/>
              </a:spcAft>
              <a:defRPr sz="819">
                <a:solidFill>
                  <a:srgbClr val="333333"/>
                </a:solidFill>
              </a:defRPr>
            </a:pPr>
            <a:r>
              <a:t>Nations with active fusion programs include the United States, China, the European Union, Japan, South Korea, and Russia. China, in particular, has made significant investments in fusion research and is building its own reactor (CFETR). The ability to produce</a:t>
            </a:r>
          </a:p>
          <a:p>
            <a:pPr>
              <a:spcAft>
                <a:spcPts val="600"/>
              </a:spcAft>
              <a:defRPr sz="819">
                <a:solidFill>
                  <a:srgbClr val="333333"/>
                </a:solidFill>
              </a:defRPr>
            </a:pPr>
            <a:r>
              <a:t>However, fusion technology also raises nonproliferation risks. The same technology used for energy production could potentially be used to produce weapons-grade materials, though the risk is lower than with fission. International governance frameworks will be</a:t>
            </a:r>
          </a:p>
          <a:p>
            <a:pPr>
              <a:spcBef>
                <a:spcPts val="600"/>
              </a:spcBef>
              <a:defRPr sz="819" b="1">
                <a:solidFill>
                  <a:srgbClr val="003087"/>
                </a:solidFill>
              </a:defRPr>
            </a:pPr>
            <a:r>
              <a:t>Key implications</a:t>
            </a:r>
          </a:p>
          <a:p>
            <a:pPr>
              <a:defRPr sz="730">
                <a:solidFill>
                  <a:srgbClr val="333333"/>
                </a:solidFill>
              </a:defRPr>
            </a:pPr>
            <a:r>
              <a:t>- Fusion could enable energy independence for nations with active programs.</a:t>
            </a:r>
          </a:p>
          <a:p>
            <a:pPr>
              <a:defRPr sz="730">
                <a:solidFill>
                  <a:srgbClr val="333333"/>
                </a:solidFill>
              </a:defRPr>
            </a:pPr>
            <a:r>
              <a:t>- OPEC and fossil fuel exporters face long-term demand risk.</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Investment Risks Are High but Early Movers May Gain Significant Advantage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Investment Risks Are High but Early Movers May Gain Significant Advantage</a:t>
            </a:r>
          </a:p>
          <a:p>
            <a:pPr>
              <a:defRPr sz="830">
                <a:solidFill>
                  <a:srgbClr val="64696E"/>
                </a:solidFill>
              </a:defRPr>
            </a:pPr>
            <a:r>
              <a:t>This chapter concludes that fusion investment carries substantial risks, but early movers can gain strategic advantages through staged, diversified approaches with clear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Investing in fusion energy carries substantial risks, including technical, market, regulatory, and geopolitical uncertainties. However, the potential rewards for early movers could be enormous. This section provides a framework for assessing fusion investment</a:t>
            </a:r>
          </a:p>
          <a:p>
            <a:pPr>
              <a:spcAft>
                <a:spcPts val="600"/>
              </a:spcAft>
              <a:defRPr sz="819">
                <a:solidFill>
                  <a:srgbClr val="333333"/>
                </a:solidFill>
              </a:defRPr>
            </a:pPr>
            <a:r>
              <a:t>The technical risk is the most significant: no fusion device has yet demonstrated sustained net energy gain. While private ventures like SPARC and Helion are making rapid progress, the history of fusion is filled with missed deadlines and unexpected challenges</a:t>
            </a:r>
          </a:p>
          <a:p>
            <a:pPr>
              <a:spcAft>
                <a:spcPts val="600"/>
              </a:spcAft>
              <a:defRPr sz="819">
                <a:solidFill>
                  <a:srgbClr val="333333"/>
                </a:solidFill>
              </a:defRPr>
            </a:pPr>
            <a:r>
              <a:t>Market risk is also substantial. The rapid decline in renewable energy costs, coupled with advances in battery storage, could make fusion economically unviable before it reaches commercial scale. Fusion's competitiveness will depend on achieving low capital co</a:t>
            </a:r>
          </a:p>
          <a:p>
            <a:pPr>
              <a:spcBef>
                <a:spcPts val="600"/>
              </a:spcBef>
              <a:defRPr sz="819" b="1">
                <a:solidFill>
                  <a:srgbClr val="003087"/>
                </a:solidFill>
              </a:defRPr>
            </a:pPr>
            <a:r>
              <a:t>Key implications</a:t>
            </a:r>
          </a:p>
          <a:p>
            <a:pPr>
              <a:defRPr sz="730">
                <a:solidFill>
                  <a:srgbClr val="333333"/>
                </a:solidFill>
              </a:defRPr>
            </a:pPr>
            <a:r>
              <a:t>- Fusion investment carries substantial technical, market, regulatory, and geopolitical risks.</a:t>
            </a:r>
          </a:p>
          <a:p>
            <a:pPr>
              <a:defRPr sz="730">
                <a:solidFill>
                  <a:srgbClr val="333333"/>
                </a:solidFill>
              </a:defRPr>
            </a:pPr>
            <a:r>
              <a:t>- Early movers can gain competitive advantages through staged, diversified approaches.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and Investment should be managed as a staged</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and Investment should be managed as a stag</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Nuclear Fusion Commercialization: Strategic Implications for Energy Markets and Investment should be separated into verified facts, directional scenarios and open diligence items. That boundary keeps the report from turning market enthusiasm or</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the report should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Policymakers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