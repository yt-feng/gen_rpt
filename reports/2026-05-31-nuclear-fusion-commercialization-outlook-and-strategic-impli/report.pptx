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over-ai.png"/>
          <p:cNvPicPr>
            <a:picLocks noChangeAspect="1"/>
          </p:cNvPicPr>
          <p:nvPr/>
        </p:nvPicPr>
        <p:blipFill>
          <a:blip r:embed="rId2"/>
          <a:stretch>
            <a:fillRect/>
          </a:stretch>
        </p:blipFill>
        <p:spPr>
          <a:xfrm>
            <a:off x="0" y="0"/>
            <a:ext cx="12191695" cy="6858000"/>
          </a:xfrm>
          <a:prstGeom prst="rect">
            <a:avLst/>
          </a:prstGeom>
        </p:spPr>
      </p:pic>
      <p:sp>
        <p:nvSpPr>
          <p:cNvPr id="3" name="Rectangle 2"/>
          <p:cNvSpPr/>
          <p:nvPr/>
        </p:nvSpPr>
        <p:spPr>
          <a:xfrm>
            <a:off x="0" y="0"/>
            <a:ext cx="12191695" cy="6858000"/>
          </a:xfrm>
          <a:prstGeom prst="rect">
            <a:avLst/>
          </a:prstGeom>
          <a:solidFill>
            <a:srgbClr val="051C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58368" y="685800"/>
            <a:ext cx="4892040" cy="3429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58368" y="685800"/>
            <a:ext cx="4892040" cy="73152"/>
          </a:xfrm>
          <a:prstGeom prst="rect">
            <a:avLst/>
          </a:prstGeom>
          <a:solidFill>
            <a:srgbClr val="3273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960120"/>
            <a:ext cx="4251960" cy="2743200"/>
          </a:xfrm>
          <a:prstGeom prst="rect">
            <a:avLst/>
          </a:prstGeom>
          <a:noFill/>
        </p:spPr>
        <p:txBody>
          <a:bodyPr wrap="square">
            <a:spAutoFit/>
          </a:bodyPr>
          <a:lstStyle/>
          <a:p>
            <a:pPr>
              <a:defRPr sz="900" b="1">
                <a:solidFill>
                  <a:srgbClr val="003087"/>
                </a:solidFill>
              </a:defRPr>
            </a:pPr>
            <a:r>
              <a:t>BLUEOCEAN</a:t>
            </a:r>
          </a:p>
          <a:p>
            <a:pPr>
              <a:spcBef>
                <a:spcPts val="1800"/>
              </a:spcBef>
              <a:defRPr sz="2300">
                <a:solidFill>
                  <a:srgbClr val="333333"/>
                </a:solidFill>
              </a:defRPr>
            </a:pPr>
            <a:r>
              <a:t>Nuclear Fusion Commercialization Outlook and Strategic Implications</a:t>
            </a:r>
          </a:p>
          <a:p>
            <a:pPr>
              <a:spcBef>
                <a:spcPts val="1400"/>
              </a:spcBef>
              <a:defRPr sz="950">
                <a:solidFill>
                  <a:srgbClr val="64696E"/>
                </a:solidFill>
              </a:defRPr>
            </a:pPr>
            <a:r>
              <a:t>A Client-Ready Research Report on Technology Pathways, Market Economics, and Investment Strategy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Contents</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The discussion follows the management question, evidence, and implications</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417320"/>
            <a:ext cx="502920" cy="274320"/>
          </a:xfrm>
          <a:prstGeom prst="rect">
            <a:avLst/>
          </a:prstGeom>
          <a:noFill/>
        </p:spPr>
        <p:txBody>
          <a:bodyPr wrap="none">
            <a:spAutoFit/>
          </a:bodyPr>
          <a:lstStyle/>
          <a:p>
            <a:pPr>
              <a:defRPr sz="950" b="1">
                <a:solidFill>
                  <a:srgbClr val="003087"/>
                </a:solidFill>
              </a:defRPr>
            </a:pPr>
            <a:r>
              <a:t>01</a:t>
            </a:r>
          </a:p>
        </p:txBody>
      </p:sp>
      <p:sp>
        <p:nvSpPr>
          <p:cNvPr id="7" name="TextBox 6"/>
          <p:cNvSpPr txBox="1"/>
          <p:nvPr/>
        </p:nvSpPr>
        <p:spPr>
          <a:xfrm>
            <a:off x="1143000" y="1417320"/>
            <a:ext cx="9601200" cy="384048"/>
          </a:xfrm>
          <a:prstGeom prst="rect">
            <a:avLst/>
          </a:prstGeom>
          <a:noFill/>
        </p:spPr>
        <p:txBody>
          <a:bodyPr wrap="none">
            <a:spAutoFit/>
          </a:bodyPr>
          <a:lstStyle/>
          <a:p>
            <a:pPr>
              <a:defRPr sz="1260">
                <a:solidFill>
                  <a:srgbClr val="333333"/>
                </a:solidFill>
              </a:defRPr>
            </a:pPr>
            <a:r>
              <a:t>Nuclear Fusion Is Approaching Technical Feasibility but Commercialization Remains a Decade or More Away</a:t>
            </a:r>
          </a:p>
        </p:txBody>
      </p:sp>
      <p:sp>
        <p:nvSpPr>
          <p:cNvPr id="8" name="TextBox 7"/>
          <p:cNvSpPr txBox="1"/>
          <p:nvPr/>
        </p:nvSpPr>
        <p:spPr>
          <a:xfrm>
            <a:off x="566928" y="1874520"/>
            <a:ext cx="502920" cy="274320"/>
          </a:xfrm>
          <a:prstGeom prst="rect">
            <a:avLst/>
          </a:prstGeom>
          <a:noFill/>
        </p:spPr>
        <p:txBody>
          <a:bodyPr wrap="none">
            <a:spAutoFit/>
          </a:bodyPr>
          <a:lstStyle/>
          <a:p>
            <a:pPr>
              <a:defRPr sz="950" b="1">
                <a:solidFill>
                  <a:srgbClr val="003087"/>
                </a:solidFill>
              </a:defRPr>
            </a:pPr>
            <a:r>
              <a:t>02</a:t>
            </a:r>
          </a:p>
        </p:txBody>
      </p:sp>
      <p:sp>
        <p:nvSpPr>
          <p:cNvPr id="9" name="TextBox 8"/>
          <p:cNvSpPr txBox="1"/>
          <p:nvPr/>
        </p:nvSpPr>
        <p:spPr>
          <a:xfrm>
            <a:off x="1143000" y="1874520"/>
            <a:ext cx="9601200" cy="384048"/>
          </a:xfrm>
          <a:prstGeom prst="rect">
            <a:avLst/>
          </a:prstGeom>
          <a:noFill/>
        </p:spPr>
        <p:txBody>
          <a:bodyPr wrap="none">
            <a:spAutoFit/>
          </a:bodyPr>
          <a:lstStyle/>
          <a:p>
            <a:pPr>
              <a:defRPr sz="1260">
                <a:solidFill>
                  <a:srgbClr val="333333"/>
                </a:solidFill>
              </a:defRPr>
            </a:pPr>
            <a:r>
              <a:t>Magnetic Confinement (Tokamaks) Leads in Maturity, but Alternative Designs May Offer Faster Paths to Market</a:t>
            </a:r>
          </a:p>
        </p:txBody>
      </p:sp>
      <p:sp>
        <p:nvSpPr>
          <p:cNvPr id="10" name="TextBox 9"/>
          <p:cNvSpPr txBox="1"/>
          <p:nvPr/>
        </p:nvSpPr>
        <p:spPr>
          <a:xfrm>
            <a:off x="566928" y="2331720"/>
            <a:ext cx="502920" cy="274320"/>
          </a:xfrm>
          <a:prstGeom prst="rect">
            <a:avLst/>
          </a:prstGeom>
          <a:noFill/>
        </p:spPr>
        <p:txBody>
          <a:bodyPr wrap="none">
            <a:spAutoFit/>
          </a:bodyPr>
          <a:lstStyle/>
          <a:p>
            <a:pPr>
              <a:defRPr sz="950" b="1">
                <a:solidFill>
                  <a:srgbClr val="003087"/>
                </a:solidFill>
              </a:defRPr>
            </a:pPr>
            <a:r>
              <a:t>03</a:t>
            </a:r>
          </a:p>
        </p:txBody>
      </p:sp>
      <p:sp>
        <p:nvSpPr>
          <p:cNvPr id="11" name="TextBox 10"/>
          <p:cNvSpPr txBox="1"/>
          <p:nvPr/>
        </p:nvSpPr>
        <p:spPr>
          <a:xfrm>
            <a:off x="1143000" y="2331720"/>
            <a:ext cx="9601200" cy="384048"/>
          </a:xfrm>
          <a:prstGeom prst="rect">
            <a:avLst/>
          </a:prstGeom>
          <a:noFill/>
        </p:spPr>
        <p:txBody>
          <a:bodyPr wrap="none">
            <a:spAutoFit/>
          </a:bodyPr>
          <a:lstStyle/>
          <a:p>
            <a:pPr>
              <a:defRPr sz="1260">
                <a:solidFill>
                  <a:srgbClr val="333333"/>
                </a:solidFill>
              </a:defRPr>
            </a:pPr>
            <a:r>
              <a:t>Levelized Cost of Fusion Is Projected to Be Competitive with Fission and Some Renewables by the 2040s, but Unc</a:t>
            </a:r>
          </a:p>
        </p:txBody>
      </p:sp>
      <p:sp>
        <p:nvSpPr>
          <p:cNvPr id="12" name="TextBox 11"/>
          <p:cNvSpPr txBox="1"/>
          <p:nvPr/>
        </p:nvSpPr>
        <p:spPr>
          <a:xfrm>
            <a:off x="566928" y="2788920"/>
            <a:ext cx="502920" cy="274320"/>
          </a:xfrm>
          <a:prstGeom prst="rect">
            <a:avLst/>
          </a:prstGeom>
          <a:noFill/>
        </p:spPr>
        <p:txBody>
          <a:bodyPr wrap="none">
            <a:spAutoFit/>
          </a:bodyPr>
          <a:lstStyle/>
          <a:p>
            <a:pPr>
              <a:defRPr sz="950" b="1">
                <a:solidFill>
                  <a:srgbClr val="003087"/>
                </a:solidFill>
              </a:defRPr>
            </a:pPr>
            <a:r>
              <a:t>04</a:t>
            </a:r>
          </a:p>
        </p:txBody>
      </p:sp>
      <p:sp>
        <p:nvSpPr>
          <p:cNvPr id="13" name="TextBox 12"/>
          <p:cNvSpPr txBox="1"/>
          <p:nvPr/>
        </p:nvSpPr>
        <p:spPr>
          <a:xfrm>
            <a:off x="1143000" y="2788920"/>
            <a:ext cx="9601200" cy="384048"/>
          </a:xfrm>
          <a:prstGeom prst="rect">
            <a:avLst/>
          </a:prstGeom>
          <a:noFill/>
        </p:spPr>
        <p:txBody>
          <a:bodyPr wrap="none">
            <a:spAutoFit/>
          </a:bodyPr>
          <a:lstStyle/>
          <a:p>
            <a:pPr>
              <a:defRPr sz="1260">
                <a:solidFill>
                  <a:srgbClr val="333333"/>
                </a:solidFill>
              </a:defRPr>
            </a:pPr>
            <a:r>
              <a:t>Fusion Could Reshape Energy Geopolitics by Reducing Dependence on Fossil Fuel Exporters and Enabling Energy In</a:t>
            </a:r>
          </a:p>
        </p:txBody>
      </p:sp>
      <p:sp>
        <p:nvSpPr>
          <p:cNvPr id="14" name="TextBox 13"/>
          <p:cNvSpPr txBox="1"/>
          <p:nvPr/>
        </p:nvSpPr>
        <p:spPr>
          <a:xfrm>
            <a:off x="566928" y="3246120"/>
            <a:ext cx="502920" cy="274320"/>
          </a:xfrm>
          <a:prstGeom prst="rect">
            <a:avLst/>
          </a:prstGeom>
          <a:noFill/>
        </p:spPr>
        <p:txBody>
          <a:bodyPr wrap="none">
            <a:spAutoFit/>
          </a:bodyPr>
          <a:lstStyle/>
          <a:p>
            <a:pPr>
              <a:defRPr sz="950" b="1">
                <a:solidFill>
                  <a:srgbClr val="003087"/>
                </a:solidFill>
              </a:defRPr>
            </a:pPr>
            <a:r>
              <a:t>05</a:t>
            </a:r>
          </a:p>
        </p:txBody>
      </p:sp>
      <p:sp>
        <p:nvSpPr>
          <p:cNvPr id="15" name="TextBox 14"/>
          <p:cNvSpPr txBox="1"/>
          <p:nvPr/>
        </p:nvSpPr>
        <p:spPr>
          <a:xfrm>
            <a:off x="1143000" y="3246120"/>
            <a:ext cx="9601200" cy="384048"/>
          </a:xfrm>
          <a:prstGeom prst="rect">
            <a:avLst/>
          </a:prstGeom>
          <a:noFill/>
        </p:spPr>
        <p:txBody>
          <a:bodyPr wrap="none">
            <a:spAutoFit/>
          </a:bodyPr>
          <a:lstStyle/>
          <a:p>
            <a:pPr>
              <a:defRPr sz="1260">
                <a:solidFill>
                  <a:srgbClr val="333333"/>
                </a:solidFill>
              </a:defRPr>
            </a:pPr>
            <a:r>
              <a:t>Strategic Investments Should Focus on Diversified Technology Bets and Early Partnerships with Leading Private</a:t>
            </a:r>
          </a:p>
        </p:txBody>
      </p:sp>
      <p:sp>
        <p:nvSpPr>
          <p:cNvPr id="16" name="TextBox 15"/>
          <p:cNvSpPr txBox="1"/>
          <p:nvPr/>
        </p:nvSpPr>
        <p:spPr>
          <a:xfrm>
            <a:off x="566928" y="3703320"/>
            <a:ext cx="502920" cy="274320"/>
          </a:xfrm>
          <a:prstGeom prst="rect">
            <a:avLst/>
          </a:prstGeom>
          <a:noFill/>
        </p:spPr>
        <p:txBody>
          <a:bodyPr wrap="none">
            <a:spAutoFit/>
          </a:bodyPr>
          <a:lstStyle/>
          <a:p>
            <a:pPr>
              <a:defRPr sz="950" b="1">
                <a:solidFill>
                  <a:srgbClr val="003087"/>
                </a:solidFill>
              </a:defRPr>
            </a:pPr>
            <a:r>
              <a:t>06</a:t>
            </a:r>
          </a:p>
        </p:txBody>
      </p:sp>
      <p:sp>
        <p:nvSpPr>
          <p:cNvPr id="17" name="TextBox 16"/>
          <p:cNvSpPr txBox="1"/>
          <p:nvPr/>
        </p:nvSpPr>
        <p:spPr>
          <a:xfrm>
            <a:off x="1143000" y="3703320"/>
            <a:ext cx="9601200" cy="384048"/>
          </a:xfrm>
          <a:prstGeom prst="rect">
            <a:avLst/>
          </a:prstGeom>
          <a:noFill/>
        </p:spPr>
        <p:txBody>
          <a:bodyPr wrap="none">
            <a:spAutoFit/>
          </a:bodyPr>
          <a:lstStyle/>
          <a:p>
            <a:pPr>
              <a:defRPr sz="1260">
                <a:solidFill>
                  <a:srgbClr val="333333"/>
                </a:solidFill>
              </a:defRPr>
            </a:pPr>
            <a:r>
              <a:t>Regulatory and Licensing Frameworks Are Underdeveloped and Pose a Significant Timeline Risk</a:t>
            </a:r>
          </a:p>
        </p:txBody>
      </p:sp>
      <p:sp>
        <p:nvSpPr>
          <p:cNvPr id="18" name="TextBox 17"/>
          <p:cNvSpPr txBox="1"/>
          <p:nvPr/>
        </p:nvSpPr>
        <p:spPr>
          <a:xfrm>
            <a:off x="566928" y="4160520"/>
            <a:ext cx="502920" cy="274320"/>
          </a:xfrm>
          <a:prstGeom prst="rect">
            <a:avLst/>
          </a:prstGeom>
          <a:noFill/>
        </p:spPr>
        <p:txBody>
          <a:bodyPr wrap="none">
            <a:spAutoFit/>
          </a:bodyPr>
          <a:lstStyle/>
          <a:p>
            <a:pPr>
              <a:defRPr sz="950" b="1">
                <a:solidFill>
                  <a:srgbClr val="003087"/>
                </a:solidFill>
              </a:defRPr>
            </a:pPr>
            <a:r>
              <a:t>07</a:t>
            </a:r>
          </a:p>
        </p:txBody>
      </p:sp>
      <p:sp>
        <p:nvSpPr>
          <p:cNvPr id="19" name="TextBox 18"/>
          <p:cNvSpPr txBox="1"/>
          <p:nvPr/>
        </p:nvSpPr>
        <p:spPr>
          <a:xfrm>
            <a:off x="1143000" y="4160520"/>
            <a:ext cx="9601200" cy="384048"/>
          </a:xfrm>
          <a:prstGeom prst="rect">
            <a:avLst/>
          </a:prstGeom>
          <a:noFill/>
        </p:spPr>
        <p:txBody>
          <a:bodyPr wrap="none">
            <a:spAutoFit/>
          </a:bodyPr>
          <a:lstStyle/>
          <a:p>
            <a:pPr>
              <a:defRPr sz="1260">
                <a:solidFill>
                  <a:srgbClr val="333333"/>
                </a:solidFill>
              </a:defRPr>
            </a:pPr>
            <a:r>
              <a:t>Tritium Supply and Breeding Technology Is a Critical Bottleneck That Must Be Resolved for Commercial Viability</a:t>
            </a:r>
          </a:p>
        </p:txBody>
      </p:sp>
      <p:sp>
        <p:nvSpPr>
          <p:cNvPr id="20" name="TextBox 19"/>
          <p:cNvSpPr txBox="1"/>
          <p:nvPr/>
        </p:nvSpPr>
        <p:spPr>
          <a:xfrm>
            <a:off x="566928" y="4617720"/>
            <a:ext cx="502920" cy="274320"/>
          </a:xfrm>
          <a:prstGeom prst="rect">
            <a:avLst/>
          </a:prstGeom>
          <a:noFill/>
        </p:spPr>
        <p:txBody>
          <a:bodyPr wrap="none">
            <a:spAutoFit/>
          </a:bodyPr>
          <a:lstStyle/>
          <a:p>
            <a:pPr>
              <a:defRPr sz="950" b="1">
                <a:solidFill>
                  <a:srgbClr val="003087"/>
                </a:solidFill>
              </a:defRPr>
            </a:pPr>
            <a:r>
              <a:t>08</a:t>
            </a:r>
          </a:p>
        </p:txBody>
      </p:sp>
      <p:sp>
        <p:nvSpPr>
          <p:cNvPr id="21" name="TextBox 20"/>
          <p:cNvSpPr txBox="1"/>
          <p:nvPr/>
        </p:nvSpPr>
        <p:spPr>
          <a:xfrm>
            <a:off x="1143000" y="4617720"/>
            <a:ext cx="9601200" cy="384048"/>
          </a:xfrm>
          <a:prstGeom prst="rect">
            <a:avLst/>
          </a:prstGeom>
          <a:noFill/>
        </p:spPr>
        <p:txBody>
          <a:bodyPr wrap="none">
            <a:spAutoFit/>
          </a:bodyPr>
          <a:lstStyle/>
          <a:p>
            <a:pPr>
              <a:defRPr sz="1260">
                <a:solidFill>
                  <a:srgbClr val="333333"/>
                </a:solidFill>
              </a:defRPr>
            </a:pPr>
            <a:r>
              <a:t>Incumbent Energy Industries May Resist or Attempt to Slow Fusion Deployment</a:t>
            </a:r>
          </a:p>
        </p:txBody>
      </p:sp>
      <p:sp>
        <p:nvSpPr>
          <p:cNvPr id="22" name="TextBox 21"/>
          <p:cNvSpPr txBox="1"/>
          <p:nvPr/>
        </p:nvSpPr>
        <p:spPr>
          <a:xfrm>
            <a:off x="566928" y="5074920"/>
            <a:ext cx="502920" cy="274320"/>
          </a:xfrm>
          <a:prstGeom prst="rect">
            <a:avLst/>
          </a:prstGeom>
          <a:noFill/>
        </p:spPr>
        <p:txBody>
          <a:bodyPr wrap="none">
            <a:spAutoFit/>
          </a:bodyPr>
          <a:lstStyle/>
          <a:p>
            <a:pPr>
              <a:defRPr sz="950" b="1">
                <a:solidFill>
                  <a:srgbClr val="003087"/>
                </a:solidFill>
              </a:defRPr>
            </a:pPr>
            <a:r>
              <a:t>09</a:t>
            </a:r>
          </a:p>
        </p:txBody>
      </p:sp>
      <p:sp>
        <p:nvSpPr>
          <p:cNvPr id="23" name="TextBox 22"/>
          <p:cNvSpPr txBox="1"/>
          <p:nvPr/>
        </p:nvSpPr>
        <p:spPr>
          <a:xfrm>
            <a:off x="1143000" y="5074920"/>
            <a:ext cx="9601200" cy="384048"/>
          </a:xfrm>
          <a:prstGeom prst="rect">
            <a:avLst/>
          </a:prstGeom>
          <a:noFill/>
        </p:spPr>
        <p:txBody>
          <a:bodyPr wrap="none">
            <a:spAutoFit/>
          </a:bodyPr>
          <a:lstStyle/>
          <a:p>
            <a:pPr>
              <a:defRPr sz="1260">
                <a:solidFill>
                  <a:srgbClr val="333333"/>
                </a:solidFill>
              </a:defRPr>
            </a:pPr>
            <a:r>
              <a:t>National Security Implications Include Potential for Dual-Use Technologies and Proliferation Risks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Key highlights</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The analysis narrows the agenda to a focused set of management priorities</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389888"/>
            <a:ext cx="5394960" cy="868680"/>
          </a:xfrm>
          <a:prstGeom prst="rect">
            <a:avLst/>
          </a:prstGeom>
          <a:solidFill>
            <a:srgbClr val="FFFFFF"/>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66928" y="1389888"/>
            <a:ext cx="54864" cy="868680"/>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13232" y="1481328"/>
            <a:ext cx="438912" cy="201168"/>
          </a:xfrm>
          <a:prstGeom prst="rect">
            <a:avLst/>
          </a:prstGeom>
          <a:noFill/>
        </p:spPr>
        <p:txBody>
          <a:bodyPr wrap="none">
            <a:spAutoFit/>
          </a:bodyPr>
          <a:lstStyle/>
          <a:p>
            <a:pPr>
              <a:defRPr sz="900" b="1">
                <a:solidFill>
                  <a:srgbClr val="003087"/>
                </a:solidFill>
              </a:defRPr>
            </a:pPr>
            <a:r>
              <a:t>01</a:t>
            </a:r>
          </a:p>
        </p:txBody>
      </p:sp>
      <p:sp>
        <p:nvSpPr>
          <p:cNvPr id="9" name="TextBox 8"/>
          <p:cNvSpPr txBox="1"/>
          <p:nvPr/>
        </p:nvSpPr>
        <p:spPr>
          <a:xfrm>
            <a:off x="1207008" y="1499616"/>
            <a:ext cx="4590288" cy="704088"/>
          </a:xfrm>
          <a:prstGeom prst="rect">
            <a:avLst/>
          </a:prstGeom>
          <a:noFill/>
        </p:spPr>
        <p:txBody>
          <a:bodyPr wrap="square">
            <a:spAutoFit/>
          </a:bodyPr>
          <a:lstStyle/>
          <a:p>
            <a:pPr>
              <a:defRPr sz="770">
                <a:solidFill>
                  <a:srgbClr val="333333"/>
                </a:solidFill>
              </a:defRPr>
            </a:pPr>
            <a:r>
              <a:t>Nuclear fusion is approaching technical feasibility, with multiple private and public projects targeting net energy gain within this de</a:t>
            </a:r>
          </a:p>
        </p:txBody>
      </p:sp>
      <p:sp>
        <p:nvSpPr>
          <p:cNvPr id="10" name="Rectangle 9"/>
          <p:cNvSpPr/>
          <p:nvPr/>
        </p:nvSpPr>
        <p:spPr>
          <a:xfrm>
            <a:off x="6163056" y="1389888"/>
            <a:ext cx="5394960" cy="868680"/>
          </a:xfrm>
          <a:prstGeom prst="rect">
            <a:avLst/>
          </a:prstGeom>
          <a:solidFill>
            <a:srgbClr val="FFFFFF"/>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163056" y="1389888"/>
            <a:ext cx="54864" cy="868680"/>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09360" y="1481328"/>
            <a:ext cx="438912" cy="201168"/>
          </a:xfrm>
          <a:prstGeom prst="rect">
            <a:avLst/>
          </a:prstGeom>
          <a:noFill/>
        </p:spPr>
        <p:txBody>
          <a:bodyPr wrap="none">
            <a:spAutoFit/>
          </a:bodyPr>
          <a:lstStyle/>
          <a:p>
            <a:pPr>
              <a:defRPr sz="900" b="1">
                <a:solidFill>
                  <a:srgbClr val="003087"/>
                </a:solidFill>
              </a:defRPr>
            </a:pPr>
            <a:r>
              <a:t>02</a:t>
            </a:r>
          </a:p>
        </p:txBody>
      </p:sp>
      <p:sp>
        <p:nvSpPr>
          <p:cNvPr id="13" name="TextBox 12"/>
          <p:cNvSpPr txBox="1"/>
          <p:nvPr/>
        </p:nvSpPr>
        <p:spPr>
          <a:xfrm>
            <a:off x="6803136" y="1499616"/>
            <a:ext cx="4590288" cy="704088"/>
          </a:xfrm>
          <a:prstGeom prst="rect">
            <a:avLst/>
          </a:prstGeom>
          <a:noFill/>
        </p:spPr>
        <p:txBody>
          <a:bodyPr wrap="square">
            <a:spAutoFit/>
          </a:bodyPr>
          <a:lstStyle/>
          <a:p>
            <a:pPr>
              <a:defRPr sz="770">
                <a:solidFill>
                  <a:srgbClr val="333333"/>
                </a:solidFill>
              </a:defRPr>
            </a:pPr>
            <a:r>
              <a:t>This report assesses the technology readiness of leading approaches—magnetic confinement (tokamaks, stellarators), inertial confinement</a:t>
            </a:r>
          </a:p>
        </p:txBody>
      </p:sp>
      <p:sp>
        <p:nvSpPr>
          <p:cNvPr id="14" name="Rectangle 13"/>
          <p:cNvSpPr/>
          <p:nvPr/>
        </p:nvSpPr>
        <p:spPr>
          <a:xfrm>
            <a:off x="566928" y="2404872"/>
            <a:ext cx="5394960" cy="868680"/>
          </a:xfrm>
          <a:prstGeom prst="rect">
            <a:avLst/>
          </a:prstGeom>
          <a:solidFill>
            <a:srgbClr val="FFFFFF"/>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66928" y="2404872"/>
            <a:ext cx="54864" cy="868680"/>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13232" y="2496312"/>
            <a:ext cx="438912" cy="201168"/>
          </a:xfrm>
          <a:prstGeom prst="rect">
            <a:avLst/>
          </a:prstGeom>
          <a:noFill/>
        </p:spPr>
        <p:txBody>
          <a:bodyPr wrap="none">
            <a:spAutoFit/>
          </a:bodyPr>
          <a:lstStyle/>
          <a:p>
            <a:pPr>
              <a:defRPr sz="900" b="1">
                <a:solidFill>
                  <a:srgbClr val="003087"/>
                </a:solidFill>
              </a:defRPr>
            </a:pPr>
            <a:r>
              <a:t>03</a:t>
            </a:r>
          </a:p>
        </p:txBody>
      </p:sp>
      <p:sp>
        <p:nvSpPr>
          <p:cNvPr id="17" name="TextBox 16"/>
          <p:cNvSpPr txBox="1"/>
          <p:nvPr/>
        </p:nvSpPr>
        <p:spPr>
          <a:xfrm>
            <a:off x="1207008" y="2514600"/>
            <a:ext cx="4590288" cy="704088"/>
          </a:xfrm>
          <a:prstGeom prst="rect">
            <a:avLst/>
          </a:prstGeom>
          <a:noFill/>
        </p:spPr>
        <p:txBody>
          <a:bodyPr wrap="square">
            <a:spAutoFit/>
          </a:bodyPr>
          <a:lstStyle/>
          <a:p>
            <a:pPr>
              <a:defRPr sz="770">
                <a:solidFill>
                  <a:srgbClr val="333333"/>
                </a:solidFill>
              </a:defRPr>
            </a:pPr>
            <a:r>
              <a:t>Strategic implications include potential reshaping of energy geopolitics, reduced dependence on fossil fuel exporters, and new national</a:t>
            </a:r>
          </a:p>
        </p:txBody>
      </p:sp>
      <p:sp>
        <p:nvSpPr>
          <p:cNvPr id="18" name="Rectangle 17"/>
          <p:cNvSpPr/>
          <p:nvPr/>
        </p:nvSpPr>
        <p:spPr>
          <a:xfrm>
            <a:off x="6163056" y="2404872"/>
            <a:ext cx="5394960" cy="868680"/>
          </a:xfrm>
          <a:prstGeom prst="rect">
            <a:avLst/>
          </a:prstGeom>
          <a:solidFill>
            <a:srgbClr val="FFFFFF"/>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163056" y="2404872"/>
            <a:ext cx="54864" cy="868680"/>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09360" y="2496312"/>
            <a:ext cx="438912" cy="201168"/>
          </a:xfrm>
          <a:prstGeom prst="rect">
            <a:avLst/>
          </a:prstGeom>
          <a:noFill/>
        </p:spPr>
        <p:txBody>
          <a:bodyPr wrap="none">
            <a:spAutoFit/>
          </a:bodyPr>
          <a:lstStyle/>
          <a:p>
            <a:pPr>
              <a:defRPr sz="900" b="1">
                <a:solidFill>
                  <a:srgbClr val="003087"/>
                </a:solidFill>
              </a:defRPr>
            </a:pPr>
            <a:r>
              <a:t>04</a:t>
            </a:r>
          </a:p>
        </p:txBody>
      </p:sp>
      <p:sp>
        <p:nvSpPr>
          <p:cNvPr id="21" name="TextBox 20"/>
          <p:cNvSpPr txBox="1"/>
          <p:nvPr/>
        </p:nvSpPr>
        <p:spPr>
          <a:xfrm>
            <a:off x="6803136" y="2514600"/>
            <a:ext cx="4590288" cy="704088"/>
          </a:xfrm>
          <a:prstGeom prst="rect">
            <a:avLst/>
          </a:prstGeom>
          <a:noFill/>
        </p:spPr>
        <p:txBody>
          <a:bodyPr wrap="square">
            <a:spAutoFit/>
          </a:bodyPr>
          <a:lstStyle/>
          <a:p>
            <a:pPr>
              <a:defRPr sz="770">
                <a:solidFill>
                  <a:srgbClr val="333333"/>
                </a:solidFill>
              </a:defRPr>
            </a:pPr>
            <a:r>
              <a:t>For executives and investors, we recommend a phased investment strategy with diversified technology bets, early partnerships with leadi</a:t>
            </a:r>
          </a:p>
        </p:txBody>
      </p:sp>
      <p:sp>
        <p:nvSpPr>
          <p:cNvPr id="22" name="Rectangle 21"/>
          <p:cNvSpPr/>
          <p:nvPr/>
        </p:nvSpPr>
        <p:spPr>
          <a:xfrm>
            <a:off x="566928" y="3419856"/>
            <a:ext cx="5394960" cy="868680"/>
          </a:xfrm>
          <a:prstGeom prst="rect">
            <a:avLst/>
          </a:prstGeom>
          <a:solidFill>
            <a:srgbClr val="FFFFFF"/>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66928" y="3419856"/>
            <a:ext cx="54864" cy="868680"/>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13232" y="3511296"/>
            <a:ext cx="438912" cy="201168"/>
          </a:xfrm>
          <a:prstGeom prst="rect">
            <a:avLst/>
          </a:prstGeom>
          <a:noFill/>
        </p:spPr>
        <p:txBody>
          <a:bodyPr wrap="none">
            <a:spAutoFit/>
          </a:bodyPr>
          <a:lstStyle/>
          <a:p>
            <a:pPr>
              <a:defRPr sz="900" b="1">
                <a:solidFill>
                  <a:srgbClr val="003087"/>
                </a:solidFill>
              </a:defRPr>
            </a:pPr>
            <a:r>
              <a:t>05</a:t>
            </a:r>
          </a:p>
        </p:txBody>
      </p:sp>
      <p:sp>
        <p:nvSpPr>
          <p:cNvPr id="25" name="TextBox 24"/>
          <p:cNvSpPr txBox="1"/>
          <p:nvPr/>
        </p:nvSpPr>
        <p:spPr>
          <a:xfrm>
            <a:off x="1207008" y="3529584"/>
            <a:ext cx="4590288" cy="704088"/>
          </a:xfrm>
          <a:prstGeom prst="rect">
            <a:avLst/>
          </a:prstGeom>
          <a:noFill/>
        </p:spPr>
        <p:txBody>
          <a:bodyPr wrap="square">
            <a:spAutoFit/>
          </a:bodyPr>
          <a:lstStyle/>
          <a:p>
            <a:pPr>
              <a:defRPr sz="770">
                <a:solidFill>
                  <a:srgbClr val="333333"/>
                </a:solidFill>
              </a:defRPr>
            </a:pPr>
            <a:r>
              <a:t>Key bottlenecks include tritium breeding, materials science, and licensing pathways, which require coordinated public-private efforts 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Nuclear Fusion Is Approaching Technical Feasibility but Commercialization Remains a Decade or More Away</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Nuclear Fusion Is Approaching Technical Feasibility but Commercialization Remains a Decade or More Away</a:t>
            </a:r>
          </a:p>
          <a:p>
            <a:pPr>
              <a:defRPr sz="830">
                <a:solidFill>
                  <a:srgbClr val="64696E"/>
                </a:solidFill>
              </a:defRPr>
            </a:pPr>
            <a:r>
              <a:t>This chapter concludes that while fusion has achieved net energy gain in experiments, sustained commercial operation is not expected before the 2040s, requiring patient c</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353312"/>
            <a:ext cx="4892040" cy="4315968"/>
          </a:xfrm>
          <a:prstGeom prst="rect">
            <a:avLst/>
          </a:prstGeom>
          <a:noFill/>
        </p:spPr>
        <p:txBody>
          <a:bodyPr wrap="square" tIns="0" bIns="0">
            <a:spAutoFit/>
          </a:bodyPr>
          <a:lstStyle/>
          <a:p>
            <a:pPr>
              <a:spcAft>
                <a:spcPts val="600"/>
              </a:spcAft>
              <a:defRPr sz="819">
                <a:solidFill>
                  <a:srgbClr val="333333"/>
                </a:solidFill>
              </a:defRPr>
            </a:pPr>
            <a:r>
              <a:t>Nuclear fusion has long been considered the holy grail of clean energy, offering the promise of near-limitless, low-carbon power. In recent years, significant progress has been made toward achieving net energy gain—the point at which a fusion reaction produces</a:t>
            </a:r>
          </a:p>
          <a:p>
            <a:pPr>
              <a:spcAft>
                <a:spcPts val="600"/>
              </a:spcAft>
              <a:defRPr sz="819">
                <a:solidFill>
                  <a:srgbClr val="333333"/>
                </a:solidFill>
              </a:defRPr>
            </a:pPr>
            <a:r>
              <a:t>The most mature approach is magnetic confinement, particularly the tokamak design, which uses powerful magnetic fields to contain plasma. The international ITER project, under construction in France, is the largest tokamak experiment and aims to demonstrate su</a:t>
            </a:r>
          </a:p>
          <a:p>
            <a:pPr>
              <a:spcAft>
                <a:spcPts val="600"/>
              </a:spcAft>
              <a:defRPr sz="819">
                <a:solidFill>
                  <a:srgbClr val="333333"/>
                </a:solidFill>
              </a:defRPr>
            </a:pPr>
            <a:r>
              <a:t>Alternative designs, including stellarators, field-reversed configurations, and magnetized target fusion, offer potential advantages in stability and simplicity. Stellarators, such as the Wendelstein 7-X in Germany, avoid the plasma disruptions that plague tok</a:t>
            </a:r>
          </a:p>
          <a:p>
            <a:pPr>
              <a:spcBef>
                <a:spcPts val="600"/>
              </a:spcBef>
              <a:defRPr sz="819" b="1">
                <a:solidFill>
                  <a:srgbClr val="003087"/>
                </a:solidFill>
              </a:defRPr>
            </a:pPr>
            <a:r>
              <a:t>Key implications</a:t>
            </a:r>
          </a:p>
          <a:p>
            <a:pPr>
              <a:defRPr sz="730">
                <a:solidFill>
                  <a:srgbClr val="333333"/>
                </a:solidFill>
              </a:defRPr>
            </a:pPr>
            <a:r>
              <a:t>- Net energy gain has been demonstrated in single-shot experiments, but sustained operation remain</a:t>
            </a:r>
          </a:p>
          <a:p>
            <a:pPr>
              <a:defRPr sz="730">
                <a:solidFill>
                  <a:srgbClr val="333333"/>
                </a:solidFill>
              </a:defRPr>
            </a:pPr>
            <a:r>
              <a:t>- ITER is the largest tokamak project but faces delays to 2035-2040.</a:t>
            </a:r>
          </a:p>
        </p:txBody>
      </p:sp>
      <p:pic>
        <p:nvPicPr>
          <p:cNvPr id="7" name="Picture 6" descr="image-1.png"/>
          <p:cNvPicPr>
            <a:picLocks noChangeAspect="1"/>
          </p:cNvPicPr>
          <p:nvPr/>
        </p:nvPicPr>
        <p:blipFill>
          <a:blip r:embed="rId2"/>
          <a:stretch>
            <a:fillRect/>
          </a:stretch>
        </p:blipFill>
        <p:spPr>
          <a:xfrm>
            <a:off x="5897880" y="1371600"/>
            <a:ext cx="5650992" cy="4187952"/>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Magnetic Confinement (Tokamaks) Leads in Maturity, but Alternative Designs May Offer Faster Paths to Market</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Magnetic Confinement (Tokamaks) Leads in Maturity, but Alternative Designs May Offer Faster Paths to Market</a:t>
            </a:r>
          </a:p>
          <a:p>
            <a:pPr>
              <a:defRPr sz="830">
                <a:solidFill>
                  <a:srgbClr val="64696E"/>
                </a:solidFill>
              </a:defRPr>
            </a:pPr>
            <a:r>
              <a:t>This chapter concludes that tokamaks are the most mature approach, but alternative designs could accelerate commercialization if they overcome technical risks.</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353312"/>
            <a:ext cx="4892040" cy="4315968"/>
          </a:xfrm>
          <a:prstGeom prst="rect">
            <a:avLst/>
          </a:prstGeom>
          <a:noFill/>
        </p:spPr>
        <p:txBody>
          <a:bodyPr wrap="square" tIns="0" bIns="0">
            <a:spAutoFit/>
          </a:bodyPr>
          <a:lstStyle/>
          <a:p>
            <a:pPr>
              <a:spcAft>
                <a:spcPts val="600"/>
              </a:spcAft>
              <a:defRPr sz="819">
                <a:solidFill>
                  <a:srgbClr val="333333"/>
                </a:solidFill>
              </a:defRPr>
            </a:pPr>
            <a:r>
              <a:t>Magnetic confinement fusion, particularly the tokamak, is the most studied and funded approach. The ITER project represents the culmination of decades of international collaboration and is designed to produce 500 MW of thermal power from 50 MW of input. Howeve</a:t>
            </a:r>
          </a:p>
          <a:p>
            <a:pPr>
              <a:spcAft>
                <a:spcPts val="600"/>
              </a:spcAft>
              <a:defRPr sz="819">
                <a:solidFill>
                  <a:srgbClr val="333333"/>
                </a:solidFill>
              </a:defRPr>
            </a:pPr>
            <a:r>
              <a:t>Private companies are pursuing compact tokamaks that could be built faster and at lower cost. Commonwealth Fusion Systems, a spin-out from MIT, is developing the SPARC tokamak using high-temperature superconducting (HTS) magnets, which allow for a smaller, mor</a:t>
            </a:r>
          </a:p>
          <a:p>
            <a:pPr>
              <a:spcAft>
                <a:spcPts val="600"/>
              </a:spcAft>
              <a:defRPr sz="819">
                <a:solidFill>
                  <a:srgbClr val="333333"/>
                </a:solidFill>
              </a:defRPr>
            </a:pPr>
            <a:r>
              <a:t>Stellarators, such as the Wendelstein 7-X, offer inherent stability and continuous operation, avoiding the plasma disruptions that can occur in tokamaks. However, stellarators are more complex to design and build, and their magnetic confinement is less efficie</a:t>
            </a:r>
          </a:p>
          <a:p>
            <a:pPr>
              <a:spcBef>
                <a:spcPts val="600"/>
              </a:spcBef>
              <a:defRPr sz="819" b="1">
                <a:solidFill>
                  <a:srgbClr val="003087"/>
                </a:solidFill>
              </a:defRPr>
            </a:pPr>
            <a:r>
              <a:t>Key implications</a:t>
            </a:r>
          </a:p>
          <a:p>
            <a:pPr>
              <a:defRPr sz="730">
                <a:solidFill>
                  <a:srgbClr val="333333"/>
                </a:solidFill>
              </a:defRPr>
            </a:pPr>
            <a:r>
              <a:t>- Tokamaks are the most mature approach, with ITER as the flagship project.</a:t>
            </a:r>
          </a:p>
          <a:p>
            <a:pPr>
              <a:defRPr sz="730">
                <a:solidFill>
                  <a:srgbClr val="333333"/>
                </a:solidFill>
              </a:defRPr>
            </a:pPr>
            <a:r>
              <a:t>- Compact tokamaks using HTS magnets could accelerate timelines.</a:t>
            </a:r>
          </a:p>
        </p:txBody>
      </p:sp>
      <p:pic>
        <p:nvPicPr>
          <p:cNvPr id="7" name="Picture 6" descr="image-2.png"/>
          <p:cNvPicPr>
            <a:picLocks noChangeAspect="1"/>
          </p:cNvPicPr>
          <p:nvPr/>
        </p:nvPicPr>
        <p:blipFill>
          <a:blip r:embed="rId2"/>
          <a:stretch>
            <a:fillRect/>
          </a:stretch>
        </p:blipFill>
        <p:spPr>
          <a:xfrm>
            <a:off x="5897880" y="1371600"/>
            <a:ext cx="5650992" cy="4187952"/>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Levelized Cost of Fusion Is Projected to Be Competitive with Fission and Some Renewables by the 2040s, but Uncertainty I</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Levelized Cost of Fusion Is Projected to Be Competitive with Fission and Some Renewables by the 2040s, but Uncertainty</a:t>
            </a:r>
          </a:p>
          <a:p>
            <a:pPr>
              <a:defRPr sz="830">
                <a:solidFill>
                  <a:srgbClr val="64696E"/>
                </a:solidFill>
              </a:defRPr>
            </a:pPr>
            <a:r>
              <a:t>This chapter concludes that fusion LCOE could reach $50-100/MWh by the 2040s, but capital costs and regulatory delays create significant uncertainty.</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353312"/>
            <a:ext cx="4892040" cy="4315968"/>
          </a:xfrm>
          <a:prstGeom prst="rect">
            <a:avLst/>
          </a:prstGeom>
          <a:noFill/>
        </p:spPr>
        <p:txBody>
          <a:bodyPr wrap="square" tIns="0" bIns="0">
            <a:spAutoFit/>
          </a:bodyPr>
          <a:lstStyle/>
          <a:p>
            <a:pPr>
              <a:spcAft>
                <a:spcPts val="600"/>
              </a:spcAft>
              <a:defRPr sz="819">
                <a:solidFill>
                  <a:srgbClr val="333333"/>
                </a:solidFill>
              </a:defRPr>
            </a:pPr>
            <a:r>
              <a:t>The levelized cost of energy (LCOE) from fusion is highly uncertain, as no commercial fusion plant has ever been built. Early estimates from the Fusion Industry Association and academic studies suggest that first-of-a-kind fusion plants could have LCOE in the</a:t>
            </a:r>
          </a:p>
          <a:p>
            <a:pPr>
              <a:spcAft>
                <a:spcPts val="600"/>
              </a:spcAft>
              <a:defRPr sz="819">
                <a:solidFill>
                  <a:srgbClr val="333333"/>
                </a:solidFill>
              </a:defRPr>
            </a:pPr>
            <a:r>
              <a:t>Capital costs are the dominant factor in fusion LCOE. A commercial fusion plant is expected to cost $5-10 billion for a 1 GW facility, similar to large fission reactors. However, compact designs using HTS magnets could reduce costs to $2-3 billion, according t</a:t>
            </a:r>
          </a:p>
          <a:p>
            <a:pPr>
              <a:spcAft>
                <a:spcPts val="600"/>
              </a:spcAft>
              <a:defRPr sz="819">
                <a:solidFill>
                  <a:srgbClr val="333333"/>
                </a:solidFill>
              </a:defRPr>
            </a:pPr>
            <a:r>
              <a:t>Comparison with other energy sources must account for system-level costs, including grid integration and backup power. Fusion plants are expected to operate as baseload power, similar to fission, with capacity factors of 90% or more. This could provide a valua</a:t>
            </a:r>
          </a:p>
          <a:p>
            <a:pPr>
              <a:spcBef>
                <a:spcPts val="600"/>
              </a:spcBef>
              <a:defRPr sz="819" b="1">
                <a:solidFill>
                  <a:srgbClr val="003087"/>
                </a:solidFill>
              </a:defRPr>
            </a:pPr>
            <a:r>
              <a:t>Key implications</a:t>
            </a:r>
          </a:p>
          <a:p>
            <a:pPr>
              <a:defRPr sz="730">
                <a:solidFill>
                  <a:srgbClr val="333333"/>
                </a:solidFill>
              </a:defRPr>
            </a:pPr>
            <a:r>
              <a:t>- Fusion LCOE is projected at $50-100/MWh, competitive with fission and offshore wind.</a:t>
            </a:r>
          </a:p>
          <a:p>
            <a:pPr>
              <a:defRPr sz="730">
                <a:solidFill>
                  <a:srgbClr val="333333"/>
                </a:solidFill>
              </a:defRPr>
            </a:pPr>
            <a:r>
              <a:t>- Capital costs dominate; compact designs could reduce costs to $2-3 billion.</a:t>
            </a:r>
          </a:p>
        </p:txBody>
      </p:sp>
      <p:pic>
        <p:nvPicPr>
          <p:cNvPr id="7" name="Picture 6" descr="image-3.png"/>
          <p:cNvPicPr>
            <a:picLocks noChangeAspect="1"/>
          </p:cNvPicPr>
          <p:nvPr/>
        </p:nvPicPr>
        <p:blipFill>
          <a:blip r:embed="rId2"/>
          <a:stretch>
            <a:fillRect/>
          </a:stretch>
        </p:blipFill>
        <p:spPr>
          <a:xfrm>
            <a:off x="5897880" y="1371600"/>
            <a:ext cx="5650992" cy="4187952"/>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Fusion Could Reshape Energy Geopolitics by Reducing Dependence on Fossil Fuel Exporters and Enabling Energy Independence</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Fusion Could Reshape Energy Geopolitics by Reducing Dependence on Fossil Fuel Exporters and Enabling Energy Independen</a:t>
            </a:r>
          </a:p>
          <a:p>
            <a:pPr>
              <a:defRPr sz="830">
                <a:solidFill>
                  <a:srgbClr val="64696E"/>
                </a:solidFill>
              </a:defRPr>
            </a:pPr>
            <a:r>
              <a:t>This chapter concludes that fusion could reduce geopolitical influence of fossil fuel exporters and enhance energy independence for importers, but new dependencies on rar</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353312"/>
            <a:ext cx="4892040" cy="4315968"/>
          </a:xfrm>
          <a:prstGeom prst="rect">
            <a:avLst/>
          </a:prstGeom>
          <a:noFill/>
        </p:spPr>
        <p:txBody>
          <a:bodyPr wrap="square" tIns="0" bIns="0">
            <a:spAutoFit/>
          </a:bodyPr>
          <a:lstStyle/>
          <a:p>
            <a:pPr>
              <a:spcAft>
                <a:spcPts val="600"/>
              </a:spcAft>
              <a:defRPr sz="819">
                <a:solidFill>
                  <a:srgbClr val="333333"/>
                </a:solidFill>
              </a:defRPr>
            </a:pPr>
            <a:r>
              <a:t>The widespread deployment of fusion energy could fundamentally alter global energy geopolitics. Fusion fuel—deuterium and lithium—is abundant and widely distributed, reducing the strategic importance of fossil fuel reserves. Countries that are currently net en</a:t>
            </a:r>
          </a:p>
          <a:p>
            <a:pPr>
              <a:spcAft>
                <a:spcPts val="600"/>
              </a:spcAft>
              <a:defRPr sz="819">
                <a:solidFill>
                  <a:srgbClr val="333333"/>
                </a:solidFill>
              </a:defRPr>
            </a:pPr>
            <a:r>
              <a:t>Fusion could also reduce the need for long-distance energy transportation, as plants can be built near demand centers. This would lower infrastructure costs and reduce the risk of supply chain disruptions. However, fusion plants will require significant amount</a:t>
            </a:r>
          </a:p>
          <a:p>
            <a:pPr>
              <a:spcAft>
                <a:spcPts val="600"/>
              </a:spcAft>
              <a:defRPr sz="819">
                <a:solidFill>
                  <a:srgbClr val="333333"/>
                </a:solidFill>
              </a:defRPr>
            </a:pPr>
            <a:r>
              <a:t>National security implications include the potential for dual-use technologies. Fusion research and development can contribute to nuclear weapons expertise, particularly in tritium handling and neutronics. The spread of fusion technology could raise proliferat</a:t>
            </a:r>
          </a:p>
          <a:p>
            <a:pPr>
              <a:spcBef>
                <a:spcPts val="600"/>
              </a:spcBef>
              <a:defRPr sz="819" b="1">
                <a:solidFill>
                  <a:srgbClr val="003087"/>
                </a:solidFill>
              </a:defRPr>
            </a:pPr>
            <a:r>
              <a:t>Key implications</a:t>
            </a:r>
          </a:p>
          <a:p>
            <a:pPr>
              <a:defRPr sz="730">
                <a:solidFill>
                  <a:srgbClr val="333333"/>
                </a:solidFill>
              </a:defRPr>
            </a:pPr>
            <a:r>
              <a:t>- Fusion could reduce dependence on fossil fuel exporters and enhance energy independence.</a:t>
            </a:r>
          </a:p>
          <a:p>
            <a:pPr>
              <a:defRPr sz="730">
                <a:solidFill>
                  <a:srgbClr val="333333"/>
                </a:solidFill>
              </a:defRPr>
            </a:pPr>
            <a:r>
              <a:t>- New dependencies on rare earths for magnets may create strategic vulnerabilities.</a:t>
            </a:r>
          </a:p>
        </p:txBody>
      </p:sp>
      <p:pic>
        <p:nvPicPr>
          <p:cNvPr id="7" name="Picture 6" descr="image-4.png"/>
          <p:cNvPicPr>
            <a:picLocks noChangeAspect="1"/>
          </p:cNvPicPr>
          <p:nvPr/>
        </p:nvPicPr>
        <p:blipFill>
          <a:blip r:embed="rId2"/>
          <a:stretch>
            <a:fillRect/>
          </a:stretch>
        </p:blipFill>
        <p:spPr>
          <a:xfrm>
            <a:off x="5897880" y="1371600"/>
            <a:ext cx="5650992" cy="4187952"/>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Strategic Investments Should Focus on Diversified Technology Bets and Early Partnerships with Leading Private Firms</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Strategic Investments Should Focus on Diversified Technology Bets and Early Partnerships with Leading Private Firms</a:t>
            </a:r>
          </a:p>
          <a:p>
            <a:pPr>
              <a:defRPr sz="830">
                <a:solidFill>
                  <a:srgbClr val="64696E"/>
                </a:solidFill>
              </a:defRPr>
            </a:pPr>
            <a:r>
              <a:t>This chapter concludes that a diversified investment strategy across multiple fusion approaches, with staged funding and early partnerships, is recommended to manage risk</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353312"/>
            <a:ext cx="4892040" cy="4315968"/>
          </a:xfrm>
          <a:prstGeom prst="rect">
            <a:avLst/>
          </a:prstGeom>
          <a:noFill/>
        </p:spPr>
        <p:txBody>
          <a:bodyPr wrap="square" tIns="0" bIns="0">
            <a:spAutoFit/>
          </a:bodyPr>
          <a:lstStyle/>
          <a:p>
            <a:pPr>
              <a:spcAft>
                <a:spcPts val="600"/>
              </a:spcAft>
              <a:defRPr sz="819">
                <a:solidFill>
                  <a:srgbClr val="333333"/>
                </a:solidFill>
              </a:defRPr>
            </a:pPr>
            <a:r>
              <a:t>Given the high uncertainty in technology pathways and timelines, a diversified investment strategy is recommended. Investors should allocate capital across multiple fusion approaches, including magnetic confinement (tokamaks and stellarators), inertial confine</a:t>
            </a:r>
          </a:p>
          <a:p>
            <a:pPr>
              <a:spcAft>
                <a:spcPts val="600"/>
              </a:spcAft>
              <a:defRPr sz="819">
                <a:solidFill>
                  <a:srgbClr val="333333"/>
                </a:solidFill>
              </a:defRPr>
            </a:pPr>
            <a:r>
              <a:t>Early partnerships with these firms can provide strategic advantages, including access to intellectual property, talent, and first-mover positioning. Corporate venture arms of energy and technology companies, such as Equinor, Google, and Bill Gates' Breakthrou</a:t>
            </a:r>
          </a:p>
          <a:p>
            <a:pPr>
              <a:spcAft>
                <a:spcPts val="600"/>
              </a:spcAft>
              <a:defRPr sz="819">
                <a:solidFill>
                  <a:srgbClr val="333333"/>
                </a:solidFill>
              </a:defRPr>
            </a:pPr>
            <a:r>
              <a:t>The intellectual property landscape is evolving rapidly, with hundreds of patents filed globally. Key areas of IP include magnet design, plasma control, tritium breeding, and heat extraction. Barriers to entry are high due to the need for specialized expertise</a:t>
            </a:r>
          </a:p>
          <a:p>
            <a:pPr>
              <a:spcBef>
                <a:spcPts val="600"/>
              </a:spcBef>
              <a:defRPr sz="819" b="1">
                <a:solidFill>
                  <a:srgbClr val="003087"/>
                </a:solidFill>
              </a:defRPr>
            </a:pPr>
            <a:r>
              <a:t>Key implications</a:t>
            </a:r>
          </a:p>
          <a:p>
            <a:pPr>
              <a:defRPr sz="730">
                <a:solidFill>
                  <a:srgbClr val="333333"/>
                </a:solidFill>
              </a:defRPr>
            </a:pPr>
            <a:r>
              <a:t>- Diversify across multiple fusion approaches to reduce technology risk.</a:t>
            </a:r>
          </a:p>
          <a:p>
            <a:pPr>
              <a:defRPr sz="730">
                <a:solidFill>
                  <a:srgbClr val="333333"/>
                </a:solidFill>
              </a:defRPr>
            </a:pPr>
            <a:r>
              <a:t>- Early partnerships provide access to IP, talent, and regulatory influence.</a:t>
            </a:r>
          </a:p>
        </p:txBody>
      </p:sp>
      <p:pic>
        <p:nvPicPr>
          <p:cNvPr id="7" name="Picture 6" descr="image-5.png"/>
          <p:cNvPicPr>
            <a:picLocks noChangeAspect="1"/>
          </p:cNvPicPr>
          <p:nvPr/>
        </p:nvPicPr>
        <p:blipFill>
          <a:blip r:embed="rId2"/>
          <a:stretch>
            <a:fillRect/>
          </a:stretch>
        </p:blipFill>
        <p:spPr>
          <a:xfrm>
            <a:off x="5897880" y="1371600"/>
            <a:ext cx="5650992" cy="4187952"/>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Regulatory and Licensing Frameworks Are Underdeveloped and Pose a Significant Timeline Risk</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Regulatory and Licensing Frameworks Are Underdeveloped and Pose a Significant Timeline Risk</a:t>
            </a:r>
          </a:p>
          <a:p>
            <a:pPr>
              <a:defRPr sz="830">
                <a:solidFill>
                  <a:srgbClr val="64696E"/>
                </a:solidFill>
              </a:defRPr>
            </a:pPr>
            <a:r>
              <a:t>This chapter concludes that the lack of clear fusion-specific regulations could delay first commercial plants by 5-10 years, requiring proactive engagement with regulator</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353312"/>
            <a:ext cx="4892040" cy="4315968"/>
          </a:xfrm>
          <a:prstGeom prst="rect">
            <a:avLst/>
          </a:prstGeom>
          <a:noFill/>
        </p:spPr>
        <p:txBody>
          <a:bodyPr wrap="square" tIns="0" bIns="0">
            <a:spAutoFit/>
          </a:bodyPr>
          <a:lstStyle/>
          <a:p>
            <a:pPr>
              <a:spcAft>
                <a:spcPts val="600"/>
              </a:spcAft>
              <a:defRPr sz="819">
                <a:solidFill>
                  <a:srgbClr val="333333"/>
                </a:solidFill>
              </a:defRPr>
            </a:pPr>
            <a:r>
              <a:t>The absence of a clear regulatory framework for fusion energy is a major barrier to commercialization. Fusion plants are currently subject to nuclear fission regulations in most countries, which are designed for a different technology with different risks. Fus</a:t>
            </a:r>
          </a:p>
          <a:p>
            <a:pPr>
              <a:spcAft>
                <a:spcPts val="600"/>
              </a:spcAft>
              <a:defRPr sz="819">
                <a:solidFill>
                  <a:srgbClr val="333333"/>
                </a:solidFill>
              </a:defRPr>
            </a:pPr>
            <a:r>
              <a:t>The U.S. Nuclear Regulatory Commission (NRC) is developing a regulatory framework for fusion, with a proposed rule expected in 2027. The NRC has indicated that fusion should be regulated separately from fission, with a focus on radiological safety rather than</a:t>
            </a:r>
          </a:p>
          <a:p>
            <a:pPr>
              <a:spcAft>
                <a:spcPts val="600"/>
              </a:spcAft>
              <a:defRPr sz="819">
                <a:solidFill>
                  <a:srgbClr val="333333"/>
                </a:solidFill>
              </a:defRPr>
            </a:pPr>
            <a:r>
              <a:t>Other countries, including Japan, South Korea, and France, are also developing fusion-specific regulations, but progress is uneven. The International Atomic Energy Agency (IAEA) has published safety guidelines for fusion, but these are not binding. The lack of</a:t>
            </a:r>
          </a:p>
          <a:p>
            <a:pPr>
              <a:spcBef>
                <a:spcPts val="600"/>
              </a:spcBef>
              <a:defRPr sz="819" b="1">
                <a:solidFill>
                  <a:srgbClr val="003087"/>
                </a:solidFill>
              </a:defRPr>
            </a:pPr>
            <a:r>
              <a:t>Key implications</a:t>
            </a:r>
          </a:p>
          <a:p>
            <a:pPr>
              <a:defRPr sz="730">
                <a:solidFill>
                  <a:srgbClr val="333333"/>
                </a:solidFill>
              </a:defRPr>
            </a:pPr>
            <a:r>
              <a:t>- No comprehensive fusion-specific regulatory framework exists yet.</a:t>
            </a:r>
          </a:p>
          <a:p>
            <a:pPr>
              <a:defRPr sz="730">
                <a:solidFill>
                  <a:srgbClr val="333333"/>
                </a:solidFill>
              </a:defRPr>
            </a:pPr>
            <a:r>
              <a:t>- NRC rule expected in 2027; UK legislation in 2025-2026.</a:t>
            </a:r>
          </a:p>
        </p:txBody>
      </p:sp>
      <p:pic>
        <p:nvPicPr>
          <p:cNvPr id="7" name="Picture 6" descr="image-6.png"/>
          <p:cNvPicPr>
            <a:picLocks noChangeAspect="1"/>
          </p:cNvPicPr>
          <p:nvPr/>
        </p:nvPicPr>
        <p:blipFill>
          <a:blip r:embed="rId2"/>
          <a:stretch>
            <a:fillRect/>
          </a:stretch>
        </p:blipFill>
        <p:spPr>
          <a:xfrm>
            <a:off x="5897880" y="1371600"/>
            <a:ext cx="5650992" cy="4187952"/>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Tritium Supply and Breeding Technology Is a Critical Bottleneck That Must Be Resolved for Commercial Viability</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Tritium Supply and Breeding Technology Is a Critical Bottleneck That Must Be Resolved for Commercial Viability</a:t>
            </a:r>
          </a:p>
          <a:p>
            <a:pPr>
              <a:defRPr sz="830">
                <a:solidFill>
                  <a:srgbClr val="64696E"/>
                </a:solidFill>
              </a:defRPr>
            </a:pPr>
            <a:r>
              <a:t>This chapter concludes that tritium breeding is a critical path item, with no tested solution at scale, and alternative fuel cycles are not near-term viable.</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353312"/>
            <a:ext cx="4892040" cy="4315968"/>
          </a:xfrm>
          <a:prstGeom prst="rect">
            <a:avLst/>
          </a:prstGeom>
          <a:noFill/>
        </p:spPr>
        <p:txBody>
          <a:bodyPr wrap="square" tIns="0" bIns="0">
            <a:spAutoFit/>
          </a:bodyPr>
          <a:lstStyle/>
          <a:p>
            <a:pPr>
              <a:spcAft>
                <a:spcPts val="600"/>
              </a:spcAft>
              <a:defRPr sz="819">
                <a:solidFill>
                  <a:srgbClr val="333333"/>
                </a:solidFill>
              </a:defRPr>
            </a:pPr>
            <a:r>
              <a:t>Tritium is a key fuel for deuterium-tritium (D-T) fusion reactions, which are the most likely to be used in first-generation commercial reactors. However, tritium is radioactive with a half-life of 12.3 years and does not occur naturally in significant quantit</a:t>
            </a:r>
          </a:p>
          <a:p>
            <a:pPr>
              <a:spcAft>
                <a:spcPts val="600"/>
              </a:spcAft>
              <a:defRPr sz="819">
                <a:solidFill>
                  <a:srgbClr val="333333"/>
                </a:solidFill>
              </a:defRPr>
            </a:pPr>
            <a:r>
              <a:t>To achieve commercial viability, fusion reactors must breed tritium from lithium using neutrons produced in the fusion reaction. The tritium breeding ratio (TBR) must be greater than 1.0 to sustain the reactor and provide start-up inventory for new plants. Cur</a:t>
            </a:r>
          </a:p>
          <a:p>
            <a:pPr>
              <a:spcAft>
                <a:spcPts val="600"/>
              </a:spcAft>
              <a:defRPr sz="819">
                <a:solidFill>
                  <a:srgbClr val="333333"/>
                </a:solidFill>
              </a:defRPr>
            </a:pPr>
            <a:r>
              <a:t>The timeline for developing and validating tritium breeding technology is uncertain. ITER will test several blanket modules, but full-scale breeding blankets will not be deployed until the 2040s. Private companies are also working on breeding solutions, but de</a:t>
            </a:r>
          </a:p>
          <a:p>
            <a:pPr>
              <a:spcBef>
                <a:spcPts val="600"/>
              </a:spcBef>
              <a:defRPr sz="819" b="1">
                <a:solidFill>
                  <a:srgbClr val="003087"/>
                </a:solidFill>
              </a:defRPr>
            </a:pPr>
            <a:r>
              <a:t>Key implications</a:t>
            </a:r>
          </a:p>
          <a:p>
            <a:pPr>
              <a:defRPr sz="730">
                <a:solidFill>
                  <a:srgbClr val="333333"/>
                </a:solidFill>
              </a:defRPr>
            </a:pPr>
            <a:r>
              <a:t>- Tritium is scarce and must be bred from lithium for commercial fusion.</a:t>
            </a:r>
          </a:p>
          <a:p>
            <a:pPr>
              <a:defRPr sz="730">
                <a:solidFill>
                  <a:srgbClr val="333333"/>
                </a:solidFill>
              </a:defRPr>
            </a:pPr>
            <a:r>
              <a:t>- Tritium breeding ratio must exceed 1.0; no design tested at scale.</a:t>
            </a:r>
          </a:p>
        </p:txBody>
      </p:sp>
      <p:pic>
        <p:nvPicPr>
          <p:cNvPr id="7" name="Picture 6" descr="image-7.png"/>
          <p:cNvPicPr>
            <a:picLocks noChangeAspect="1"/>
          </p:cNvPicPr>
          <p:nvPr/>
        </p:nvPicPr>
        <p:blipFill>
          <a:blip r:embed="rId2"/>
          <a:stretch>
            <a:fillRect/>
          </a:stretch>
        </p:blipFill>
        <p:spPr>
          <a:xfrm>
            <a:off x="5897880" y="1371600"/>
            <a:ext cx="5650992" cy="4187952"/>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Incumbent Energy Industries May Resist or Attempt to Slow Fusion Deployment</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Incumbent Energy Industries May Resist or Attempt to Slow Fusion Deployment</a:t>
            </a:r>
          </a:p>
          <a:p>
            <a:pPr>
              <a:defRPr sz="830">
                <a:solidFill>
                  <a:srgbClr val="64696E"/>
                </a:solidFill>
              </a:defRPr>
            </a:pPr>
            <a:r>
              <a:t>This chapter concludes that incumbent resistance is a significant risk, but policy support and public-private partnerships can help overcome it.</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353312"/>
            <a:ext cx="4892040" cy="4315968"/>
          </a:xfrm>
          <a:prstGeom prst="rect">
            <a:avLst/>
          </a:prstGeom>
          <a:noFill/>
        </p:spPr>
        <p:txBody>
          <a:bodyPr wrap="square" tIns="0" bIns="0">
            <a:spAutoFit/>
          </a:bodyPr>
          <a:lstStyle/>
          <a:p>
            <a:pPr>
              <a:spcAft>
                <a:spcPts val="600"/>
              </a:spcAft>
              <a:defRPr sz="819">
                <a:solidFill>
                  <a:srgbClr val="333333"/>
                </a:solidFill>
              </a:defRPr>
            </a:pPr>
            <a:r>
              <a:t>The potential for fusion to disrupt existing energy markets is significant, and incumbent industries are likely to respond. Fossil fuel companies, particularly those with large reserves of oil, gas, and coal, may view fusion as a long-term threat to their busi</a:t>
            </a:r>
          </a:p>
          <a:p>
            <a:pPr>
              <a:spcAft>
                <a:spcPts val="600"/>
              </a:spcAft>
              <a:defRPr sz="819">
                <a:solidFill>
                  <a:srgbClr val="333333"/>
                </a:solidFill>
              </a:defRPr>
            </a:pPr>
            <a:r>
              <a:t>Nuclear fission utilities may also resist fusion, as it could compete for investment and market share. However, some fission companies are exploring fusion as a complementary technology, particularly for waste reduction and safety improvements. The fission ind</a:t>
            </a:r>
          </a:p>
          <a:p>
            <a:pPr>
              <a:spcAft>
                <a:spcPts val="600"/>
              </a:spcAft>
              <a:defRPr sz="819">
                <a:solidFill>
                  <a:srgbClr val="333333"/>
                </a:solidFill>
              </a:defRPr>
            </a:pPr>
            <a:r>
              <a:t>Policy support will be critical to overcoming incumbent resistance. Governments can provide funding for fusion R&amp;D, tax incentives for early adopters, and streamlined regulatory pathways. Public-private partnerships, such as the U.S. Department of Energy's Fus</a:t>
            </a:r>
          </a:p>
          <a:p>
            <a:pPr>
              <a:spcBef>
                <a:spcPts val="600"/>
              </a:spcBef>
              <a:defRPr sz="819" b="1">
                <a:solidFill>
                  <a:srgbClr val="003087"/>
                </a:solidFill>
              </a:defRPr>
            </a:pPr>
            <a:r>
              <a:t>Key implications</a:t>
            </a:r>
          </a:p>
          <a:p>
            <a:pPr>
              <a:defRPr sz="730">
                <a:solidFill>
                  <a:srgbClr val="333333"/>
                </a:solidFill>
              </a:defRPr>
            </a:pPr>
            <a:r>
              <a:t>- Fossil fuel and fission incumbents may resist fusion deployment.</a:t>
            </a:r>
          </a:p>
          <a:p>
            <a:pPr>
              <a:defRPr sz="730">
                <a:solidFill>
                  <a:srgbClr val="333333"/>
                </a:solidFill>
              </a:defRPr>
            </a:pPr>
            <a:r>
              <a:t>- Policy support and public-private partnerships are critical to overcome resistance.</a:t>
            </a:r>
          </a:p>
        </p:txBody>
      </p:sp>
      <p:pic>
        <p:nvPicPr>
          <p:cNvPr id="7" name="Picture 6" descr="image-8.png"/>
          <p:cNvPicPr>
            <a:picLocks noChangeAspect="1"/>
          </p:cNvPicPr>
          <p:nvPr/>
        </p:nvPicPr>
        <p:blipFill>
          <a:blip r:embed="rId2"/>
          <a:stretch>
            <a:fillRect/>
          </a:stretch>
        </p:blipFill>
        <p:spPr>
          <a:xfrm>
            <a:off x="5897880" y="1371600"/>
            <a:ext cx="5650992" cy="4187952"/>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National Security Implications Include Potential for Dual-Use Technologies and Proliferation Risks</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National Security Implications Include Potential for Dual-Use Technologies and Proliferation Risks</a:t>
            </a:r>
          </a:p>
          <a:p>
            <a:pPr>
              <a:defRPr sz="830">
                <a:solidFill>
                  <a:srgbClr val="64696E"/>
                </a:solidFill>
              </a:defRPr>
            </a:pPr>
            <a:r>
              <a:t>This chapter concludes that fusion technology has dual-use potential, requiring updated safeguards and export controls to manage proliferation risks.</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353312"/>
            <a:ext cx="4892040" cy="4315968"/>
          </a:xfrm>
          <a:prstGeom prst="rect">
            <a:avLst/>
          </a:prstGeom>
          <a:noFill/>
        </p:spPr>
        <p:txBody>
          <a:bodyPr wrap="square" tIns="0" bIns="0">
            <a:spAutoFit/>
          </a:bodyPr>
          <a:lstStyle/>
          <a:p>
            <a:pPr>
              <a:spcAft>
                <a:spcPts val="600"/>
              </a:spcAft>
              <a:defRPr sz="819">
                <a:solidFill>
                  <a:srgbClr val="333333"/>
                </a:solidFill>
              </a:defRPr>
            </a:pPr>
            <a:r>
              <a:t>Fusion technology has dual-use potential, as the same knowledge and equipment used for civilian fusion can be applied to nuclear weapons research. Tritium, a key fusion fuel, is also used in nuclear weapons to boost yield. The spread of fusion expertise could</a:t>
            </a:r>
          </a:p>
          <a:p>
            <a:pPr>
              <a:spcAft>
                <a:spcPts val="600"/>
              </a:spcAft>
              <a:defRPr sz="819">
                <a:solidFill>
                  <a:srgbClr val="333333"/>
                </a:solidFill>
              </a:defRPr>
            </a:pPr>
            <a:r>
              <a:t>Export controls on fusion-related technology are already in place under the Nuclear Suppliers Group (NSG) guidelines. However, as fusion technology becomes more commercialized, the risk of proliferation may increase. Small-scale fusion reactors, if they become</a:t>
            </a:r>
          </a:p>
          <a:p>
            <a:pPr>
              <a:spcAft>
                <a:spcPts val="600"/>
              </a:spcAft>
              <a:defRPr sz="819">
                <a:solidFill>
                  <a:srgbClr val="333333"/>
                </a:solidFill>
              </a:defRPr>
            </a:pPr>
            <a:r>
              <a:t>National security implications also include energy independence and resilience. Countries that develop fusion technology could reduce their dependence on imported energy, enhancing their strategic autonomy. However, the concentration of rare earth supply chain</a:t>
            </a:r>
          </a:p>
          <a:p>
            <a:pPr>
              <a:spcBef>
                <a:spcPts val="600"/>
              </a:spcBef>
              <a:defRPr sz="819" b="1">
                <a:solidFill>
                  <a:srgbClr val="003087"/>
                </a:solidFill>
              </a:defRPr>
            </a:pPr>
            <a:r>
              <a:t>Key implications</a:t>
            </a:r>
          </a:p>
          <a:p>
            <a:pPr>
              <a:defRPr sz="730">
                <a:solidFill>
                  <a:srgbClr val="333333"/>
                </a:solidFill>
              </a:defRPr>
            </a:pPr>
            <a:r>
              <a:t>- Fusion technology can be used for nuclear weapons research, raising proliferation risks.</a:t>
            </a:r>
          </a:p>
          <a:p>
            <a:pPr>
              <a:defRPr sz="730">
                <a:solidFill>
                  <a:srgbClr val="333333"/>
                </a:solidFill>
              </a:defRPr>
            </a:pPr>
            <a:r>
              <a:t>- Export controls under NSG need updating for commercial fusion.</a:t>
            </a:r>
          </a:p>
        </p:txBody>
      </p:sp>
      <p:pic>
        <p:nvPicPr>
          <p:cNvPr id="7" name="Picture 6" descr="image-9.png"/>
          <p:cNvPicPr>
            <a:picLocks noChangeAspect="1"/>
          </p:cNvPicPr>
          <p:nvPr/>
        </p:nvPicPr>
        <p:blipFill>
          <a:blip r:embed="rId2"/>
          <a:stretch>
            <a:fillRect/>
          </a:stretch>
        </p:blipFill>
        <p:spPr>
          <a:xfrm>
            <a:off x="5897880" y="1371600"/>
            <a:ext cx="5650992" cy="4187952"/>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Exhibit 1: evidence clarifies the strategic trade-off</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Exhibit 1: evidence clarifies the strategic trade-off</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chart-1.png"/>
          <p:cNvPicPr>
            <a:picLocks noChangeAspect="1"/>
          </p:cNvPicPr>
          <p:nvPr/>
        </p:nvPicPr>
        <p:blipFill>
          <a:blip r:embed="rId2"/>
          <a:stretch>
            <a:fillRect/>
          </a:stretch>
        </p:blipFill>
        <p:spPr>
          <a:xfrm>
            <a:off x="868680" y="1188720"/>
            <a:ext cx="10378440" cy="4846320"/>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Exhibit 2: evidence clarifies the strategic trade-off</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Exhibit 2: evidence clarifies the strategic trade-off</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chart-2.png"/>
          <p:cNvPicPr>
            <a:picLocks noChangeAspect="1"/>
          </p:cNvPicPr>
          <p:nvPr/>
        </p:nvPicPr>
        <p:blipFill>
          <a:blip r:embed="rId2"/>
          <a:stretch>
            <a:fillRect/>
          </a:stretch>
        </p:blipFill>
        <p:spPr>
          <a:xfrm>
            <a:off x="868680" y="1188720"/>
            <a:ext cx="10378440" cy="4846320"/>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Exhibit 3: evidence clarifies the strategic trade-off</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Exhibit 3: evidence clarifies the strategic trade-off</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chart-3.png"/>
          <p:cNvPicPr>
            <a:picLocks noChangeAspect="1"/>
          </p:cNvPicPr>
          <p:nvPr/>
        </p:nvPicPr>
        <p:blipFill>
          <a:blip r:embed="rId2"/>
          <a:stretch>
            <a:fillRect/>
          </a:stretch>
        </p:blipFill>
        <p:spPr>
          <a:xfrm>
            <a:off x="868680" y="1188720"/>
            <a:ext cx="10378440" cy="4846320"/>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Exhibit 4: evidence clarifies the strategic trade-off</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Exhibit 4: evidence clarifies the strategic trade-off</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chart-4.png"/>
          <p:cNvPicPr>
            <a:picLocks noChangeAspect="1"/>
          </p:cNvPicPr>
          <p:nvPr/>
        </p:nvPicPr>
        <p:blipFill>
          <a:blip r:embed="rId2"/>
          <a:stretch>
            <a:fillRect/>
          </a:stretch>
        </p:blipFill>
        <p:spPr>
          <a:xfrm>
            <a:off x="868680" y="1188720"/>
            <a:ext cx="10378440" cy="4846320"/>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Exhibit 5: evidence clarifies the strategic trade-off</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Exhibit 5: evidence clarifies the strategic trade-off</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chart-5.png"/>
          <p:cNvPicPr>
            <a:picLocks noChangeAspect="1"/>
          </p:cNvPicPr>
          <p:nvPr/>
        </p:nvPicPr>
        <p:blipFill>
          <a:blip r:embed="rId2"/>
          <a:stretch>
            <a:fillRect/>
          </a:stretch>
        </p:blipFill>
        <p:spPr>
          <a:xfrm>
            <a:off x="868680" y="1188720"/>
            <a:ext cx="10378440" cy="4846320"/>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Exhibit 6: evidence clarifies the strategic trade-off</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Exhibit 6: evidence clarifies the strategic trade-off</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chart-6.png"/>
          <p:cNvPicPr>
            <a:picLocks noChangeAspect="1"/>
          </p:cNvPicPr>
          <p:nvPr/>
        </p:nvPicPr>
        <p:blipFill>
          <a:blip r:embed="rId2"/>
          <a:stretch>
            <a:fillRect/>
          </a:stretch>
        </p:blipFill>
        <p:spPr>
          <a:xfrm>
            <a:off x="868680" y="1188720"/>
            <a:ext cx="10378440" cy="4846320"/>
          </a:xfrm>
          <a:prstGeom prst="rect">
            <a:avLst/>
          </a:prstGeom>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Closing</a:t>
            </a:r>
          </a:p>
        </p:txBody>
      </p:sp>
      <p:pic>
        <p:nvPicPr>
          <p:cNvPr id="4" name="Picture 3" descr="cover-ai.png"/>
          <p:cNvPicPr>
            <a:picLocks noChangeAspect="1"/>
          </p:cNvPicPr>
          <p:nvPr/>
        </p:nvPicPr>
        <p:blipFill>
          <a:blip r:embed="rId2"/>
          <a:stretch>
            <a:fillRect/>
          </a:stretch>
        </p:blipFill>
        <p:spPr>
          <a:xfrm>
            <a:off x="6583680" y="1051560"/>
            <a:ext cx="5074920" cy="4800600"/>
          </a:xfrm>
          <a:prstGeom prst="rect">
            <a:avLst/>
          </a:prstGeom>
        </p:spPr>
      </p:pic>
      <p:sp>
        <p:nvSpPr>
          <p:cNvPr id="5" name="TextBox 4"/>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The next step is to convert the research into a short list of decisions</a:t>
            </a:r>
          </a:p>
        </p:txBody>
      </p:sp>
      <p:sp>
        <p:nvSpPr>
          <p:cNvPr id="6" name="Rectangle 5"/>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1463040"/>
            <a:ext cx="5715000" cy="2926080"/>
          </a:xfrm>
          <a:prstGeom prst="rect">
            <a:avLst/>
          </a:prstGeom>
          <a:noFill/>
        </p:spPr>
        <p:txBody>
          <a:bodyPr wrap="square">
            <a:spAutoFit/>
          </a:bodyPr>
          <a:lstStyle/>
          <a:p>
            <a:pPr>
              <a:defRPr sz="1500">
                <a:solidFill>
                  <a:srgbClr val="003087"/>
                </a:solidFill>
              </a:defRPr>
            </a:pPr>
            <a:r>
              <a:t>A Client-Ready Research Report on Technology Pathways, Market Economics, and Investment Strategy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