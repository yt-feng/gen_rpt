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Assessment for Energy and Technology Executives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Timelines Are Accelerating but Remain Uncertain</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Fusion Economics: High Initial Costs but Potential for Long-Term Competitiveness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Global Fusion Investment Surge: Opportunities and Risks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Geopolitical Implications: Energy Security, Proliferation, and Strategic Competition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Regulatory and Public Acceptance: Building the Framework for Fusion Deployment</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Technical Hurdles: The Path to Commercial Fusion</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timelines have shortened but remain uncertain; first power plants likely between 2035 and 2050. The next five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Fusion's levelized cost of energy (LCOE) is projected at $50-100/MWh by 2050, competitive with fission and natural gas with carbon capt</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Global fusion investment has surged, with private funding exceeding $6 billion cumulatively by 2025, driven by breakthroughs like LLNL'</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Geopolitical implications are significant: fusion could reduce energy import dependence but also create new proliferation risks. Nation</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Key technical hurdles remain: plasma confinement, materials degradation, and tritium self-sufficiency are unresolved at commercial scal</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open questions before committing capital, partnerships or market-e</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Technical evidence only matters when it changes revenue potential, cost position, investment return, execution risk or the timing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Timelines Are Accelerating but Remain Uncertain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Timelines Are Accelerating but Remain Uncertain</a:t>
            </a:r>
          </a:p>
          <a:p>
            <a:pPr>
              <a:defRPr sz="830">
                <a:solidFill>
                  <a:srgbClr val="64696E"/>
                </a:solidFill>
              </a:defRPr>
            </a:pPr>
            <a:r>
              <a:t>Fusion is no longer a distant dream but a credible technology with a defined—if uncertain—path to commercialization; the next five years will be critical.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clean energy, but its commercialization has consistently been projected decades away. However, recent developments—including the 2022 ignition milestone at Lawrence Livermore National Laboratory (LLNL</a:t>
            </a:r>
          </a:p>
          <a:p>
            <a:pPr>
              <a:spcAft>
                <a:spcPts val="600"/>
              </a:spcAft>
              <a:defRPr sz="819">
                <a:solidFill>
                  <a:srgbClr val="333333"/>
                </a:solidFill>
              </a:defRPr>
            </a:pPr>
            <a:r>
              <a:t>The ITER project, the world's largest fusion experiment, remains the flagship of international collaboration. Originally scheduled for first plasma in 2020, ITER's timeline has slipped repeatedly, with the latest estimate targeting 2035 for first plasma and 20</a:t>
            </a:r>
          </a:p>
          <a:p>
            <a:pPr>
              <a:spcAft>
                <a:spcPts val="600"/>
              </a:spcAft>
              <a:defRPr sz="819">
                <a:solidFill>
                  <a:srgbClr val="333333"/>
                </a:solidFill>
              </a:defRPr>
            </a:pPr>
            <a:r>
              <a:t>Private fusion companies are pursuing more aggressive timelines. Commonwealth Fusion Systems (CFS), a spinout from MIT, is building SPARC, a compact tokamak using high-temperature superconducting (HTS) magnets. CFS aims to demonstrate net energy gain (Q&gt;10) by</a:t>
            </a:r>
          </a:p>
          <a:p>
            <a:pPr>
              <a:spcBef>
                <a:spcPts val="600"/>
              </a:spcBef>
              <a:defRPr sz="819" b="1">
                <a:solidFill>
                  <a:srgbClr val="003087"/>
                </a:solidFill>
              </a:defRPr>
            </a:pPr>
            <a:r>
              <a:t>Key implications</a:t>
            </a:r>
          </a:p>
          <a:p>
            <a:pPr>
              <a:defRPr sz="730">
                <a:solidFill>
                  <a:srgbClr val="333333"/>
                </a:solidFill>
              </a:defRPr>
            </a:pPr>
            <a:r>
              <a:t>- Fusion commercialization timelines range from 2035 (optimistic) to 2050 (conservative); the next</a:t>
            </a:r>
          </a:p>
          <a:p>
            <a:pPr>
              <a:defRPr sz="730">
                <a:solidFill>
                  <a:srgbClr val="333333"/>
                </a:solidFill>
              </a:defRPr>
            </a:pPr>
            <a:r>
              <a:t>- Key technical hurdles (tritium breeding, materials) remain unresolved; no fusion device has gene</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Economics: High Initial Costs but Potential for Long-Term Competitiveness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Economics: High Initial Costs but Potential for Long-Term Competitiveness</a:t>
            </a:r>
          </a:p>
          <a:p>
            <a:pPr>
              <a:defRPr sz="830">
                <a:solidFill>
                  <a:srgbClr val="64696E"/>
                </a:solidFill>
              </a:defRPr>
            </a:pPr>
            <a:r>
              <a:t>Fusion's economic viability hinges on achieving cost targets; its value proposition is baseload reliability, not low cost.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viability of fusion energy will ultimately determine its market impact. While fusion offers the promise of abundant, low-carbon baseload power, its levelized cost of energy (LCOE) must compete with existing and emerging technologies. Current estim</a:t>
            </a:r>
          </a:p>
          <a:p>
            <a:pPr>
              <a:spcAft>
                <a:spcPts val="600"/>
              </a:spcAft>
              <a:defRPr sz="819">
                <a:solidFill>
                  <a:srgbClr val="333333"/>
                </a:solidFill>
              </a:defRPr>
            </a:pPr>
            <a:r>
              <a:t>The capital costs of fusion plants are a major uncertainty. ITER's construction cost is estimated at over $20 billion, but this is a research facility, not a commercial plant. Private fusion companies aim for much lower costs: CFS targets a capital cost of $1-</a:t>
            </a:r>
          </a:p>
          <a:p>
            <a:pPr>
              <a:spcAft>
                <a:spcPts val="600"/>
              </a:spcAft>
              <a:defRPr sz="819">
                <a:solidFill>
                  <a:srgbClr val="333333"/>
                </a:solidFill>
              </a:defRPr>
            </a:pPr>
            <a:r>
              <a:t>Financing fusion projects will require innovative models. Given the high upfront capital and long construction times, fusion plants will likely need government loan guarantees, power purchase agreements (PPAs) with creditworthy off-takers, and possibly carbon</a:t>
            </a:r>
          </a:p>
          <a:p>
            <a:pPr>
              <a:spcBef>
                <a:spcPts val="600"/>
              </a:spcBef>
              <a:defRPr sz="819" b="1">
                <a:solidFill>
                  <a:srgbClr val="003087"/>
                </a:solidFill>
              </a:defRPr>
            </a:pPr>
            <a:r>
              <a:t>Key implications</a:t>
            </a:r>
          </a:p>
          <a:p>
            <a:pPr>
              <a:defRPr sz="730">
                <a:solidFill>
                  <a:srgbClr val="333333"/>
                </a:solidFill>
              </a:defRPr>
            </a:pPr>
            <a:r>
              <a:t>- Fusion LCOE is projected at $50-100/MWh initially, declining to $30-60/MWh with learning.</a:t>
            </a:r>
          </a:p>
          <a:p>
            <a:pPr>
              <a:defRPr sz="730">
                <a:solidFill>
                  <a:srgbClr val="333333"/>
                </a:solidFill>
              </a:defRPr>
            </a:pPr>
            <a:r>
              <a:t>- Capital costs are highly uncertain; private estimates are optimistic and unverified.</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Global Fusion Investment Surge: Opportunities and Risks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Global Fusion Investment Surge: Opportunities and Risks</a:t>
            </a:r>
          </a:p>
          <a:p>
            <a:pPr>
              <a:defRPr sz="830">
                <a:solidFill>
                  <a:srgbClr val="64696E"/>
                </a:solidFill>
              </a:defRPr>
            </a:pPr>
            <a:r>
              <a:t>Private fusion investment has exceeded $6 billion, but concentration and technology risk require careful due diligence.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Global fusion investment has experienced a dramatic surge, with cumulative private funding exceeding $6 billion as of 2025. This growth has been fueled by several factors: the 2022 ignition milestone at LLNL, which demonstrated net energy gain in a laboratory</a:t>
            </a:r>
          </a:p>
          <a:p>
            <a:pPr>
              <a:spcAft>
                <a:spcPts val="600"/>
              </a:spcAft>
              <a:defRPr sz="819">
                <a:solidFill>
                  <a:srgbClr val="333333"/>
                </a:solidFill>
              </a:defRPr>
            </a:pPr>
            <a:r>
              <a:t>The Fusion Industry Association's 2024 report indicates that private fusion investment grew from approximately $300 million in 2020 to over $6 billion cumulatively by 2025. This represents a 20-fold increase in five years, signaling growing investor confidence</a:t>
            </a:r>
          </a:p>
          <a:p>
            <a:pPr>
              <a:spcAft>
                <a:spcPts val="600"/>
              </a:spcAft>
              <a:defRPr sz="819">
                <a:solidFill>
                  <a:srgbClr val="333333"/>
                </a:solidFill>
              </a:defRPr>
            </a:pPr>
            <a:r>
              <a:t>The influx of capital has enabled fusion companies to accelerate their development timelines, build larger teams, and construct more advanced facilities. For example, CFS has raised over $2 billion and is building SPARC, a compact tokamak that aims to demonstr</a:t>
            </a:r>
          </a:p>
          <a:p>
            <a:pPr>
              <a:spcBef>
                <a:spcPts val="600"/>
              </a:spcBef>
              <a:defRPr sz="819" b="1">
                <a:solidFill>
                  <a:srgbClr val="003087"/>
                </a:solidFill>
              </a:defRPr>
            </a:pPr>
            <a:r>
              <a:t>Key implications</a:t>
            </a:r>
          </a:p>
          <a:p>
            <a:pPr>
              <a:defRPr sz="730">
                <a:solidFill>
                  <a:srgbClr val="333333"/>
                </a:solidFill>
              </a:defRPr>
            </a:pPr>
            <a:r>
              <a:t>- Private fusion investment has surged to over $6 billion cumulatively, but is concentrated in a f</a:t>
            </a:r>
          </a:p>
          <a:p>
            <a:pPr>
              <a:defRPr sz="730">
                <a:solidFill>
                  <a:srgbClr val="333333"/>
                </a:solidFill>
              </a:defRPr>
            </a:pPr>
            <a:r>
              <a:t>- Due diligence on technology readiness and team expertise is critical before investing.</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Implications: Energy Security, Proliferation, and Strategic Competition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Implications: Energy Security, Proliferation, and Strategic Competition</a:t>
            </a:r>
          </a:p>
          <a:p>
            <a:pPr>
              <a:defRPr sz="830">
                <a:solidFill>
                  <a:srgbClr val="64696E"/>
                </a:solidFill>
              </a:defRPr>
            </a:pPr>
            <a:r>
              <a:t>Fusion could reshape global energy geopolitics, but also introduces new proliferation risks and strategic competition.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development of fusion energy has significant geopolitical implications that extend beyond energy markets. Fusion offers the promise of virtually unlimited, low-carbon energy from widely available fuels (deuterium from water, tritium bred from lithium). Thi</a:t>
            </a:r>
          </a:p>
          <a:p>
            <a:pPr>
              <a:spcAft>
                <a:spcPts val="600"/>
              </a:spcAft>
              <a:defRPr sz="819">
                <a:solidFill>
                  <a:srgbClr val="333333"/>
                </a:solidFill>
              </a:defRPr>
            </a:pPr>
            <a:r>
              <a:t>China has emerged as a major player in fusion research, with aggressive investments in both ITER and domestic projects. China's fusion program includes the EAST tokamak, which has achieved long-pulse plasma operation, and plans for a fusion-fission hybrid reac</a:t>
            </a:r>
          </a:p>
          <a:p>
            <a:pPr>
              <a:spcAft>
                <a:spcPts val="600"/>
              </a:spcAft>
              <a:defRPr sz="819">
                <a:solidFill>
                  <a:srgbClr val="333333"/>
                </a:solidFill>
              </a:defRPr>
            </a:pPr>
            <a:r>
              <a:t>Fusion also raises non-proliferation concerns. While fusion reactors do not produce fissile materials directly, they generate high-energy neutrons that could be used to produce weapons-grade plutonium from uranium blankets. Additionally, tritium, a key fusion</a:t>
            </a:r>
          </a:p>
          <a:p>
            <a:pPr>
              <a:spcBef>
                <a:spcPts val="600"/>
              </a:spcBef>
              <a:defRPr sz="819" b="1">
                <a:solidFill>
                  <a:srgbClr val="003087"/>
                </a:solidFill>
              </a:defRPr>
            </a:pPr>
            <a:r>
              <a:t>Key implications</a:t>
            </a:r>
          </a:p>
          <a:p>
            <a:pPr>
              <a:defRPr sz="730">
                <a:solidFill>
                  <a:srgbClr val="333333"/>
                </a:solidFill>
              </a:defRPr>
            </a:pPr>
            <a:r>
              <a:t>- Fusion could reduce energy import dependence but also create new proliferation risks.</a:t>
            </a:r>
          </a:p>
          <a:p>
            <a:pPr>
              <a:defRPr sz="730">
                <a:solidFill>
                  <a:srgbClr val="333333"/>
                </a:solidFill>
              </a:defRPr>
            </a:pPr>
            <a:r>
              <a:t>- China's aggressive fusion program poses a strategic challenge to Western leadership.</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Public Acceptance: Building the Framework for Fusion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Public Acceptance: Building the Framework for Fusion Deployment</a:t>
            </a:r>
          </a:p>
          <a:p>
            <a:pPr>
              <a:defRPr sz="830">
                <a:solidFill>
                  <a:srgbClr val="64696E"/>
                </a:solidFill>
              </a:defRPr>
            </a:pPr>
            <a:r>
              <a:t>Regulatory frameworks for fusion are nascent; early engagement with regulators and communities is essential.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regulatory landscape for fusion energy is still in its infancy. Unlike nuclear fission, which has a well-established regulatory framework, fusion plants do not yet have defined licensing and safety standards in most jurisdictions. This creates significant</a:t>
            </a:r>
          </a:p>
          <a:p>
            <a:pPr>
              <a:spcAft>
                <a:spcPts val="600"/>
              </a:spcAft>
              <a:defRPr sz="819">
                <a:solidFill>
                  <a:srgbClr val="333333"/>
                </a:solidFill>
              </a:defRPr>
            </a:pPr>
            <a:r>
              <a:t>The absence of a clear regulatory pathway poses risks for fusion developers. Without established licensing procedures, it is unclear how long it will take to obtain approval for a fusion plant, what safety requirements will be imposed, and how public hearings</a:t>
            </a:r>
          </a:p>
          <a:p>
            <a:pPr>
              <a:spcAft>
                <a:spcPts val="600"/>
              </a:spcAft>
              <a:defRPr sz="819">
                <a:solidFill>
                  <a:srgbClr val="333333"/>
                </a:solidFill>
              </a:defRPr>
            </a:pPr>
            <a:r>
              <a:t>Public acceptance is another critical factor. Surveys, such as the Pew Research Center's 2023 study, show that public awareness of fusion is low, but attitudes are generally positive when people are informed about its potential benefits. However, concerns abou</a:t>
            </a:r>
          </a:p>
          <a:p>
            <a:pPr>
              <a:spcBef>
                <a:spcPts val="600"/>
              </a:spcBef>
              <a:defRPr sz="819" b="1">
                <a:solidFill>
                  <a:srgbClr val="003087"/>
                </a:solidFill>
              </a:defRPr>
            </a:pPr>
            <a:r>
              <a:t>Key implications</a:t>
            </a:r>
          </a:p>
          <a:p>
            <a:pPr>
              <a:defRPr sz="730">
                <a:solidFill>
                  <a:srgbClr val="333333"/>
                </a:solidFill>
              </a:defRPr>
            </a:pPr>
            <a:r>
              <a:t>- Regulatory frameworks for fusion are undefined in most jurisdictions; licensing pathways are unc</a:t>
            </a:r>
          </a:p>
          <a:p>
            <a:pPr>
              <a:defRPr sz="730">
                <a:solidFill>
                  <a:srgbClr val="333333"/>
                </a:solidFill>
              </a:defRPr>
            </a:pPr>
            <a:r>
              <a:t>- Public awareness is low but attitudes are positive; early engagement is key.</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Technical Hurdles: The Path to Commercial Fusion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Technical Hurdles: The Path to Commercial Fusion</a:t>
            </a:r>
          </a:p>
          <a:p>
            <a:pPr>
              <a:defRPr sz="830">
                <a:solidFill>
                  <a:srgbClr val="64696E"/>
                </a:solidFill>
              </a:defRPr>
            </a:pPr>
            <a:r>
              <a:t>Key technical challenges remain unresolved; staged investment and dual-use technologies are prudent strategies.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Despite significant progress, several critical technical hurdles must be overcome before fusion can become a commercial reality. These include achieving sustained plasma confinement, developing materials that can withstand the extreme conditions inside a fusio</a:t>
            </a:r>
          </a:p>
          <a:p>
            <a:pPr>
              <a:spcAft>
                <a:spcPts val="600"/>
              </a:spcAft>
              <a:defRPr sz="819">
                <a:solidFill>
                  <a:srgbClr val="333333"/>
                </a:solidFill>
              </a:defRPr>
            </a:pPr>
            <a:r>
              <a:t>Plasma confinement is the most fundamental challenge. Fusion requires confining a plasma at temperatures exceeding 100 million degrees Celsius long enough for fusion reactions to occur. The two main approaches—magnetic confinement (tokamaks, stellarators) and</a:t>
            </a:r>
          </a:p>
          <a:p>
            <a:pPr>
              <a:spcAft>
                <a:spcPts val="600"/>
              </a:spcAft>
              <a:defRPr sz="819">
                <a:solidFill>
                  <a:srgbClr val="333333"/>
                </a:solidFill>
              </a:defRPr>
            </a:pPr>
            <a:r>
              <a:t>Materials degradation is another major hurdle. The high-energy neutrons produced by fusion reactions will bombard the reactor walls, causing structural damage and radioactivity. Current materials, such as stainless steel and tungsten, may not last long enough</a:t>
            </a:r>
          </a:p>
          <a:p>
            <a:pPr>
              <a:spcBef>
                <a:spcPts val="600"/>
              </a:spcBef>
              <a:defRPr sz="819" b="1">
                <a:solidFill>
                  <a:srgbClr val="003087"/>
                </a:solidFill>
              </a:defRPr>
            </a:pPr>
            <a:r>
              <a:t>Key implications</a:t>
            </a:r>
          </a:p>
          <a:p>
            <a:pPr>
              <a:defRPr sz="730">
                <a:solidFill>
                  <a:srgbClr val="333333"/>
                </a:solidFill>
              </a:defRPr>
            </a:pPr>
            <a:r>
              <a:t>- Plasma confinement, materials degradation, and tritium breeding are unresolved at commercial sca</a:t>
            </a:r>
          </a:p>
          <a:p>
            <a:pPr>
              <a:defRPr sz="730">
                <a:solidFill>
                  <a:srgbClr val="333333"/>
                </a:solidFill>
              </a:defRPr>
            </a:pPr>
            <a:r>
              <a:t>- No fusion device has demonstrated net electricity generation.</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proof.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Commercialization Outlook and Strategic Implications is easier to misread when it is framed as a yes-or-no bet. The better reading separates near-term learning moves, option-building partnerships and commitments that would require stronger comme</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A practical reading is that the current source base is useful but incomplete. Retained source signal: gov/science/fusion-energy-sciences/fusion-milestone-based-development-program Search context: nuclear fusion commercialization timeline 2025 The page body cou</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Reserve major commitments for stronger proof</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A practical reading is that every major assumption needs a verifiable claim behind it: target customer, buying trigger, budget owner, substitute, use case and payback path. Where sourced evidence is missing, the claim should remain directional.</a:t>
            </a:r>
          </a:p>
          <a:p>
            <a:pPr>
              <a:spcAft>
                <a:spcPts val="600"/>
              </a:spcAft>
              <a:defRPr sz="819">
                <a:solidFill>
                  <a:srgbClr val="333333"/>
                </a:solidFill>
              </a:defRPr>
            </a:pPr>
            <a:r>
              <a:t>The decision lens is that 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Energy and Technology Executives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