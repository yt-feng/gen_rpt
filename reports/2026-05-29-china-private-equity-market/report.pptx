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China Private Equity Market: Navigating a Bifurcated Landscape Amid Regulatory and Economic Shifts</a:t>
            </a:r>
          </a:p>
          <a:p>
            <a:pPr>
              <a:spcBef>
                <a:spcPts val="1400"/>
              </a:spcBef>
              <a:defRPr sz="950">
                <a:solidFill>
                  <a:srgbClr val="64696E"/>
                </a:solidFill>
              </a:defRPr>
            </a:pPr>
            <a:r>
              <a:t>A Strategic Assessment for Senior Investment Professionals on Opportunities, Risks, and Allocation Decisions in China's PE Market (2024-2025)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China Private Equity Market Remains Large but Faces Headwinds from Regulation and Economy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Fundraising Has Slowed but AUM Continues to Grow as Existing Funds Deploy Capital</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Deal Activity Is Shifting Toward Technology, Healthcare, and Green Energy Sectors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Exit Channels Are Constrained by Weak IPO Markets and Geopolitical Uncertainty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China's private equity market remains one of the largest globally, with AUM exceeding $1.5 trillion as of 2024, but the market is under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 Private Equity Market Remains Large but Faces Headwinds from Regulation and Economy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 Private Equity Market Remains Large but Faces Headwinds from Regulation and Economy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Chinese private equity market has experienced a remarkable growth trajectory over the past decade, with AUM expanding from approximately $500 billion in 2015 to over $1.5 trillion in 2024. This growth has been supported by a vibrant startup ecosystem, part</a:t>
            </a:r>
          </a:p>
          <a:p>
            <a:pPr>
              <a:spcAft>
                <a:spcPts val="600"/>
              </a:spcAft>
              <a:defRPr sz="819">
                <a:solidFill>
                  <a:srgbClr val="333333"/>
                </a:solidFill>
              </a:defRPr>
            </a:pPr>
            <a:r>
              <a:t>The economic backdrop adds further complexity. China's GDP growth has slowed to around 4.5% in 2024, down from 5.2% in 2023, and deflationary pressures are evident in producer prices. The property sector, a major driver of past growth, remains in a prolonged d</a:t>
            </a:r>
          </a:p>
          <a:p>
            <a:pPr>
              <a:spcAft>
                <a:spcPts val="600"/>
              </a:spcAft>
              <a:defRPr sz="819">
                <a:solidFill>
                  <a:srgbClr val="333333"/>
                </a:solidFill>
              </a:defRPr>
            </a:pPr>
            <a:r>
              <a:t>Regulatory changes have been a defining feature of the market since 2020. The introduction of the Data Security Law (DSL), the Personal Information Protection Law (PIPL), and the Anti-Monopoly Guidelines have reshaped the operating environment for PE investors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Fundraising Has Slowed but AUM Continues to Grow as Existing Funds Deploy Capital</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Fundraising Has Slowed but AUM Continues to Grow as Existing Funds Deploy Capital</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fundraising slowdown is a global phenomenon, but it is particularly acute in China due to specific local factors. LPs are increasingly concerned about regulatory unpredictability, geopolitical risks, and the economic slowdown. A survey by Coller Capital in</a:t>
            </a:r>
          </a:p>
          <a:p>
            <a:pPr>
              <a:spcAft>
                <a:spcPts val="600"/>
              </a:spcAft>
              <a:defRPr sz="819">
                <a:solidFill>
                  <a:srgbClr val="333333"/>
                </a:solidFill>
              </a:defRPr>
            </a:pPr>
            <a:r>
              <a:t>The composition of fundraising is also shifting. Domestic currency funds (RMB funds) now account for over 70% of total fundraising, up from 60% in 2020. This shift reflects the growing importance of domestic LPs, including insurance companies, pension funds, a</a:t>
            </a:r>
          </a:p>
          <a:p>
            <a:pPr>
              <a:spcAft>
                <a:spcPts val="600"/>
              </a:spcAft>
              <a:defRPr sz="819">
                <a:solidFill>
                  <a:srgbClr val="333333"/>
                </a:solidFill>
              </a:defRPr>
            </a:pPr>
            <a:r>
              <a:t>The deployment of capital has also slowed, with many funds extending their investment periods. The average time to deploy a fund has increased from 3-4 years to 4-5 years, as GPs exercise greater caution in a challenging deal environment. This has led to a bui</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Deal Activity Is Shifting Toward Technology, Healthcare, and Green Energy Sectors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Deal Activity Is Shifting Toward Technology, Healthcare, and Green Energy Sectors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technology sector remains the largest and most dynamic area for PE investment in China. Within technology, semiconductors and AI are the top sub-sectors, driven by government initiatives to achieve self-sufficiency and reduce dependence on foreign technolo</a:t>
            </a:r>
          </a:p>
          <a:p>
            <a:pPr>
              <a:spcAft>
                <a:spcPts val="600"/>
              </a:spcAft>
              <a:defRPr sz="819">
                <a:solidFill>
                  <a:srgbClr val="333333"/>
                </a:solidFill>
              </a:defRPr>
            </a:pPr>
            <a:r>
              <a:t>Healthcare has emerged as a resilient and high-growth sector for PE investment. China's aging population, rising healthcare spending, and government support for innovation are driving demand for new drugs, medical devices, and healthcare services. Biotech is a</a:t>
            </a:r>
          </a:p>
          <a:p>
            <a:pPr>
              <a:spcAft>
                <a:spcPts val="600"/>
              </a:spcAft>
              <a:defRPr sz="819">
                <a:solidFill>
                  <a:srgbClr val="333333"/>
                </a:solidFill>
              </a:defRPr>
            </a:pPr>
            <a:r>
              <a:t>Green energy is a rapidly growing area for PE investment, driven by China's commitment to peak carbon emissions by 2030 and achieve carbon neutrality by 2060. The sector includes renewable energy (solar, wind, hydro), electric vehicles (EVs) and their supply c</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Exit Channels Are Constrained by Weak IPO Markets and Geopolitical Uncertainty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Exit Channels Are Constrained by Weak IPO Markets and Geopolitical Uncertainty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onshore IPO market, particularly the Shanghai STAR Market and the Shenzhen ChiNext Board, has been a key exit route for PE-backed companies. However, the number of IPOs on these boards has declined in 2024, as regulators have tightened listing criteria and</a:t>
            </a:r>
          </a:p>
          <a:p>
            <a:pPr>
              <a:spcAft>
                <a:spcPts val="600"/>
              </a:spcAft>
              <a:defRPr sz="819">
                <a:solidFill>
                  <a:srgbClr val="333333"/>
                </a:solidFill>
              </a:defRPr>
            </a:pPr>
            <a:r>
              <a:t>Offshore IPOs, particularly in Hong Kong and the US, have been even more constrained. Hong Kong's IPO market has been weak due to a combination of factors, including a sluggish economy, geopolitical uncertainty, and competition from other listing venues. The n</a:t>
            </a:r>
          </a:p>
          <a:p>
            <a:pPr>
              <a:spcAft>
                <a:spcPts val="600"/>
              </a:spcAft>
              <a:defRPr sz="819">
                <a:solidFill>
                  <a:srgbClr val="333333"/>
                </a:solidFill>
              </a:defRPr>
            </a:pPr>
            <a:r>
              <a:t>Trade sales have become an increasingly important exit channel, accounting for 35% of exit value in 2024. Strategic buyers, including domestic and international corporations, are acquiring PE-backed companies to gain access to technology, market share, or supp</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Strategic Assessment for Senior Investment Professionals on Opportunities, Risks, and Allocation Decisions in China's PE Market (2024-2025)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