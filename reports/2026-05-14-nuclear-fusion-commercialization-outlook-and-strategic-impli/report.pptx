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over-ai.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12191695" cy="6858000"/>
          </a:xfrm>
          <a:prstGeom prst="rect">
            <a:avLst/>
          </a:prstGeom>
          <a:solidFill>
            <a:srgbClr val="051C2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58368" y="685800"/>
            <a:ext cx="4892040" cy="3429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685800"/>
            <a:ext cx="4892040" cy="73152"/>
          </a:xfrm>
          <a:prstGeom prst="rect">
            <a:avLst/>
          </a:prstGeom>
          <a:solidFill>
            <a:srgbClr val="3273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960120"/>
            <a:ext cx="4251960" cy="2743200"/>
          </a:xfrm>
          <a:prstGeom prst="rect">
            <a:avLst/>
          </a:prstGeom>
          <a:noFill/>
        </p:spPr>
        <p:txBody>
          <a:bodyPr wrap="square">
            <a:spAutoFit/>
          </a:bodyPr>
          <a:lstStyle/>
          <a:p>
            <a:pPr>
              <a:defRPr sz="900" b="1">
                <a:solidFill>
                  <a:srgbClr val="003087"/>
                </a:solidFill>
              </a:defRPr>
            </a:pPr>
            <a:r>
              <a:t>BLUEOCEAN</a:t>
            </a:r>
          </a:p>
          <a:p>
            <a:pPr>
              <a:spcBef>
                <a:spcPts val="1800"/>
              </a:spcBef>
              <a:defRPr sz="2300">
                <a:solidFill>
                  <a:srgbClr val="333333"/>
                </a:solidFill>
              </a:defRPr>
            </a:pPr>
            <a:r>
              <a:t>Nuclear Fusion Commercialization Outlook and Strategic Implications</a:t>
            </a:r>
          </a:p>
          <a:p>
            <a:pPr>
              <a:spcBef>
                <a:spcPts val="1400"/>
              </a:spcBef>
              <a:defRPr sz="950">
                <a:solidFill>
                  <a:srgbClr val="64696E"/>
                </a:solidFill>
              </a:defRPr>
            </a:pPr>
            <a:r>
              <a:t>A Client-Ready BlueOcean Research Report for Senior Executives and Strategic Planners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Contents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discussion follows the management question, evidence, and implications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417320"/>
            <a:ext cx="502920" cy="274320"/>
          </a:xfrm>
          <a:prstGeom prst="rect">
            <a:avLst/>
          </a:prstGeom>
          <a:noFill/>
        </p:spPr>
        <p:txBody>
          <a:bodyPr wrap="none">
            <a:spAutoFit/>
          </a:bodyPr>
          <a:lstStyle/>
          <a:p>
            <a:pPr>
              <a:defRPr sz="950" b="1">
                <a:solidFill>
                  <a:srgbClr val="003087"/>
                </a:solidFill>
              </a:defRPr>
            </a:pPr>
            <a:r>
              <a:t>01</a:t>
            </a:r>
          </a:p>
        </p:txBody>
      </p:sp>
      <p:sp>
        <p:nvSpPr>
          <p:cNvPr id="7" name="TextBox 6"/>
          <p:cNvSpPr txBox="1"/>
          <p:nvPr/>
        </p:nvSpPr>
        <p:spPr>
          <a:xfrm>
            <a:off x="1143000" y="1417320"/>
            <a:ext cx="9601200" cy="384048"/>
          </a:xfrm>
          <a:prstGeom prst="rect">
            <a:avLst/>
          </a:prstGeom>
          <a:noFill/>
        </p:spPr>
        <p:txBody>
          <a:bodyPr wrap="none">
            <a:spAutoFit/>
          </a:bodyPr>
          <a:lstStyle/>
          <a:p>
            <a:pPr>
              <a:defRPr sz="1260">
                <a:solidFill>
                  <a:srgbClr val="333333"/>
                </a:solidFill>
              </a:defRPr>
            </a:pPr>
            <a:r>
              <a:t>Nuclear Fusion Is Approaching Technical Breakeven but Commercial Viability Remains a Decade or More Away</a:t>
            </a:r>
          </a:p>
        </p:txBody>
      </p:sp>
      <p:sp>
        <p:nvSpPr>
          <p:cNvPr id="8" name="TextBox 7"/>
          <p:cNvSpPr txBox="1"/>
          <p:nvPr/>
        </p:nvSpPr>
        <p:spPr>
          <a:xfrm>
            <a:off x="566928" y="1874520"/>
            <a:ext cx="502920" cy="274320"/>
          </a:xfrm>
          <a:prstGeom prst="rect">
            <a:avLst/>
          </a:prstGeom>
          <a:noFill/>
        </p:spPr>
        <p:txBody>
          <a:bodyPr wrap="none">
            <a:spAutoFit/>
          </a:bodyPr>
          <a:lstStyle/>
          <a:p>
            <a:pPr>
              <a:defRPr sz="950" b="1">
                <a:solidFill>
                  <a:srgbClr val="003087"/>
                </a:solidFill>
              </a:defRPr>
            </a:pPr>
            <a:r>
              <a:t>02</a:t>
            </a:r>
          </a:p>
        </p:txBody>
      </p:sp>
      <p:sp>
        <p:nvSpPr>
          <p:cNvPr id="9" name="TextBox 8"/>
          <p:cNvSpPr txBox="1"/>
          <p:nvPr/>
        </p:nvSpPr>
        <p:spPr>
          <a:xfrm>
            <a:off x="1143000" y="1874520"/>
            <a:ext cx="9601200" cy="384048"/>
          </a:xfrm>
          <a:prstGeom prst="rect">
            <a:avLst/>
          </a:prstGeom>
          <a:noFill/>
        </p:spPr>
        <p:txBody>
          <a:bodyPr wrap="none">
            <a:spAutoFit/>
          </a:bodyPr>
          <a:lstStyle/>
          <a:p>
            <a:pPr>
              <a:defRPr sz="1260">
                <a:solidFill>
                  <a:srgbClr val="333333"/>
                </a:solidFill>
              </a:defRPr>
            </a:pPr>
            <a:r>
              <a:t>Private Fusion Ventures Have Accelerated Timelines but Face Significant Engineering and Economic Hurdles</a:t>
            </a:r>
          </a:p>
        </p:txBody>
      </p:sp>
      <p:sp>
        <p:nvSpPr>
          <p:cNvPr id="10" name="TextBox 9"/>
          <p:cNvSpPr txBox="1"/>
          <p:nvPr/>
        </p:nvSpPr>
        <p:spPr>
          <a:xfrm>
            <a:off x="566928" y="2331720"/>
            <a:ext cx="502920" cy="274320"/>
          </a:xfrm>
          <a:prstGeom prst="rect">
            <a:avLst/>
          </a:prstGeom>
          <a:noFill/>
        </p:spPr>
        <p:txBody>
          <a:bodyPr wrap="none">
            <a:spAutoFit/>
          </a:bodyPr>
          <a:lstStyle/>
          <a:p>
            <a:pPr>
              <a:defRPr sz="950" b="1">
                <a:solidFill>
                  <a:srgbClr val="003087"/>
                </a:solidFill>
              </a:defRPr>
            </a:pPr>
            <a:r>
              <a:t>03</a:t>
            </a:r>
          </a:p>
        </p:txBody>
      </p:sp>
      <p:sp>
        <p:nvSpPr>
          <p:cNvPr id="11" name="TextBox 10"/>
          <p:cNvSpPr txBox="1"/>
          <p:nvPr/>
        </p:nvSpPr>
        <p:spPr>
          <a:xfrm>
            <a:off x="1143000" y="2331720"/>
            <a:ext cx="9601200" cy="384048"/>
          </a:xfrm>
          <a:prstGeom prst="rect">
            <a:avLst/>
          </a:prstGeom>
          <a:noFill/>
        </p:spPr>
        <p:txBody>
          <a:bodyPr wrap="none">
            <a:spAutoFit/>
          </a:bodyPr>
          <a:lstStyle/>
          <a:p>
            <a:pPr>
              <a:defRPr sz="1260">
                <a:solidFill>
                  <a:srgbClr val="333333"/>
                </a:solidFill>
              </a:defRPr>
            </a:pPr>
            <a:r>
              <a:t>Fusion's Strategic Value Lies in Baseload Clean Power and Energy Independence, Not Near-Term Market Disruption</a:t>
            </a:r>
          </a:p>
        </p:txBody>
      </p:sp>
      <p:sp>
        <p:nvSpPr>
          <p:cNvPr id="12" name="TextBox 11"/>
          <p:cNvSpPr txBox="1"/>
          <p:nvPr/>
        </p:nvSpPr>
        <p:spPr>
          <a:xfrm>
            <a:off x="566928" y="2788920"/>
            <a:ext cx="502920" cy="274320"/>
          </a:xfrm>
          <a:prstGeom prst="rect">
            <a:avLst/>
          </a:prstGeom>
          <a:noFill/>
        </p:spPr>
        <p:txBody>
          <a:bodyPr wrap="none">
            <a:spAutoFit/>
          </a:bodyPr>
          <a:lstStyle/>
          <a:p>
            <a:pPr>
              <a:defRPr sz="950" b="1">
                <a:solidFill>
                  <a:srgbClr val="003087"/>
                </a:solidFill>
              </a:defRPr>
            </a:pPr>
            <a:r>
              <a:t>04</a:t>
            </a:r>
          </a:p>
        </p:txBody>
      </p:sp>
      <p:sp>
        <p:nvSpPr>
          <p:cNvPr id="13" name="TextBox 12"/>
          <p:cNvSpPr txBox="1"/>
          <p:nvPr/>
        </p:nvSpPr>
        <p:spPr>
          <a:xfrm>
            <a:off x="1143000" y="2788920"/>
            <a:ext cx="9601200" cy="384048"/>
          </a:xfrm>
          <a:prstGeom prst="rect">
            <a:avLst/>
          </a:prstGeom>
          <a:noFill/>
        </p:spPr>
        <p:txBody>
          <a:bodyPr wrap="none">
            <a:spAutoFit/>
          </a:bodyPr>
          <a:lstStyle/>
          <a:p>
            <a:pPr>
              <a:defRPr sz="1260">
                <a:solidFill>
                  <a:srgbClr val="333333"/>
                </a:solidFill>
              </a:defRPr>
            </a:pPr>
            <a:r>
              <a:t>Geopolitical Implications Include Reduced Fossil Fuel Dependence and New Proliferation Challenges</a:t>
            </a:r>
          </a:p>
        </p:txBody>
      </p:sp>
      <p:sp>
        <p:nvSpPr>
          <p:cNvPr id="14" name="TextBox 13"/>
          <p:cNvSpPr txBox="1"/>
          <p:nvPr/>
        </p:nvSpPr>
        <p:spPr>
          <a:xfrm>
            <a:off x="566928" y="3246120"/>
            <a:ext cx="502920" cy="274320"/>
          </a:xfrm>
          <a:prstGeom prst="rect">
            <a:avLst/>
          </a:prstGeom>
          <a:noFill/>
        </p:spPr>
        <p:txBody>
          <a:bodyPr wrap="none">
            <a:spAutoFit/>
          </a:bodyPr>
          <a:lstStyle/>
          <a:p>
            <a:pPr>
              <a:defRPr sz="950" b="1">
                <a:solidFill>
                  <a:srgbClr val="003087"/>
                </a:solidFill>
              </a:defRPr>
            </a:pPr>
            <a:r>
              <a:t>05</a:t>
            </a:r>
          </a:p>
        </p:txBody>
      </p:sp>
      <p:sp>
        <p:nvSpPr>
          <p:cNvPr id="15" name="TextBox 14"/>
          <p:cNvSpPr txBox="1"/>
          <p:nvPr/>
        </p:nvSpPr>
        <p:spPr>
          <a:xfrm>
            <a:off x="1143000" y="3246120"/>
            <a:ext cx="9601200" cy="384048"/>
          </a:xfrm>
          <a:prstGeom prst="rect">
            <a:avLst/>
          </a:prstGeom>
          <a:noFill/>
        </p:spPr>
        <p:txBody>
          <a:bodyPr wrap="none">
            <a:spAutoFit/>
          </a:bodyPr>
          <a:lstStyle/>
          <a:p>
            <a:pPr>
              <a:defRPr sz="1260">
                <a:solidFill>
                  <a:srgbClr val="333333"/>
                </a:solidFill>
              </a:defRPr>
            </a:pPr>
            <a:r>
              <a:t>Investment Should Focus on Enabling Technologies and Diversified Portfolios Rather Than Single-Reactor Bets</a:t>
            </a:r>
          </a:p>
        </p:txBody>
      </p:sp>
      <p:sp>
        <p:nvSpPr>
          <p:cNvPr id="16" name="TextBox 15"/>
          <p:cNvSpPr txBox="1"/>
          <p:nvPr/>
        </p:nvSpPr>
        <p:spPr>
          <a:xfrm>
            <a:off x="566928" y="3703320"/>
            <a:ext cx="502920" cy="274320"/>
          </a:xfrm>
          <a:prstGeom prst="rect">
            <a:avLst/>
          </a:prstGeom>
          <a:noFill/>
        </p:spPr>
        <p:txBody>
          <a:bodyPr wrap="none">
            <a:spAutoFit/>
          </a:bodyPr>
          <a:lstStyle/>
          <a:p>
            <a:pPr>
              <a:defRPr sz="950" b="1">
                <a:solidFill>
                  <a:srgbClr val="003087"/>
                </a:solidFill>
              </a:defRPr>
            </a:pPr>
            <a:r>
              <a:t>06</a:t>
            </a:r>
          </a:p>
        </p:txBody>
      </p:sp>
      <p:sp>
        <p:nvSpPr>
          <p:cNvPr id="17" name="TextBox 16"/>
          <p:cNvSpPr txBox="1"/>
          <p:nvPr/>
        </p:nvSpPr>
        <p:spPr>
          <a:xfrm>
            <a:off x="1143000" y="3703320"/>
            <a:ext cx="9601200" cy="384048"/>
          </a:xfrm>
          <a:prstGeom prst="rect">
            <a:avLst/>
          </a:prstGeom>
          <a:noFill/>
        </p:spPr>
        <p:txBody>
          <a:bodyPr wrap="none">
            <a:spAutoFit/>
          </a:bodyPr>
          <a:lstStyle/>
          <a:p>
            <a:pPr>
              <a:defRPr sz="1260">
                <a:solidFill>
                  <a:srgbClr val="333333"/>
                </a:solidFill>
              </a:defRPr>
            </a:pPr>
            <a:r>
              <a:t>Regulatory Frameworks and Public Acceptance Will Be Critical Gating Factors for Fusion Deployment</a:t>
            </a:r>
          </a:p>
        </p:txBody>
      </p:sp>
      <p:sp>
        <p:nvSpPr>
          <p:cNvPr id="18" name="TextBox 17"/>
          <p:cNvSpPr txBox="1"/>
          <p:nvPr/>
        </p:nvSpPr>
        <p:spPr>
          <a:xfrm>
            <a:off x="566928" y="4160520"/>
            <a:ext cx="502920" cy="274320"/>
          </a:xfrm>
          <a:prstGeom prst="rect">
            <a:avLst/>
          </a:prstGeom>
          <a:noFill/>
        </p:spPr>
        <p:txBody>
          <a:bodyPr wrap="none">
            <a:spAutoFit/>
          </a:bodyPr>
          <a:lstStyle/>
          <a:p>
            <a:pPr>
              <a:defRPr sz="950" b="1">
                <a:solidFill>
                  <a:srgbClr val="003087"/>
                </a:solidFill>
              </a:defRPr>
            </a:pPr>
            <a:r>
              <a:t>07</a:t>
            </a:r>
          </a:p>
        </p:txBody>
      </p:sp>
      <p:sp>
        <p:nvSpPr>
          <p:cNvPr id="19" name="TextBox 18"/>
          <p:cNvSpPr txBox="1"/>
          <p:nvPr/>
        </p:nvSpPr>
        <p:spPr>
          <a:xfrm>
            <a:off x="1143000" y="4160520"/>
            <a:ext cx="9601200" cy="384048"/>
          </a:xfrm>
          <a:prstGeom prst="rect">
            <a:avLst/>
          </a:prstGeom>
          <a:noFill/>
        </p:spPr>
        <p:txBody>
          <a:bodyPr wrap="none">
            <a:spAutoFit/>
          </a:bodyPr>
          <a:lstStyle/>
          <a:p>
            <a:pPr>
              <a:defRPr sz="1260">
                <a:solidFill>
                  <a:srgbClr val="333333"/>
                </a:solidFill>
              </a:defRPr>
            </a:pPr>
            <a:r>
              <a:t>The First Fusion Plants Will Likely Be Built in Asia, Where Government Support and Regulatory Pathways Are Mos</a:t>
            </a:r>
          </a:p>
        </p:txBody>
      </p:sp>
      <p:sp>
        <p:nvSpPr>
          <p:cNvPr id="20" name="TextBox 19"/>
          <p:cNvSpPr txBox="1"/>
          <p:nvPr/>
        </p:nvSpPr>
        <p:spPr>
          <a:xfrm>
            <a:off x="566928" y="4617720"/>
            <a:ext cx="502920" cy="274320"/>
          </a:xfrm>
          <a:prstGeom prst="rect">
            <a:avLst/>
          </a:prstGeom>
          <a:noFill/>
        </p:spPr>
        <p:txBody>
          <a:bodyPr wrap="none">
            <a:spAutoFit/>
          </a:bodyPr>
          <a:lstStyle/>
          <a:p>
            <a:pPr>
              <a:defRPr sz="950" b="1">
                <a:solidFill>
                  <a:srgbClr val="003087"/>
                </a:solidFill>
              </a:defRPr>
            </a:pPr>
            <a:r>
              <a:t>08</a:t>
            </a:r>
          </a:p>
        </p:txBody>
      </p:sp>
      <p:sp>
        <p:nvSpPr>
          <p:cNvPr id="21" name="TextBox 20"/>
          <p:cNvSpPr txBox="1"/>
          <p:nvPr/>
        </p:nvSpPr>
        <p:spPr>
          <a:xfrm>
            <a:off x="1143000" y="4617720"/>
            <a:ext cx="9601200" cy="384048"/>
          </a:xfrm>
          <a:prstGeom prst="rect">
            <a:avLst/>
          </a:prstGeom>
          <a:noFill/>
        </p:spPr>
        <p:txBody>
          <a:bodyPr wrap="none">
            <a:spAutoFit/>
          </a:bodyPr>
          <a:lstStyle/>
          <a:p>
            <a:pPr>
              <a:defRPr sz="1260">
                <a:solidFill>
                  <a:srgbClr val="333333"/>
                </a:solidFill>
              </a:defRPr>
            </a:pPr>
            <a:r>
              <a:t>Fusion vs. Renewables: Not a Zero-Sum Game, but a Complementary Relationship That Strengthens with Carbon Pric</a:t>
            </a:r>
          </a:p>
        </p:txBody>
      </p:sp>
      <p:sp>
        <p:nvSpPr>
          <p:cNvPr id="22" name="TextBox 21"/>
          <p:cNvSpPr txBox="1"/>
          <p:nvPr/>
        </p:nvSpPr>
        <p:spPr>
          <a:xfrm>
            <a:off x="566928" y="5074920"/>
            <a:ext cx="502920" cy="274320"/>
          </a:xfrm>
          <a:prstGeom prst="rect">
            <a:avLst/>
          </a:prstGeom>
          <a:noFill/>
        </p:spPr>
        <p:txBody>
          <a:bodyPr wrap="none">
            <a:spAutoFit/>
          </a:bodyPr>
          <a:lstStyle/>
          <a:p>
            <a:pPr>
              <a:defRPr sz="950" b="1">
                <a:solidFill>
                  <a:srgbClr val="003087"/>
                </a:solidFill>
              </a:defRPr>
            </a:pPr>
            <a:r>
              <a:t>09</a:t>
            </a:r>
          </a:p>
        </p:txBody>
      </p:sp>
      <p:sp>
        <p:nvSpPr>
          <p:cNvPr id="23" name="TextBox 22"/>
          <p:cNvSpPr txBox="1"/>
          <p:nvPr/>
        </p:nvSpPr>
        <p:spPr>
          <a:xfrm>
            <a:off x="1143000" y="5074920"/>
            <a:ext cx="9601200" cy="384048"/>
          </a:xfrm>
          <a:prstGeom prst="rect">
            <a:avLst/>
          </a:prstGeom>
          <a:noFill/>
        </p:spPr>
        <p:txBody>
          <a:bodyPr wrap="none">
            <a:spAutoFit/>
          </a:bodyPr>
          <a:lstStyle/>
          <a:p>
            <a:pPr>
              <a:defRPr sz="1260">
                <a:solidFill>
                  <a:srgbClr val="333333"/>
                </a:solidFill>
              </a:defRPr>
            </a:pPr>
            <a:r>
              <a:t>Military Interest Could Accelerate Fusion Development, but Raises Dual-Use and Arms Control Concerns</a:t>
            </a:r>
          </a:p>
        </p:txBody>
      </p:sp>
      <p:sp>
        <p:nvSpPr>
          <p:cNvPr id="24" name="TextBox 23"/>
          <p:cNvSpPr txBox="1"/>
          <p:nvPr/>
        </p:nvSpPr>
        <p:spPr>
          <a:xfrm>
            <a:off x="566928" y="5532120"/>
            <a:ext cx="502920" cy="274320"/>
          </a:xfrm>
          <a:prstGeom prst="rect">
            <a:avLst/>
          </a:prstGeom>
          <a:noFill/>
        </p:spPr>
        <p:txBody>
          <a:bodyPr wrap="none">
            <a:spAutoFit/>
          </a:bodyPr>
          <a:lstStyle/>
          <a:p>
            <a:pPr>
              <a:defRPr sz="950" b="1">
                <a:solidFill>
                  <a:srgbClr val="003087"/>
                </a:solidFill>
              </a:defRPr>
            </a:pPr>
            <a:r>
              <a:t>10</a:t>
            </a:r>
          </a:p>
        </p:txBody>
      </p:sp>
      <p:sp>
        <p:nvSpPr>
          <p:cNvPr id="25" name="TextBox 24"/>
          <p:cNvSpPr txBox="1"/>
          <p:nvPr/>
        </p:nvSpPr>
        <p:spPr>
          <a:xfrm>
            <a:off x="1143000" y="5532120"/>
            <a:ext cx="9601200" cy="384048"/>
          </a:xfrm>
          <a:prstGeom prst="rect">
            <a:avLst/>
          </a:prstGeom>
          <a:noFill/>
        </p:spPr>
        <p:txBody>
          <a:bodyPr wrap="none">
            <a:spAutoFit/>
          </a:bodyPr>
          <a:lstStyle/>
          <a:p>
            <a:pPr>
              <a:defRPr sz="1260">
                <a:solidFill>
                  <a:srgbClr val="333333"/>
                </a:solidFill>
              </a:defRPr>
            </a:pPr>
            <a:r>
              <a:t>Section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Key highlights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analysis narrows the agenda to a focused set of management priorities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66928" y="1389888"/>
            <a:ext cx="5394960" cy="868680"/>
          </a:xfrm>
          <a:prstGeom prst="rect">
            <a:avLst/>
          </a:prstGeom>
          <a:solidFill>
            <a:srgbClr val="FFFFFF"/>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 y="1389888"/>
            <a:ext cx="54864" cy="868680"/>
          </a:xfrm>
          <a:prstGeom prst="rect">
            <a:avLst/>
          </a:prstGeom>
          <a:solidFill>
            <a:srgbClr val="0030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481328"/>
            <a:ext cx="438912" cy="201168"/>
          </a:xfrm>
          <a:prstGeom prst="rect">
            <a:avLst/>
          </a:prstGeom>
          <a:noFill/>
        </p:spPr>
        <p:txBody>
          <a:bodyPr wrap="none">
            <a:spAutoFit/>
          </a:bodyPr>
          <a:lstStyle/>
          <a:p>
            <a:pPr>
              <a:defRPr sz="900" b="1">
                <a:solidFill>
                  <a:srgbClr val="003087"/>
                </a:solidFill>
              </a:defRPr>
            </a:pPr>
            <a:r>
              <a:t>01</a:t>
            </a:r>
          </a:p>
        </p:txBody>
      </p:sp>
      <p:sp>
        <p:nvSpPr>
          <p:cNvPr id="9" name="TextBox 8"/>
          <p:cNvSpPr txBox="1"/>
          <p:nvPr/>
        </p:nvSpPr>
        <p:spPr>
          <a:xfrm>
            <a:off x="1207008" y="1499616"/>
            <a:ext cx="4590288" cy="704088"/>
          </a:xfrm>
          <a:prstGeom prst="rect">
            <a:avLst/>
          </a:prstGeom>
          <a:noFill/>
        </p:spPr>
        <p:txBody>
          <a:bodyPr wrap="square">
            <a:spAutoFit/>
          </a:bodyPr>
          <a:lstStyle/>
          <a:p>
            <a:pPr>
              <a:defRPr sz="770">
                <a:solidFill>
                  <a:srgbClr val="333333"/>
                </a:solidFill>
              </a:defRPr>
            </a:pPr>
            <a:r>
              <a:t>Nuclear fusion is approaching technical breakeven, with recent net energy gain experiments at the National Ignition Facility (NIF) and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Nuclear Fusion Is Approaching Technical Breakeven but Commercial Viability Remains a Decade or More Away</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Nuclear Fusion Is Approaching Technical Breakeven but Commercial Viability Remains a Decade or More Away</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Recent experiments at the National Ignition Facility (NIF) in 2022 and 2023 achieved net energy gain for the first time, producing more energy from fusion than the laser energy input. Similarly, the Joint European Torus (JET) set a sustained fusion energy reco</a:t>
            </a:r>
          </a:p>
          <a:p>
            <a:pPr>
              <a:spcAft>
                <a:spcPts val="600"/>
              </a:spcAft>
              <a:defRPr sz="819">
                <a:solidFill>
                  <a:srgbClr val="333333"/>
                </a:solidFill>
              </a:defRPr>
            </a:pPr>
            <a:r>
              <a:t>The leading reactor designs—tokamak, stellarator, inertial confinement, and hybrid concepts—each have distinct maturity levels. Tokamaks (e.g., ITER, SPARC) are the most advanced, with ITER aiming for sustained burn in the 2030s. Stellarators offer better stab</a:t>
            </a:r>
          </a:p>
          <a:p>
            <a:pPr>
              <a:spcAft>
                <a:spcPts val="600"/>
              </a:spcAft>
              <a:defRPr sz="819">
                <a:solidFill>
                  <a:srgbClr val="333333"/>
                </a:solidFill>
              </a:defRPr>
            </a:pPr>
            <a:r>
              <a:t>Private ventures have accelerated timelines. Commonwealth Fusion Systems (CFS) plans to demonstrate net energy with its SPARC tokamak by 2025–2026 and build a commercial plant (ARC) in the early 2030s. Helion Energy targets a 2028 demonstration using a field-r</a:t>
            </a:r>
          </a:p>
        </p:txBody>
      </p:sp>
      <p:pic>
        <p:nvPicPr>
          <p:cNvPr id="7" name="Picture 6" descr="image-1.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Private Fusion Ventures Have Accelerated Timelines but Face Significant Engineering and Economic Hurdles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Private Fusion Ventures Have Accelerated Timelines but Face Significant Engineering and Economic Hurdles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Private fusion companies have raised over $6 billion in venture capital since 2020, driven by breakthroughs in high-temperature superconductors (HTS) and advanced computing. Commonwealth Fusion Systems alone has raised over $2 billion. This influx has shortene</a:t>
            </a:r>
          </a:p>
          <a:p>
            <a:pPr>
              <a:spcAft>
                <a:spcPts val="600"/>
              </a:spcAft>
              <a:defRPr sz="819">
                <a:solidFill>
                  <a:srgbClr val="333333"/>
                </a:solidFill>
              </a:defRPr>
            </a:pPr>
            <a:r>
              <a:t>Key engineering hurdles include developing materials that can withstand extreme neutron fluxes, achieving tritium self-sufficiency through breeding blankets, and maintaining plasma stability for months-long runs. Tritium supply is a particular bottleneck: it i</a:t>
            </a:r>
          </a:p>
          <a:p>
            <a:pPr>
              <a:spcAft>
                <a:spcPts val="600"/>
              </a:spcAft>
              <a:defRPr sz="819">
                <a:solidFill>
                  <a:srgbClr val="333333"/>
                </a:solidFill>
              </a:defRPr>
            </a:pPr>
            <a:r>
              <a:t>Economic viability remains uncertain. Levelized cost of energy (LCOE) projections for fusion range from $50 to $120 per MWh, depending on capital costs and capacity factors. This is competitive with nuclear fission and natural gas with carbon capture, but high</a:t>
            </a:r>
          </a:p>
        </p:txBody>
      </p:sp>
      <p:pic>
        <p:nvPicPr>
          <p:cNvPr id="7" name="Picture 6" descr="image-2.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Fusion's Strategic Value Lies in Baseload Clean Power and Energy Independence, Not Near-Term Market Disruption</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Fusion's Strategic Value Lies in Baseload Clean Power and Energy Independence, Not Near-Term Market Disruption</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Fusion is best positioned as a complement to intermittent renewables, providing firm, dispatchable power that can operate 24/7 regardless of weather. This baseload capability is critical for grid stability as renewable penetration increases. Fusion plants coul</a:t>
            </a:r>
          </a:p>
          <a:p>
            <a:pPr>
              <a:spcAft>
                <a:spcPts val="600"/>
              </a:spcAft>
              <a:defRPr sz="819">
                <a:solidFill>
                  <a:srgbClr val="333333"/>
                </a:solidFill>
              </a:defRPr>
            </a:pPr>
            <a:r>
              <a:t>For nations with limited fossil fuel reserves, fusion offers a path to energy independence and reduced exposure to volatile global energy markets. Countries like Japan, South Korea, and many European nations are investing heavily in fusion R&amp;D for this reason.</a:t>
            </a:r>
          </a:p>
          <a:p>
            <a:pPr>
              <a:spcAft>
                <a:spcPts val="600"/>
              </a:spcAft>
              <a:defRPr sz="819">
                <a:solidFill>
                  <a:srgbClr val="333333"/>
                </a:solidFill>
              </a:defRPr>
            </a:pPr>
            <a:r>
              <a:t>Fusion does not pose the same proliferation risks as fission, as it produces no long-lived radioactive waste and cannot easily be used to produce weapons-grade material. However, compact fusion reactors could be used for naval propulsion or space power, raisin</a:t>
            </a:r>
          </a:p>
        </p:txBody>
      </p:sp>
      <p:pic>
        <p:nvPicPr>
          <p:cNvPr id="7" name="Picture 6" descr="image-3.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Geopolitical Implications Include Reduced Fossil Fuel Dependence and New Proliferation Challenges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Geopolitical Implications Include Reduced Fossil Fuel Dependence and New Proliferation Challenges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Widespread fusion adoption would reshape global energy trade, reducing demand for oil, gas, and coal. Energy-exporting nations (e.g., Russia, Saudi Arabia) could face economic disruption, while import-dependent nations (e.g., Japan, EU) would gain strategic au</a:t>
            </a:r>
          </a:p>
          <a:p>
            <a:pPr>
              <a:spcAft>
                <a:spcPts val="600"/>
              </a:spcAft>
              <a:defRPr sz="819">
                <a:solidFill>
                  <a:srgbClr val="333333"/>
                </a:solidFill>
              </a:defRPr>
            </a:pPr>
            <a:r>
              <a:t>Fusion technology could also exacerbate existing inequalities if only wealthy nations can afford its development. International collaboration, as exemplified by ITER, is essential to ensure equitable access and avoid a 'fusion divide.' China's aggressive domes</a:t>
            </a:r>
          </a:p>
          <a:p>
            <a:pPr>
              <a:spcAft>
                <a:spcPts val="600"/>
              </a:spcAft>
              <a:defRPr sz="819">
                <a:solidFill>
                  <a:srgbClr val="333333"/>
                </a:solidFill>
              </a:defRPr>
            </a:pPr>
            <a:r>
              <a:t>Proliferation risks from fusion are lower than from fission, but not zero. Compact fusion reactors could be used to produce neutrons for breeding fissile materials, or to power covert military installations. The dual-use nature of tritium and neutron sources r</a:t>
            </a:r>
          </a:p>
        </p:txBody>
      </p:sp>
      <p:pic>
        <p:nvPicPr>
          <p:cNvPr id="7" name="Picture 6" descr="image-4.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Investment Should Focus on Enabling Technologies and Diversified Portfolios Rather Than Single-Reactor Bets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Investment Should Focus on Enabling Technologies and Diversified Portfolios Rather Than Single-Reactor Bets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Given the technical and timeline uncertainties, a diversified investment strategy is prudent. Direct equity in fusion startups offers high upside but high risk. A more balanced approach includes investing in enabling technologies that are critical across multi</a:t>
            </a:r>
          </a:p>
          <a:p>
            <a:pPr>
              <a:spcAft>
                <a:spcPts val="600"/>
              </a:spcAft>
              <a:defRPr sz="819">
                <a:solidFill>
                  <a:srgbClr val="333333"/>
                </a:solidFill>
              </a:defRPr>
            </a:pPr>
            <a:r>
              <a:t>Corporate venture arms of energy and industrial companies (e.g., Equinor, Eni, Google, Microsoft) have already invested in fusion startups, often with strategic partnerships. These alliances provide startups with capital, expertise, and potential off-take agre</a:t>
            </a:r>
          </a:p>
          <a:p>
            <a:pPr>
              <a:spcAft>
                <a:spcPts val="600"/>
              </a:spcAft>
              <a:defRPr sz="819">
                <a:solidFill>
                  <a:srgbClr val="333333"/>
                </a:solidFill>
              </a:defRPr>
            </a:pPr>
            <a:r>
              <a:t>Public-private partnerships are also critical. Government programs like ITER, the US DOE's Fusion Energy Sciences program, and China's CFETR provide foundational research and infrastructure that private ventures build upon. Investors should advocate for sustai</a:t>
            </a:r>
          </a:p>
        </p:txBody>
      </p:sp>
      <p:pic>
        <p:nvPicPr>
          <p:cNvPr id="7" name="Picture 6" descr="image-5.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Regulatory Frameworks and Public Acceptance Will Be Critical Gating Factors for Fusion Deployment</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Regulatory Frameworks and Public Acceptance Will Be Critical Gating Factors for Fusion Deployment</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Unlike nuclear fission, fusion does not produce long-lived radioactive waste and has no risk of meltdown. This gives it a potential public acceptance advantage. However, fusion plants will still require licensing for radioactive materials (tritium, activated c</a:t>
            </a:r>
          </a:p>
          <a:p>
            <a:pPr>
              <a:spcAft>
                <a:spcPts val="600"/>
              </a:spcAft>
              <a:defRPr sz="819">
                <a:solidFill>
                  <a:srgbClr val="333333"/>
                </a:solidFill>
              </a:defRPr>
            </a:pPr>
            <a:r>
              <a:t>Public perception of fusion is generally positive but poorly informed. Surveys show that most people have little knowledge of fusion but are open to it if it is presented as safe and clean. Early and transparent community engagement, especially near proposed s</a:t>
            </a:r>
          </a:p>
          <a:p>
            <a:pPr>
              <a:spcAft>
                <a:spcPts val="600"/>
              </a:spcAft>
              <a:defRPr sz="819">
                <a:solidFill>
                  <a:srgbClr val="333333"/>
                </a:solidFill>
              </a:defRPr>
            </a:pPr>
            <a:r>
              <a:t>Environmental impact assessments for fusion plants must address tritium handling, water use, and decommissioning. Tritium is a radioactive isotope that can be released in small amounts; its biological half-life is short, but public concern may still arise. Cle</a:t>
            </a:r>
          </a:p>
        </p:txBody>
      </p:sp>
      <p:pic>
        <p:nvPicPr>
          <p:cNvPr id="7" name="Picture 6" descr="image-6.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The First Fusion Plants Will Likely Be Built in Asia, Where Government Support and Regulatory Pathways Are Most Advanced</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First Fusion Plants Will Likely Be Built in Asia, Where Government Support and Regulatory Pathways Are Most Advanc</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China and South Korea have the most aggressive fusion programs and supportive policy environments. China's CFETR (China Fusion Engineering Test Reactor) aims to demonstrate tritium breeding and continuous operation by the 2030s, with a commercial plant by 2050</a:t>
            </a:r>
          </a:p>
          <a:p>
            <a:pPr>
              <a:spcAft>
                <a:spcPts val="600"/>
              </a:spcAft>
              <a:defRPr sz="819">
                <a:solidFill>
                  <a:srgbClr val="333333"/>
                </a:solidFill>
              </a:defRPr>
            </a:pPr>
            <a:r>
              <a:t>In contrast, Western projects face permitting challenges and public opposition. ITER, based in France, has experienced repeated delays and cost overruns, partly due to its multinational governance. Private ventures in the US and Europe must navigate complex st</a:t>
            </a:r>
          </a:p>
          <a:p>
            <a:pPr>
              <a:spcAft>
                <a:spcPts val="600"/>
              </a:spcAft>
              <a:defRPr sz="819">
                <a:solidFill>
                  <a:srgbClr val="333333"/>
                </a:solidFill>
              </a:defRPr>
            </a:pPr>
            <a:r>
              <a:t>Asia also benefits from a robust supply chain for advanced manufacturing and materials, which are critical for fusion components. China dominates the production of rare earth magnets and has invested heavily in HTS manufacturing. South Korea and Japan have str</a:t>
            </a:r>
          </a:p>
        </p:txBody>
      </p:sp>
      <p:pic>
        <p:nvPicPr>
          <p:cNvPr id="7" name="Picture 6" descr="image-7.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Fusion vs. Renewables: Not a Zero-Sum Game, but a Complementary Relationship That Strengthens with Carbon Pricing</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Fusion vs. Renewables: Not a Zero-Sum Game, but a Complementary Relationship That Strengthens with Carbon Pricing</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Fusion and renewables are often framed as competitors, but they are better understood as complements. Renewables provide low-cost intermittent power, while fusion offers firm, dispatchable baseload. A grid with high renewable penetration requires backup power</a:t>
            </a:r>
          </a:p>
          <a:p>
            <a:pPr>
              <a:spcAft>
                <a:spcPts val="600"/>
              </a:spcAft>
              <a:defRPr sz="819">
                <a:solidFill>
                  <a:srgbClr val="333333"/>
                </a:solidFill>
              </a:defRPr>
            </a:pPr>
            <a:r>
              <a:t>The economic case for fusion improves if renewable-plus-storage costs plateau or if carbon pricing rises significantly. Current LCOE projections for fusion ($50–$120/MWh) are higher than solar and wind ($20–$40/MWh) but competitive with nuclear fission and nat</a:t>
            </a:r>
          </a:p>
          <a:p>
            <a:pPr>
              <a:spcAft>
                <a:spcPts val="600"/>
              </a:spcAft>
              <a:defRPr sz="819">
                <a:solidFill>
                  <a:srgbClr val="333333"/>
                </a:solidFill>
              </a:defRPr>
            </a:pPr>
            <a:r>
              <a:t>Fusion's ability to produce high-temperature heat (up to 1000°C) opens markets that renewables cannot easily serve, such as industrial process heat for steel, cement, and chemicals. These sectors account for about 25% of global CO2 emissions and are hard to ab</a:t>
            </a:r>
          </a:p>
        </p:txBody>
      </p:sp>
      <p:pic>
        <p:nvPicPr>
          <p:cNvPr id="7" name="Picture 6" descr="image-8.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Military Interest Could Accelerate Fusion Development, but Raises Dual-Use and Arms Control Concerns</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Military Interest Could Accelerate Fusion Development, but Raises Dual-Use and Arms Control Concerns</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Compact fusion reactors are attractive for military applications because they offer high power density, long endurance, and reduced logistics compared to fossil fuels. The US Navy has funded research into fusion-powered ships, which could operate for years wit</a:t>
            </a:r>
          </a:p>
          <a:p>
            <a:pPr>
              <a:spcAft>
                <a:spcPts val="600"/>
              </a:spcAft>
              <a:defRPr sz="819">
                <a:solidFill>
                  <a:srgbClr val="333333"/>
                </a:solidFill>
              </a:defRPr>
            </a:pPr>
            <a:r>
              <a:t>Military funding could accelerate fusion development by providing a patient, cost-insensitive customer. Defense budgets are less constrained by commercial return on investment, allowing for longer development timelines and higher risk tolerance. This could lea</a:t>
            </a:r>
          </a:p>
          <a:p>
            <a:pPr>
              <a:spcAft>
                <a:spcPts val="600"/>
              </a:spcAft>
              <a:defRPr sz="819">
                <a:solidFill>
                  <a:srgbClr val="333333"/>
                </a:solidFill>
              </a:defRPr>
            </a:pPr>
            <a:r>
              <a:t>However, military applications raise dual-use concerns. Compact fusion reactors could be used to produce neutrons for breeding fissile materials, or to power covert facilities. The same technology that powers a naval vessel could be adapted for weapons purpose</a:t>
            </a:r>
          </a:p>
        </p:txBody>
      </p:sp>
      <p:pic>
        <p:nvPicPr>
          <p:cNvPr id="7" name="Picture 6" descr="image-9.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Section 10</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Section 10</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53312"/>
            <a:ext cx="4892040" cy="4315968"/>
          </a:xfrm>
          <a:prstGeom prst="rect">
            <a:avLst/>
          </a:prstGeom>
          <a:noFill/>
        </p:spPr>
        <p:txBody>
          <a:bodyPr wrap="square" tIns="0" bIns="0">
            <a:spAutoFit/>
          </a:bodyPr>
          <a:lstStyle/>
          <a:p>
            <a:pPr>
              <a:spcAft>
                <a:spcPts val="600"/>
              </a:spcAft>
              <a:defRPr sz="819">
                <a:solidFill>
                  <a:srgbClr val="333333"/>
                </a:solidFill>
              </a:defRPr>
            </a:pPr>
            <a:r>
              <a:t>Tritium is a radioactive isotope of hydrogen with a half-life of 12.3 years. It is essential for the deuterium-tritium (D-T) fusion reaction, which is the easiest to achieve and produces the highest energy yield. However, tritium is extremely scarce in nature,</a:t>
            </a:r>
          </a:p>
          <a:p>
            <a:pPr>
              <a:spcAft>
                <a:spcPts val="600"/>
              </a:spcAft>
              <a:defRPr sz="819">
                <a:solidFill>
                  <a:srgbClr val="333333"/>
                </a:solidFill>
              </a:defRPr>
            </a:pPr>
            <a:r>
              <a:t>To achieve tritium self-sufficiency, fusion reactors must be surrounded by a 'breeding blanket' containing lithium, which captures neutrons from the fusion reaction to produce tritium. This technology has been demonstrated in laboratory settings but not at sca</a:t>
            </a:r>
          </a:p>
          <a:p>
            <a:pPr>
              <a:spcAft>
                <a:spcPts val="600"/>
              </a:spcAft>
              <a:defRPr sz="819">
                <a:solidFill>
                  <a:srgbClr val="333333"/>
                </a:solidFill>
              </a:defRPr>
            </a:pPr>
            <a:r>
              <a:t>Alternative fuel cycles, such as deuterium-deuterium (D-D) or deuterium-helium-3 (D-He3), would reduce or eliminate the need for tritium. However, these reactions require much higher plasma temperatures and are further from commercialization. Helion Energy is</a:t>
            </a:r>
          </a:p>
        </p:txBody>
      </p:sp>
      <p:pic>
        <p:nvPicPr>
          <p:cNvPr id="7" name="Picture 6" descr="image-10.png"/>
          <p:cNvPicPr>
            <a:picLocks noChangeAspect="1"/>
          </p:cNvPicPr>
          <p:nvPr/>
        </p:nvPicPr>
        <p:blipFill>
          <a:blip r:embed="rId2"/>
          <a:stretch>
            <a:fillRect/>
          </a:stretch>
        </p:blipFill>
        <p:spPr>
          <a:xfrm>
            <a:off x="5897880" y="1371600"/>
            <a:ext cx="5650992" cy="4187952"/>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1: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1: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1.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2: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2: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2.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3: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3: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3.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4: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4: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4.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5: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5: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5.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Exhibit 6: evidence clarifies the strategic trade-off</a:t>
            </a:r>
          </a:p>
        </p:txBody>
      </p:sp>
      <p:sp>
        <p:nvSpPr>
          <p:cNvPr id="4" name="TextBox 3"/>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Exhibit 6: evidence clarifies the strategic trade-off</a:t>
            </a:r>
          </a:p>
        </p:txBody>
      </p:sp>
      <p:sp>
        <p:nvSpPr>
          <p:cNvPr id="5" name="Rectangle 4"/>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6.png"/>
          <p:cNvPicPr>
            <a:picLocks noChangeAspect="1"/>
          </p:cNvPicPr>
          <p:nvPr/>
        </p:nvPicPr>
        <p:blipFill>
          <a:blip r:embed="rId2"/>
          <a:stretch>
            <a:fillRect/>
          </a:stretch>
        </p:blipFill>
        <p:spPr>
          <a:xfrm>
            <a:off x="868680" y="1188720"/>
            <a:ext cx="10378440" cy="484632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682935" y="164592"/>
            <a:ext cx="1115568" cy="219456"/>
          </a:xfrm>
          <a:prstGeom prst="rect">
            <a:avLst/>
          </a:prstGeom>
          <a:noFill/>
        </p:spPr>
        <p:txBody>
          <a:bodyPr wrap="none">
            <a:spAutoFit/>
          </a:bodyPr>
          <a:lstStyle/>
          <a:p>
            <a:pPr algn="r">
              <a:defRPr sz="800" b="1">
                <a:solidFill>
                  <a:srgbClr val="003087"/>
                </a:solidFill>
              </a:defRPr>
            </a:pPr>
            <a:r>
              <a:t>BlueOcean</a:t>
            </a:r>
          </a:p>
        </p:txBody>
      </p:sp>
      <p:sp>
        <p:nvSpPr>
          <p:cNvPr id="3" name="TextBox 2"/>
          <p:cNvSpPr txBox="1"/>
          <p:nvPr/>
        </p:nvSpPr>
        <p:spPr>
          <a:xfrm>
            <a:off x="566928" y="6601968"/>
            <a:ext cx="11057839" cy="146304"/>
          </a:xfrm>
          <a:prstGeom prst="rect">
            <a:avLst/>
          </a:prstGeom>
          <a:noFill/>
        </p:spPr>
        <p:txBody>
          <a:bodyPr wrap="none">
            <a:spAutoFit/>
          </a:bodyPr>
          <a:lstStyle/>
          <a:p>
            <a:pPr>
              <a:defRPr sz="600">
                <a:solidFill>
                  <a:srgbClr val="A0A6AD"/>
                </a:solidFill>
              </a:defRPr>
            </a:pPr>
            <a:r>
              <a:t>Closing</a:t>
            </a:r>
          </a:p>
        </p:txBody>
      </p:sp>
      <p:pic>
        <p:nvPicPr>
          <p:cNvPr id="4" name="Picture 3" descr="cover-ai.png"/>
          <p:cNvPicPr>
            <a:picLocks noChangeAspect="1"/>
          </p:cNvPicPr>
          <p:nvPr/>
        </p:nvPicPr>
        <p:blipFill>
          <a:blip r:embed="rId2"/>
          <a:stretch>
            <a:fillRect/>
          </a:stretch>
        </p:blipFill>
        <p:spPr>
          <a:xfrm>
            <a:off x="6583680" y="1051560"/>
            <a:ext cx="5074920" cy="4800600"/>
          </a:xfrm>
          <a:prstGeom prst="rect">
            <a:avLst/>
          </a:prstGeom>
        </p:spPr>
      </p:pic>
      <p:sp>
        <p:nvSpPr>
          <p:cNvPr id="5" name="TextBox 4"/>
          <p:cNvSpPr txBox="1"/>
          <p:nvPr/>
        </p:nvSpPr>
        <p:spPr>
          <a:xfrm>
            <a:off x="566928" y="347472"/>
            <a:ext cx="9692640" cy="841248"/>
          </a:xfrm>
          <a:prstGeom prst="rect">
            <a:avLst/>
          </a:prstGeom>
          <a:noFill/>
        </p:spPr>
        <p:txBody>
          <a:bodyPr wrap="square">
            <a:spAutoFit/>
          </a:bodyPr>
          <a:lstStyle/>
          <a:p>
            <a:pPr>
              <a:defRPr sz="2000" b="0">
                <a:solidFill>
                  <a:srgbClr val="333333"/>
                </a:solidFill>
              </a:defRPr>
            </a:pPr>
            <a:r>
              <a:t>The next step is to convert the research into a short list of decisions</a:t>
            </a:r>
          </a:p>
        </p:txBody>
      </p:sp>
      <p:sp>
        <p:nvSpPr>
          <p:cNvPr id="6" name="Rectangle 5"/>
          <p:cNvSpPr/>
          <p:nvPr/>
        </p:nvSpPr>
        <p:spPr>
          <a:xfrm>
            <a:off x="566928" y="1115568"/>
            <a:ext cx="11057839" cy="9144"/>
          </a:xfrm>
          <a:prstGeom prst="rect">
            <a:avLst/>
          </a:prstGeom>
          <a:solidFill>
            <a:srgbClr val="C8C8C8"/>
          </a:solidFill>
          <a:ln>
            <a:solidFill>
              <a:srgbClr val="C8C8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463040"/>
            <a:ext cx="5715000" cy="2926080"/>
          </a:xfrm>
          <a:prstGeom prst="rect">
            <a:avLst/>
          </a:prstGeom>
          <a:noFill/>
        </p:spPr>
        <p:txBody>
          <a:bodyPr wrap="square">
            <a:spAutoFit/>
          </a:bodyPr>
          <a:lstStyle/>
          <a:p>
            <a:pPr>
              <a:defRPr sz="1500">
                <a:solidFill>
                  <a:srgbClr val="003087"/>
                </a:solidFill>
              </a:defRPr>
            </a:pPr>
            <a:r>
              <a:t>A Client-Ready BlueOcean Research Report for Senior Executives and Strategic Planners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