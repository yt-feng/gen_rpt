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over-ai.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685800"/>
            <a:ext cx="4892040" cy="3429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85800"/>
            <a:ext cx="4892040" cy="73152"/>
          </a:xfrm>
          <a:prstGeom prst="rect">
            <a:avLst/>
          </a:prstGeom>
          <a:solidFill>
            <a:srgbClr val="327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960120"/>
            <a:ext cx="4251960" cy="2743200"/>
          </a:xfrm>
          <a:prstGeom prst="rect">
            <a:avLst/>
          </a:prstGeom>
          <a:noFill/>
        </p:spPr>
        <p:txBody>
          <a:bodyPr wrap="square">
            <a:spAutoFit/>
          </a:bodyPr>
          <a:lstStyle/>
          <a:p>
            <a:pPr>
              <a:defRPr sz="900" b="1">
                <a:solidFill>
                  <a:srgbClr val="003087"/>
                </a:solidFill>
              </a:defRPr>
            </a:pPr>
            <a:r>
              <a:t>BLUEOCEAN</a:t>
            </a:r>
          </a:p>
          <a:p>
            <a:pPr>
              <a:spcBef>
                <a:spcPts val="1800"/>
              </a:spcBef>
              <a:defRPr sz="2300">
                <a:solidFill>
                  <a:srgbClr val="333333"/>
                </a:solidFill>
              </a:defRPr>
            </a:pPr>
            <a:r>
              <a:t>Nuclear Fusion Commercialization: Strategic Outlook and Implications for Energy Markets and Policy</a:t>
            </a:r>
          </a:p>
          <a:p>
            <a:pPr>
              <a:spcBef>
                <a:spcPts val="1400"/>
              </a:spcBef>
              <a:defRPr sz="950">
                <a:solidFill>
                  <a:srgbClr val="64696E"/>
                </a:solidFill>
              </a:defRPr>
            </a:pPr>
            <a:r>
              <a:t>A BlueOcean Research Report on the Path to Grid-Scale Fusion Power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Contents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discussion follows the management question, evidence, and implications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502920" cy="274320"/>
          </a:xfrm>
          <a:prstGeom prst="rect">
            <a:avLst/>
          </a:prstGeom>
          <a:noFill/>
        </p:spPr>
        <p:txBody>
          <a:bodyPr wrap="none">
            <a:spAutoFit/>
          </a:bodyPr>
          <a:lstStyle/>
          <a:p>
            <a:pPr>
              <a:defRPr sz="950" b="1">
                <a:solidFill>
                  <a:srgbClr val="003087"/>
                </a:solidFill>
              </a:defRPr>
            </a:pPr>
            <a:r>
              <a:t>01</a:t>
            </a:r>
          </a:p>
        </p:txBody>
      </p:sp>
      <p:sp>
        <p:nvSpPr>
          <p:cNvPr id="7" name="TextBox 6"/>
          <p:cNvSpPr txBox="1"/>
          <p:nvPr/>
        </p:nvSpPr>
        <p:spPr>
          <a:xfrm>
            <a:off x="1143000" y="1417320"/>
            <a:ext cx="9601200" cy="384048"/>
          </a:xfrm>
          <a:prstGeom prst="rect">
            <a:avLst/>
          </a:prstGeom>
          <a:noFill/>
        </p:spPr>
        <p:txBody>
          <a:bodyPr wrap="none">
            <a:spAutoFit/>
          </a:bodyPr>
          <a:lstStyle/>
          <a:p>
            <a:pPr>
              <a:defRPr sz="1260">
                <a:solidFill>
                  <a:srgbClr val="333333"/>
                </a:solidFill>
              </a:defRPr>
            </a:pPr>
            <a:r>
              <a:t>Fusion Commercialization Is Accelerating but Remains a Decade Away from Grid-Scale Power</a:t>
            </a:r>
          </a:p>
        </p:txBody>
      </p:sp>
      <p:sp>
        <p:nvSpPr>
          <p:cNvPr id="8" name="TextBox 7"/>
          <p:cNvSpPr txBox="1"/>
          <p:nvPr/>
        </p:nvSpPr>
        <p:spPr>
          <a:xfrm>
            <a:off x="566928" y="1874520"/>
            <a:ext cx="502920" cy="274320"/>
          </a:xfrm>
          <a:prstGeom prst="rect">
            <a:avLst/>
          </a:prstGeom>
          <a:noFill/>
        </p:spPr>
        <p:txBody>
          <a:bodyPr wrap="none">
            <a:spAutoFit/>
          </a:bodyPr>
          <a:lstStyle/>
          <a:p>
            <a:pPr>
              <a:defRPr sz="950" b="1">
                <a:solidFill>
                  <a:srgbClr val="003087"/>
                </a:solidFill>
              </a:defRPr>
            </a:pPr>
            <a:r>
              <a:t>02</a:t>
            </a:r>
          </a:p>
        </p:txBody>
      </p:sp>
      <p:sp>
        <p:nvSpPr>
          <p:cNvPr id="9" name="TextBox 8"/>
          <p:cNvSpPr txBox="1"/>
          <p:nvPr/>
        </p:nvSpPr>
        <p:spPr>
          <a:xfrm>
            <a:off x="1143000" y="1874520"/>
            <a:ext cx="9601200" cy="384048"/>
          </a:xfrm>
          <a:prstGeom prst="rect">
            <a:avLst/>
          </a:prstGeom>
          <a:noFill/>
        </p:spPr>
        <p:txBody>
          <a:bodyPr wrap="none">
            <a:spAutoFit/>
          </a:bodyPr>
          <a:lstStyle/>
          <a:p>
            <a:pPr>
              <a:defRPr sz="1260">
                <a:solidFill>
                  <a:srgbClr val="333333"/>
                </a:solidFill>
              </a:defRPr>
            </a:pPr>
            <a:r>
              <a:t>Private Investment and Technical Breakthroughs Are Shortening Earlier Government-Led Timelines</a:t>
            </a:r>
          </a:p>
        </p:txBody>
      </p:sp>
      <p:sp>
        <p:nvSpPr>
          <p:cNvPr id="10" name="TextBox 9"/>
          <p:cNvSpPr txBox="1"/>
          <p:nvPr/>
        </p:nvSpPr>
        <p:spPr>
          <a:xfrm>
            <a:off x="566928" y="2331720"/>
            <a:ext cx="502920" cy="274320"/>
          </a:xfrm>
          <a:prstGeom prst="rect">
            <a:avLst/>
          </a:prstGeom>
          <a:noFill/>
        </p:spPr>
        <p:txBody>
          <a:bodyPr wrap="none">
            <a:spAutoFit/>
          </a:bodyPr>
          <a:lstStyle/>
          <a:p>
            <a:pPr>
              <a:defRPr sz="950" b="1">
                <a:solidFill>
                  <a:srgbClr val="003087"/>
                </a:solidFill>
              </a:defRPr>
            </a:pPr>
            <a:r>
              <a:t>03</a:t>
            </a:r>
          </a:p>
        </p:txBody>
      </p:sp>
      <p:sp>
        <p:nvSpPr>
          <p:cNvPr id="11" name="TextBox 10"/>
          <p:cNvSpPr txBox="1"/>
          <p:nvPr/>
        </p:nvSpPr>
        <p:spPr>
          <a:xfrm>
            <a:off x="1143000" y="2331720"/>
            <a:ext cx="9601200" cy="384048"/>
          </a:xfrm>
          <a:prstGeom prst="rect">
            <a:avLst/>
          </a:prstGeom>
          <a:noFill/>
        </p:spPr>
        <p:txBody>
          <a:bodyPr wrap="none">
            <a:spAutoFit/>
          </a:bodyPr>
          <a:lstStyle/>
          <a:p>
            <a:pPr>
              <a:defRPr sz="1260">
                <a:solidFill>
                  <a:srgbClr val="333333"/>
                </a:solidFill>
              </a:defRPr>
            </a:pPr>
            <a:r>
              <a:t>Levelized Cost of Fusion Will Initially Be High but Could Become Competitive with Fission and Gas by 2040</a:t>
            </a:r>
          </a:p>
        </p:txBody>
      </p:sp>
      <p:sp>
        <p:nvSpPr>
          <p:cNvPr id="12" name="TextBox 11"/>
          <p:cNvSpPr txBox="1"/>
          <p:nvPr/>
        </p:nvSpPr>
        <p:spPr>
          <a:xfrm>
            <a:off x="566928" y="2788920"/>
            <a:ext cx="502920" cy="274320"/>
          </a:xfrm>
          <a:prstGeom prst="rect">
            <a:avLst/>
          </a:prstGeom>
          <a:noFill/>
        </p:spPr>
        <p:txBody>
          <a:bodyPr wrap="none">
            <a:spAutoFit/>
          </a:bodyPr>
          <a:lstStyle/>
          <a:p>
            <a:pPr>
              <a:defRPr sz="950" b="1">
                <a:solidFill>
                  <a:srgbClr val="003087"/>
                </a:solidFill>
              </a:defRPr>
            </a:pPr>
            <a:r>
              <a:t>04</a:t>
            </a:r>
          </a:p>
        </p:txBody>
      </p:sp>
      <p:sp>
        <p:nvSpPr>
          <p:cNvPr id="13" name="TextBox 12"/>
          <p:cNvSpPr txBox="1"/>
          <p:nvPr/>
        </p:nvSpPr>
        <p:spPr>
          <a:xfrm>
            <a:off x="1143000" y="2788920"/>
            <a:ext cx="9601200" cy="384048"/>
          </a:xfrm>
          <a:prstGeom prst="rect">
            <a:avLst/>
          </a:prstGeom>
          <a:noFill/>
        </p:spPr>
        <p:txBody>
          <a:bodyPr wrap="none">
            <a:spAutoFit/>
          </a:bodyPr>
          <a:lstStyle/>
          <a:p>
            <a:pPr>
              <a:defRPr sz="1260">
                <a:solidFill>
                  <a:srgbClr val="333333"/>
                </a:solidFill>
              </a:defRPr>
            </a:pPr>
            <a:r>
              <a:t>Regulatory Frameworks Are Evolving but Still Lack Clarity for First-of-a-Kind Plants</a:t>
            </a:r>
          </a:p>
        </p:txBody>
      </p:sp>
      <p:sp>
        <p:nvSpPr>
          <p:cNvPr id="14" name="TextBox 13"/>
          <p:cNvSpPr txBox="1"/>
          <p:nvPr/>
        </p:nvSpPr>
        <p:spPr>
          <a:xfrm>
            <a:off x="566928" y="3246120"/>
            <a:ext cx="502920" cy="274320"/>
          </a:xfrm>
          <a:prstGeom prst="rect">
            <a:avLst/>
          </a:prstGeom>
          <a:noFill/>
        </p:spPr>
        <p:txBody>
          <a:bodyPr wrap="none">
            <a:spAutoFit/>
          </a:bodyPr>
          <a:lstStyle/>
          <a:p>
            <a:pPr>
              <a:defRPr sz="950" b="1">
                <a:solidFill>
                  <a:srgbClr val="003087"/>
                </a:solidFill>
              </a:defRPr>
            </a:pPr>
            <a:r>
              <a:t>05</a:t>
            </a:r>
          </a:p>
        </p:txBody>
      </p:sp>
      <p:sp>
        <p:nvSpPr>
          <p:cNvPr id="15" name="TextBox 14"/>
          <p:cNvSpPr txBox="1"/>
          <p:nvPr/>
        </p:nvSpPr>
        <p:spPr>
          <a:xfrm>
            <a:off x="1143000" y="3246120"/>
            <a:ext cx="9601200" cy="384048"/>
          </a:xfrm>
          <a:prstGeom prst="rect">
            <a:avLst/>
          </a:prstGeom>
          <a:noFill/>
        </p:spPr>
        <p:txBody>
          <a:bodyPr wrap="none">
            <a:spAutoFit/>
          </a:bodyPr>
          <a:lstStyle/>
          <a:p>
            <a:pPr>
              <a:defRPr sz="1260">
                <a:solidFill>
                  <a:srgbClr val="333333"/>
                </a:solidFill>
              </a:defRPr>
            </a:pPr>
            <a:r>
              <a:t>Strategic Implications Include Energy Independence, Climate Benefits, and Potential Disruption to Existing Ene</a:t>
            </a:r>
          </a:p>
        </p:txBody>
      </p:sp>
      <p:sp>
        <p:nvSpPr>
          <p:cNvPr id="16" name="TextBox 15"/>
          <p:cNvSpPr txBox="1"/>
          <p:nvPr/>
        </p:nvSpPr>
        <p:spPr>
          <a:xfrm>
            <a:off x="566928" y="3703320"/>
            <a:ext cx="502920" cy="274320"/>
          </a:xfrm>
          <a:prstGeom prst="rect">
            <a:avLst/>
          </a:prstGeom>
          <a:noFill/>
        </p:spPr>
        <p:txBody>
          <a:bodyPr wrap="none">
            <a:spAutoFit/>
          </a:bodyPr>
          <a:lstStyle/>
          <a:p>
            <a:pPr>
              <a:defRPr sz="950" b="1">
                <a:solidFill>
                  <a:srgbClr val="003087"/>
                </a:solidFill>
              </a:defRPr>
            </a:pPr>
            <a:r>
              <a:t>06</a:t>
            </a:r>
          </a:p>
        </p:txBody>
      </p:sp>
      <p:sp>
        <p:nvSpPr>
          <p:cNvPr id="17" name="TextBox 16"/>
          <p:cNvSpPr txBox="1"/>
          <p:nvPr/>
        </p:nvSpPr>
        <p:spPr>
          <a:xfrm>
            <a:off x="1143000" y="3703320"/>
            <a:ext cx="9601200" cy="384048"/>
          </a:xfrm>
          <a:prstGeom prst="rect">
            <a:avLst/>
          </a:prstGeom>
          <a:noFill/>
        </p:spPr>
        <p:txBody>
          <a:bodyPr wrap="none">
            <a:spAutoFit/>
          </a:bodyPr>
          <a:lstStyle/>
          <a:p>
            <a:pPr>
              <a:defRPr sz="1260">
                <a:solidFill>
                  <a:srgbClr val="333333"/>
                </a:solidFill>
              </a:defRPr>
            </a:pPr>
            <a:r>
              <a:t>Key Risks: Engineering Scale-Up, Tritium Supply, Public Acceptance, and Cost Overruns</a:t>
            </a:r>
          </a:p>
        </p:txBody>
      </p:sp>
      <p:sp>
        <p:nvSpPr>
          <p:cNvPr id="18" name="TextBox 17"/>
          <p:cNvSpPr txBox="1"/>
          <p:nvPr/>
        </p:nvSpPr>
        <p:spPr>
          <a:xfrm>
            <a:off x="566928" y="4160520"/>
            <a:ext cx="502920" cy="274320"/>
          </a:xfrm>
          <a:prstGeom prst="rect">
            <a:avLst/>
          </a:prstGeom>
          <a:noFill/>
        </p:spPr>
        <p:txBody>
          <a:bodyPr wrap="none">
            <a:spAutoFit/>
          </a:bodyPr>
          <a:lstStyle/>
          <a:p>
            <a:pPr>
              <a:defRPr sz="950" b="1">
                <a:solidFill>
                  <a:srgbClr val="003087"/>
                </a:solidFill>
              </a:defRPr>
            </a:pPr>
            <a:r>
              <a:t>07</a:t>
            </a:r>
          </a:p>
        </p:txBody>
      </p:sp>
      <p:sp>
        <p:nvSpPr>
          <p:cNvPr id="19" name="TextBox 18"/>
          <p:cNvSpPr txBox="1"/>
          <p:nvPr/>
        </p:nvSpPr>
        <p:spPr>
          <a:xfrm>
            <a:off x="1143000" y="4160520"/>
            <a:ext cx="9601200" cy="384048"/>
          </a:xfrm>
          <a:prstGeom prst="rect">
            <a:avLst/>
          </a:prstGeom>
          <a:noFill/>
        </p:spPr>
        <p:txBody>
          <a:bodyPr wrap="none">
            <a:spAutoFit/>
          </a:bodyPr>
          <a:lstStyle/>
          <a:p>
            <a:pPr>
              <a:defRPr sz="1260">
                <a:solidFill>
                  <a:srgbClr val="333333"/>
                </a:solidFill>
              </a:defRPr>
            </a:pPr>
            <a:r>
              <a:t>Recommendations: Early Positioning Through R&amp;D Partnerships and Policy Engagement, but Defer Large Capital 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Key highlights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analysis narrows the agenda to a focused set of management priorities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89888"/>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81328"/>
            <a:ext cx="438912" cy="201168"/>
          </a:xfrm>
          <a:prstGeom prst="rect">
            <a:avLst/>
          </a:prstGeom>
          <a:noFill/>
        </p:spPr>
        <p:txBody>
          <a:bodyPr wrap="none">
            <a:spAutoFit/>
          </a:bodyPr>
          <a:lstStyle/>
          <a:p>
            <a:pPr>
              <a:defRPr sz="900" b="1">
                <a:solidFill>
                  <a:srgbClr val="003087"/>
                </a:solidFill>
              </a:defRPr>
            </a:pPr>
            <a:r>
              <a:t>01</a:t>
            </a:r>
          </a:p>
        </p:txBody>
      </p:sp>
      <p:sp>
        <p:nvSpPr>
          <p:cNvPr id="9" name="TextBox 8"/>
          <p:cNvSpPr txBox="1"/>
          <p:nvPr/>
        </p:nvSpPr>
        <p:spPr>
          <a:xfrm>
            <a:off x="1207008" y="1499616"/>
            <a:ext cx="4590288" cy="704088"/>
          </a:xfrm>
          <a:prstGeom prst="rect">
            <a:avLst/>
          </a:prstGeom>
          <a:noFill/>
        </p:spPr>
        <p:txBody>
          <a:bodyPr wrap="square">
            <a:spAutoFit/>
          </a:bodyPr>
          <a:lstStyle/>
          <a:p>
            <a:pPr>
              <a:defRPr sz="770">
                <a:solidFill>
                  <a:srgbClr val="333333"/>
                </a:solidFill>
              </a:defRPr>
            </a:pPr>
            <a:r>
              <a:t>Nuclear fusion is transitioning from a long-term scientific pursuit to a tangible engineering challenge, driven by record private inves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Fusion Commercialization Is Accelerating but Remains a Decade Away from Grid-Scale Power</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Fusion Commercialization Is Accelerating but Remains a Decade Away from Grid-Scale Power</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The fusion energy landscape has shifted dramatically since 2020. The demonstration of net energy gain (Q&gt;1) at the National Ignition Facility in December 2022 marked a historic milestone, proving that fusion can produce more energy than the laser input. Howeve</a:t>
            </a:r>
          </a:p>
          <a:p>
            <a:pPr>
              <a:spcAft>
                <a:spcPts val="600"/>
              </a:spcAft>
              <a:defRPr sz="819">
                <a:solidFill>
                  <a:srgbClr val="333333"/>
                </a:solidFill>
              </a:defRPr>
            </a:pPr>
            <a:r>
              <a:t>Major projects like ITER (international tokamak in France) aim for Q=10 by the late 2030s, but have faced repeated delays and cost overruns, with first plasma now expected no earlier than 2035. Private ventures such as Commonwealth Fusion Systems' SPARC tokama</a:t>
            </a:r>
          </a:p>
          <a:p>
            <a:pPr>
              <a:spcAft>
                <a:spcPts val="600"/>
              </a:spcAft>
              <a:defRPr sz="819">
                <a:solidFill>
                  <a:srgbClr val="333333"/>
                </a:solidFill>
              </a:defRPr>
            </a:pPr>
            <a:r>
              <a:t>The consensus among experts is that a demonstration fusion power plant is plausible by the mid-2030s, but grid-scale commercial deployment is unlikely before the 2040s. Key engineering challenges remain: developing materials that can withstand high neutron flu</a:t>
            </a:r>
          </a:p>
        </p:txBody>
      </p:sp>
      <p:pic>
        <p:nvPicPr>
          <p:cNvPr id="7" name="Picture 6" descr="image-1.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Private Investment and Technical Breakthroughs Are Shortening Earlier Government-Led Timelines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Private Investment and Technical Breakthroughs Are Shortening Earlier Government-Led Timelines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The fusion sector has seen a surge in private investment, with over $6 billion raised by fusion companies since 2020, according to the Fusion Industry Association. This capital is accelerating development timelines that were previously dominated by slow-moving</a:t>
            </a:r>
          </a:p>
          <a:p>
            <a:pPr>
              <a:spcAft>
                <a:spcPts val="600"/>
              </a:spcAft>
              <a:defRPr sz="819">
                <a:solidFill>
                  <a:srgbClr val="333333"/>
                </a:solidFill>
              </a:defRPr>
            </a:pPr>
            <a:r>
              <a:t>The advent of high-temperature superconducting (HTS) magnets has been a game-changer, enabling smaller, more powerful tokamaks like SPARC. These magnets reduce the size and cost of fusion devices, potentially shortening the path to commercial reactors. However</a:t>
            </a:r>
          </a:p>
          <a:p>
            <a:pPr>
              <a:spcAft>
                <a:spcPts val="600"/>
              </a:spcAft>
              <a:defRPr sz="819">
                <a:solidFill>
                  <a:srgbClr val="333333"/>
                </a:solidFill>
              </a:defRPr>
            </a:pPr>
            <a:r>
              <a:t>Public-private partnerships, such as the UK's STEP program and the US DOE's Milestone-Based Fusion Development Program, are critical to bridging the gap between laboratory experiments and commercial readiness. These programs provide funding, regulatory guidanc</a:t>
            </a:r>
          </a:p>
        </p:txBody>
      </p:sp>
      <p:pic>
        <p:nvPicPr>
          <p:cNvPr id="7" name="Picture 6" descr="image-2.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Levelized Cost of Fusion Will Initially Be High but Could Become Competitive with Fission and Gas by 2040</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Levelized Cost of Fusion Will Initially Be High but Could Become Competitive with Fission and Gas by 2040</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Estimating the levelized cost of energy (LCOE) for fusion is highly uncertain, as no commercial plant has been built. Early studies suggest that first-of-a-kind fusion plants could have LCOE in the range of $100–$200 per MWh, comparable to new nuclear fission</a:t>
            </a:r>
          </a:p>
          <a:p>
            <a:pPr>
              <a:spcAft>
                <a:spcPts val="600"/>
              </a:spcAft>
              <a:defRPr sz="819">
                <a:solidFill>
                  <a:srgbClr val="333333"/>
                </a:solidFill>
              </a:defRPr>
            </a:pPr>
            <a:r>
              <a:t>As the technology matures and economies of scale kick in, LCOE could fall to $50–$80 per MWh by 2040, making it competitive with natural gas and potentially cheaper than fission. Key cost drivers include capital costs (estimated at $5–$10 billion for a 1 GW pl</a:t>
            </a:r>
          </a:p>
          <a:p>
            <a:pPr>
              <a:spcAft>
                <a:spcPts val="600"/>
              </a:spcAft>
              <a:defRPr sz="819">
                <a:solidFill>
                  <a:srgbClr val="333333"/>
                </a:solidFill>
              </a:defRPr>
            </a:pPr>
            <a:r>
              <a:t>Carbon pricing or subsidies for low-carbon energy would further improve fusion's competitiveness. Investors should monitor learning rates and cost trends from pilot plants. The first commercial plants will likely require government support or power purchase ag</a:t>
            </a:r>
          </a:p>
        </p:txBody>
      </p:sp>
      <p:pic>
        <p:nvPicPr>
          <p:cNvPr id="7" name="Picture 6" descr="image-3.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Regulatory Frameworks Are Evolving but Still Lack Clarity for First-of-a-Kind Plants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Regulatory Frameworks Are Evolving but Still Lack Clarity for First-of-a-Kind Plants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The regulatory landscape for fusion is fragmented and still under development. In the United States, the Nuclear Regulatory Commission (NRC) is developing a framework for fusion energy systems, proposing to regulate them separately from fission reactors due to</a:t>
            </a:r>
          </a:p>
          <a:p>
            <a:pPr>
              <a:spcAft>
                <a:spcPts val="600"/>
              </a:spcAft>
              <a:defRPr sz="819">
                <a:solidFill>
                  <a:srgbClr val="333333"/>
                </a:solidFill>
              </a:defRPr>
            </a:pPr>
            <a:r>
              <a:t>However, detailed regulations are not expected until 2027–2028. The UK has taken a proactive approach, with the Environment Agency and Health and Safety Executive developing a regulatory regime for fusion, aiming to have a clear pathway by 2026. Japan and Chin</a:t>
            </a:r>
          </a:p>
          <a:p>
            <a:pPr>
              <a:spcAft>
                <a:spcPts val="600"/>
              </a:spcAft>
              <a:defRPr sz="819">
                <a:solidFill>
                  <a:srgbClr val="333333"/>
                </a:solidFill>
              </a:defRPr>
            </a:pPr>
            <a:r>
              <a:t>Fusion's safety advantages—no chain reaction, no long-lived high-level waste, and passive safety—should facilitate public acceptance, but confusion with nuclear fission remains a risk. Early engagement with regulators and communities is essential for project d</a:t>
            </a:r>
          </a:p>
        </p:txBody>
      </p:sp>
      <p:pic>
        <p:nvPicPr>
          <p:cNvPr id="7" name="Picture 6" descr="image-4.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Strategic Implications Include Energy Independence, Climate Benefits, and Potential Disruption to Existing Energy Market</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Strategic Implications Include Energy Independence, Climate Benefits, and Potential Disruption to Existing Energy Mark</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Fusion energy could fundamentally alter global energy dynamics. Countries that successfully commercialize fusion would gain energy independence, reducing reliance on fossil fuel imports and insulating themselves from price volatility. This has significant geop</a:t>
            </a:r>
          </a:p>
          <a:p>
            <a:pPr>
              <a:spcAft>
                <a:spcPts val="600"/>
              </a:spcAft>
              <a:defRPr sz="819">
                <a:solidFill>
                  <a:srgbClr val="333333"/>
                </a:solidFill>
              </a:defRPr>
            </a:pPr>
            <a:r>
              <a:t>Fusion also offers a path to deep decarbonization, providing firm, low-carbon power that can complement renewables and help achieve net-zero targets. Unlike fission, fusion produces no long-lived radioactive waste and has no risk of meltdown, potentially easin</a:t>
            </a:r>
          </a:p>
          <a:p>
            <a:pPr>
              <a:spcAft>
                <a:spcPts val="600"/>
              </a:spcAft>
              <a:defRPr sz="819">
                <a:solidFill>
                  <a:srgbClr val="333333"/>
                </a:solidFill>
              </a:defRPr>
            </a:pPr>
            <a:r>
              <a:t>Utilities and grid operators must prepare for a potential shift in generation mix. National security concerns include the proliferation of tritium and dual-use technologies, though fusion is generally considered less risky than fission. International cooperati</a:t>
            </a:r>
          </a:p>
        </p:txBody>
      </p:sp>
      <p:pic>
        <p:nvPicPr>
          <p:cNvPr id="7" name="Picture 6" descr="image-5.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Key Risks: Engineering Scale-Up, Tritium Supply, Public Acceptance, and Cost Overruns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Key Risks: Engineering Scale-Up, Tritium Supply, Public Acceptance, and Cost Overruns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Despite the promise, fusion faces substantial risks. The primary technical risk is the ability to sustain a burning plasma for extended periods (hours to days) with Q&gt;10, which has never been demonstrated. Materials must withstand intense neutron bombardment,</a:t>
            </a:r>
          </a:p>
          <a:p>
            <a:pPr>
              <a:spcAft>
                <a:spcPts val="600"/>
              </a:spcAft>
              <a:defRPr sz="819">
                <a:solidFill>
                  <a:srgbClr val="333333"/>
                </a:solidFill>
              </a:defRPr>
            </a:pPr>
            <a:r>
              <a:t>No reactor has yet demonstrated TBR&gt;1, and tritium is scarce, with global supplies limited to a few kilograms. Schedule risks are high: ITER has already seen decades of delays, and private projects may face similar issues. Cost overruns are almost certain for</a:t>
            </a:r>
          </a:p>
          <a:p>
            <a:pPr>
              <a:spcAft>
                <a:spcPts val="600"/>
              </a:spcAft>
              <a:defRPr sz="819">
                <a:solidFill>
                  <a:srgbClr val="333333"/>
                </a:solidFill>
              </a:defRPr>
            </a:pPr>
            <a:r>
              <a:t>Public acceptance could be hindered by confusion with nuclear fission and NIMBYism, though fusion's safety profile is superior. Geopolitical risks include technology export controls and supply chain concentration (e.g., HTS magnets from a few suppliers). Inves</a:t>
            </a:r>
          </a:p>
        </p:txBody>
      </p:sp>
      <p:pic>
        <p:nvPicPr>
          <p:cNvPr id="7" name="Picture 6" descr="image-6.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Recommendations: Early Positioning Through R&amp;D Partnerships and Policy Engagement, but Defer Large Capital Commitments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Recommendations: Early Positioning Through R&amp;D Partnerships and Policy Engagement, but Defer Large Capital Commitments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For organizations considering strategic involvement in fusion, the window for low-cost positioning is now, but large capital commitments should await demonstrated engineering milestones. Recommended actions include: (1) Establish R&amp;D partnerships with leading</a:t>
            </a:r>
          </a:p>
          <a:p>
            <a:pPr>
              <a:spcAft>
                <a:spcPts val="600"/>
              </a:spcAft>
              <a:defRPr sz="819">
                <a:solidFill>
                  <a:srgbClr val="333333"/>
                </a:solidFill>
              </a:defRPr>
            </a:pPr>
            <a:r>
              <a:t>(3) Monitor key milestones: sustained Q&gt;10 operation, tritium breeding demonstration, and pilot plant construction starts. (4) Invest in enabling technologies such as HTS magnets, advanced materials, and tritium handling. (5) Develop internal expertise to eval</a:t>
            </a:r>
          </a:p>
          <a:p>
            <a:pPr>
              <a:spcAft>
                <a:spcPts val="600"/>
              </a:spcAft>
              <a:defRPr sz="819">
                <a:solidFill>
                  <a:srgbClr val="333333"/>
                </a:solidFill>
              </a:defRPr>
            </a:pPr>
            <a:r>
              <a:t>For utilities, consider power purchase agreements with fusion developers to support early projects. For investors, a diversified portfolio across multiple fusion approaches (magnetic, inertial, hybrid) can mitigate technology risk. The fusion race is a maratho</a:t>
            </a:r>
          </a:p>
        </p:txBody>
      </p:sp>
      <p:pic>
        <p:nvPicPr>
          <p:cNvPr id="7" name="Picture 6" descr="image-7.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1: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1: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1.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2: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2: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2.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3: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3: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3.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4: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4: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4.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5: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5: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5.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6: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6: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6.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Closing</a:t>
            </a:r>
          </a:p>
        </p:txBody>
      </p:sp>
      <p:pic>
        <p:nvPicPr>
          <p:cNvPr id="4" name="Picture 3" descr="cover-ai.png"/>
          <p:cNvPicPr>
            <a:picLocks noChangeAspect="1"/>
          </p:cNvPicPr>
          <p:nvPr/>
        </p:nvPicPr>
        <p:blipFill>
          <a:blip r:embed="rId2"/>
          <a:stretch>
            <a:fillRect/>
          </a:stretch>
        </p:blipFill>
        <p:spPr>
          <a:xfrm>
            <a:off x="6583680" y="1051560"/>
            <a:ext cx="5074920" cy="4800600"/>
          </a:xfrm>
          <a:prstGeom prst="rect">
            <a:avLst/>
          </a:prstGeom>
        </p:spPr>
      </p:pic>
      <p:sp>
        <p:nvSpPr>
          <p:cNvPr id="5" name="TextBox 4"/>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next step is to convert the research into a short list of decisions</a:t>
            </a:r>
          </a:p>
        </p:txBody>
      </p:sp>
      <p:sp>
        <p:nvSpPr>
          <p:cNvPr id="6" name="Rectangle 5"/>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63040"/>
            <a:ext cx="5715000" cy="2926080"/>
          </a:xfrm>
          <a:prstGeom prst="rect">
            <a:avLst/>
          </a:prstGeom>
          <a:noFill/>
        </p:spPr>
        <p:txBody>
          <a:bodyPr wrap="square">
            <a:spAutoFit/>
          </a:bodyPr>
          <a:lstStyle/>
          <a:p>
            <a:pPr>
              <a:defRPr sz="1500">
                <a:solidFill>
                  <a:srgbClr val="003087"/>
                </a:solidFill>
              </a:defRPr>
            </a:pPr>
            <a:r>
              <a:t>A BlueOcean Research Report on the Path to Grid-Scale Fusion Power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