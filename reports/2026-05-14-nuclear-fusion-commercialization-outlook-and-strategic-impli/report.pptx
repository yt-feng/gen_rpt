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ai.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685800"/>
            <a:ext cx="48920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85800"/>
            <a:ext cx="4892040" cy="73152"/>
          </a:xfrm>
          <a:prstGeom prst="rect">
            <a:avLst/>
          </a:prstGeom>
          <a:solidFill>
            <a:srgbClr val="327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960120"/>
            <a:ext cx="4251960" cy="2743200"/>
          </a:xfrm>
          <a:prstGeom prst="rect">
            <a:avLst/>
          </a:prstGeom>
          <a:noFill/>
        </p:spPr>
        <p:txBody>
          <a:bodyPr wrap="square">
            <a:spAutoFit/>
          </a:bodyPr>
          <a:lstStyle/>
          <a:p>
            <a:pPr>
              <a:defRPr sz="900" b="1">
                <a:solidFill>
                  <a:srgbClr val="003087"/>
                </a:solidFill>
              </a:defRPr>
            </a:pPr>
            <a:r>
              <a:t>BLUEOCEAN</a:t>
            </a:r>
          </a:p>
          <a:p>
            <a:pPr>
              <a:spcBef>
                <a:spcPts val="1800"/>
              </a:spcBef>
              <a:defRPr sz="2300">
                <a:solidFill>
                  <a:srgbClr val="333333"/>
                </a:solidFill>
              </a:defRPr>
            </a:pPr>
            <a:r>
              <a:t>Nuclear Fusion Commercialization: Strategic Outlook and Implications for Energy Markets and Geopolitics</a:t>
            </a:r>
          </a:p>
          <a:p>
            <a:pPr>
              <a:spcBef>
                <a:spcPts val="1400"/>
              </a:spcBef>
              <a:defRPr sz="950">
                <a:solidFill>
                  <a:srgbClr val="64696E"/>
                </a:solidFill>
              </a:defRPr>
            </a:pPr>
            <a:r>
              <a:t>A BlueOcean Research Report for Senior Decision-Makers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Contents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discussion follows the management question, evidence, and implications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502920" cy="274320"/>
          </a:xfrm>
          <a:prstGeom prst="rect">
            <a:avLst/>
          </a:prstGeom>
          <a:noFill/>
        </p:spPr>
        <p:txBody>
          <a:bodyPr wrap="none">
            <a:spAutoFit/>
          </a:bodyPr>
          <a:lstStyle/>
          <a:p>
            <a:pPr>
              <a:defRPr sz="950" b="1">
                <a:solidFill>
                  <a:srgbClr val="003087"/>
                </a:solidFill>
              </a:defRPr>
            </a:pPr>
            <a:r>
              <a:t>01</a:t>
            </a:r>
          </a:p>
        </p:txBody>
      </p:sp>
      <p:sp>
        <p:nvSpPr>
          <p:cNvPr id="7" name="TextBox 6"/>
          <p:cNvSpPr txBox="1"/>
          <p:nvPr/>
        </p:nvSpPr>
        <p:spPr>
          <a:xfrm>
            <a:off x="1143000" y="1417320"/>
            <a:ext cx="9601200" cy="384048"/>
          </a:xfrm>
          <a:prstGeom prst="rect">
            <a:avLst/>
          </a:prstGeom>
          <a:noFill/>
        </p:spPr>
        <p:txBody>
          <a:bodyPr wrap="none">
            <a:spAutoFit/>
          </a:bodyPr>
          <a:lstStyle/>
          <a:p>
            <a:pPr>
              <a:defRPr sz="1260">
                <a:solidFill>
                  <a:srgbClr val="333333"/>
                </a:solidFill>
              </a:defRPr>
            </a:pPr>
            <a:r>
              <a:t>Section 1</a:t>
            </a:r>
          </a:p>
        </p:txBody>
      </p:sp>
      <p:sp>
        <p:nvSpPr>
          <p:cNvPr id="8" name="TextBox 7"/>
          <p:cNvSpPr txBox="1"/>
          <p:nvPr/>
        </p:nvSpPr>
        <p:spPr>
          <a:xfrm>
            <a:off x="566928" y="1874520"/>
            <a:ext cx="502920" cy="274320"/>
          </a:xfrm>
          <a:prstGeom prst="rect">
            <a:avLst/>
          </a:prstGeom>
          <a:noFill/>
        </p:spPr>
        <p:txBody>
          <a:bodyPr wrap="none">
            <a:spAutoFit/>
          </a:bodyPr>
          <a:lstStyle/>
          <a:p>
            <a:pPr>
              <a:defRPr sz="950" b="1">
                <a:solidFill>
                  <a:srgbClr val="003087"/>
                </a:solidFill>
              </a:defRPr>
            </a:pPr>
            <a:r>
              <a:t>02</a:t>
            </a:r>
          </a:p>
        </p:txBody>
      </p:sp>
      <p:sp>
        <p:nvSpPr>
          <p:cNvPr id="9" name="TextBox 8"/>
          <p:cNvSpPr txBox="1"/>
          <p:nvPr/>
        </p:nvSpPr>
        <p:spPr>
          <a:xfrm>
            <a:off x="1143000" y="1874520"/>
            <a:ext cx="9601200" cy="384048"/>
          </a:xfrm>
          <a:prstGeom prst="rect">
            <a:avLst/>
          </a:prstGeom>
          <a:noFill/>
        </p:spPr>
        <p:txBody>
          <a:bodyPr wrap="none">
            <a:spAutoFit/>
          </a:bodyPr>
          <a:lstStyle/>
          <a:p>
            <a:pPr>
              <a:defRPr sz="1260">
                <a:solidFill>
                  <a:srgbClr val="333333"/>
                </a:solidFill>
              </a:defRPr>
            </a:pPr>
            <a:r>
              <a:t>Section 2</a:t>
            </a:r>
          </a:p>
        </p:txBody>
      </p:sp>
      <p:sp>
        <p:nvSpPr>
          <p:cNvPr id="10" name="TextBox 9"/>
          <p:cNvSpPr txBox="1"/>
          <p:nvPr/>
        </p:nvSpPr>
        <p:spPr>
          <a:xfrm>
            <a:off x="566928" y="2331720"/>
            <a:ext cx="502920" cy="274320"/>
          </a:xfrm>
          <a:prstGeom prst="rect">
            <a:avLst/>
          </a:prstGeom>
          <a:noFill/>
        </p:spPr>
        <p:txBody>
          <a:bodyPr wrap="none">
            <a:spAutoFit/>
          </a:bodyPr>
          <a:lstStyle/>
          <a:p>
            <a:pPr>
              <a:defRPr sz="950" b="1">
                <a:solidFill>
                  <a:srgbClr val="003087"/>
                </a:solidFill>
              </a:defRPr>
            </a:pPr>
            <a:r>
              <a:t>03</a:t>
            </a:r>
          </a:p>
        </p:txBody>
      </p:sp>
      <p:sp>
        <p:nvSpPr>
          <p:cNvPr id="11" name="TextBox 10"/>
          <p:cNvSpPr txBox="1"/>
          <p:nvPr/>
        </p:nvSpPr>
        <p:spPr>
          <a:xfrm>
            <a:off x="1143000" y="2331720"/>
            <a:ext cx="9601200" cy="384048"/>
          </a:xfrm>
          <a:prstGeom prst="rect">
            <a:avLst/>
          </a:prstGeom>
          <a:noFill/>
        </p:spPr>
        <p:txBody>
          <a:bodyPr wrap="none">
            <a:spAutoFit/>
          </a:bodyPr>
          <a:lstStyle/>
          <a:p>
            <a:pPr>
              <a:defRPr sz="1260">
                <a:solidFill>
                  <a:srgbClr val="333333"/>
                </a:solidFill>
              </a:defRPr>
            </a:pPr>
            <a:r>
              <a:t>Section 3</a:t>
            </a:r>
          </a:p>
        </p:txBody>
      </p:sp>
      <p:sp>
        <p:nvSpPr>
          <p:cNvPr id="12" name="TextBox 11"/>
          <p:cNvSpPr txBox="1"/>
          <p:nvPr/>
        </p:nvSpPr>
        <p:spPr>
          <a:xfrm>
            <a:off x="566928" y="2788920"/>
            <a:ext cx="502920" cy="274320"/>
          </a:xfrm>
          <a:prstGeom prst="rect">
            <a:avLst/>
          </a:prstGeom>
          <a:noFill/>
        </p:spPr>
        <p:txBody>
          <a:bodyPr wrap="none">
            <a:spAutoFit/>
          </a:bodyPr>
          <a:lstStyle/>
          <a:p>
            <a:pPr>
              <a:defRPr sz="950" b="1">
                <a:solidFill>
                  <a:srgbClr val="003087"/>
                </a:solidFill>
              </a:defRPr>
            </a:pPr>
            <a:r>
              <a:t>04</a:t>
            </a:r>
          </a:p>
        </p:txBody>
      </p:sp>
      <p:sp>
        <p:nvSpPr>
          <p:cNvPr id="13" name="TextBox 12"/>
          <p:cNvSpPr txBox="1"/>
          <p:nvPr/>
        </p:nvSpPr>
        <p:spPr>
          <a:xfrm>
            <a:off x="1143000" y="2788920"/>
            <a:ext cx="9601200" cy="384048"/>
          </a:xfrm>
          <a:prstGeom prst="rect">
            <a:avLst/>
          </a:prstGeom>
          <a:noFill/>
        </p:spPr>
        <p:txBody>
          <a:bodyPr wrap="none">
            <a:spAutoFit/>
          </a:bodyPr>
          <a:lstStyle/>
          <a:p>
            <a:pPr>
              <a:defRPr sz="1260">
                <a:solidFill>
                  <a:srgbClr val="333333"/>
                </a:solidFill>
              </a:defRPr>
            </a:pPr>
            <a:r>
              <a:t>Section 4</a:t>
            </a:r>
          </a:p>
        </p:txBody>
      </p:sp>
      <p:sp>
        <p:nvSpPr>
          <p:cNvPr id="14" name="TextBox 13"/>
          <p:cNvSpPr txBox="1"/>
          <p:nvPr/>
        </p:nvSpPr>
        <p:spPr>
          <a:xfrm>
            <a:off x="566928" y="3246120"/>
            <a:ext cx="502920" cy="274320"/>
          </a:xfrm>
          <a:prstGeom prst="rect">
            <a:avLst/>
          </a:prstGeom>
          <a:noFill/>
        </p:spPr>
        <p:txBody>
          <a:bodyPr wrap="none">
            <a:spAutoFit/>
          </a:bodyPr>
          <a:lstStyle/>
          <a:p>
            <a:pPr>
              <a:defRPr sz="950" b="1">
                <a:solidFill>
                  <a:srgbClr val="003087"/>
                </a:solidFill>
              </a:defRPr>
            </a:pPr>
            <a:r>
              <a:t>05</a:t>
            </a:r>
          </a:p>
        </p:txBody>
      </p:sp>
      <p:sp>
        <p:nvSpPr>
          <p:cNvPr id="15" name="TextBox 14"/>
          <p:cNvSpPr txBox="1"/>
          <p:nvPr/>
        </p:nvSpPr>
        <p:spPr>
          <a:xfrm>
            <a:off x="1143000" y="3246120"/>
            <a:ext cx="9601200" cy="384048"/>
          </a:xfrm>
          <a:prstGeom prst="rect">
            <a:avLst/>
          </a:prstGeom>
          <a:noFill/>
        </p:spPr>
        <p:txBody>
          <a:bodyPr wrap="none">
            <a:spAutoFit/>
          </a:bodyPr>
          <a:lstStyle/>
          <a:p>
            <a:pPr>
              <a:defRPr sz="1260">
                <a:solidFill>
                  <a:srgbClr val="333333"/>
                </a:solidFill>
              </a:defRPr>
            </a:pPr>
            <a:r>
              <a:t>Section 5</a:t>
            </a:r>
          </a:p>
        </p:txBody>
      </p:sp>
      <p:sp>
        <p:nvSpPr>
          <p:cNvPr id="16" name="TextBox 15"/>
          <p:cNvSpPr txBox="1"/>
          <p:nvPr/>
        </p:nvSpPr>
        <p:spPr>
          <a:xfrm>
            <a:off x="566928" y="3703320"/>
            <a:ext cx="502920" cy="274320"/>
          </a:xfrm>
          <a:prstGeom prst="rect">
            <a:avLst/>
          </a:prstGeom>
          <a:noFill/>
        </p:spPr>
        <p:txBody>
          <a:bodyPr wrap="none">
            <a:spAutoFit/>
          </a:bodyPr>
          <a:lstStyle/>
          <a:p>
            <a:pPr>
              <a:defRPr sz="950" b="1">
                <a:solidFill>
                  <a:srgbClr val="003087"/>
                </a:solidFill>
              </a:defRPr>
            </a:pPr>
            <a:r>
              <a:t>06</a:t>
            </a:r>
          </a:p>
        </p:txBody>
      </p:sp>
      <p:sp>
        <p:nvSpPr>
          <p:cNvPr id="17" name="TextBox 16"/>
          <p:cNvSpPr txBox="1"/>
          <p:nvPr/>
        </p:nvSpPr>
        <p:spPr>
          <a:xfrm>
            <a:off x="1143000" y="3703320"/>
            <a:ext cx="9601200" cy="384048"/>
          </a:xfrm>
          <a:prstGeom prst="rect">
            <a:avLst/>
          </a:prstGeom>
          <a:noFill/>
        </p:spPr>
        <p:txBody>
          <a:bodyPr wrap="none">
            <a:spAutoFit/>
          </a:bodyPr>
          <a:lstStyle/>
          <a:p>
            <a:pPr>
              <a:defRPr sz="1260">
                <a:solidFill>
                  <a:srgbClr val="333333"/>
                </a:solidFill>
              </a:defRPr>
            </a:pPr>
            <a:r>
              <a:t>Section 6</a:t>
            </a:r>
          </a:p>
        </p:txBody>
      </p:sp>
      <p:sp>
        <p:nvSpPr>
          <p:cNvPr id="18" name="TextBox 17"/>
          <p:cNvSpPr txBox="1"/>
          <p:nvPr/>
        </p:nvSpPr>
        <p:spPr>
          <a:xfrm>
            <a:off x="566928" y="4160520"/>
            <a:ext cx="502920" cy="274320"/>
          </a:xfrm>
          <a:prstGeom prst="rect">
            <a:avLst/>
          </a:prstGeom>
          <a:noFill/>
        </p:spPr>
        <p:txBody>
          <a:bodyPr wrap="none">
            <a:spAutoFit/>
          </a:bodyPr>
          <a:lstStyle/>
          <a:p>
            <a:pPr>
              <a:defRPr sz="950" b="1">
                <a:solidFill>
                  <a:srgbClr val="003087"/>
                </a:solidFill>
              </a:defRPr>
            </a:pPr>
            <a:r>
              <a:t>07</a:t>
            </a:r>
          </a:p>
        </p:txBody>
      </p:sp>
      <p:sp>
        <p:nvSpPr>
          <p:cNvPr id="19" name="TextBox 18"/>
          <p:cNvSpPr txBox="1"/>
          <p:nvPr/>
        </p:nvSpPr>
        <p:spPr>
          <a:xfrm>
            <a:off x="1143000" y="4160520"/>
            <a:ext cx="9601200" cy="384048"/>
          </a:xfrm>
          <a:prstGeom prst="rect">
            <a:avLst/>
          </a:prstGeom>
          <a:noFill/>
        </p:spPr>
        <p:txBody>
          <a:bodyPr wrap="none">
            <a:spAutoFit/>
          </a:bodyPr>
          <a:lstStyle/>
          <a:p>
            <a:pPr>
              <a:defRPr sz="1260">
                <a:solidFill>
                  <a:srgbClr val="333333"/>
                </a:solidFill>
              </a:defRPr>
            </a:pPr>
            <a:r>
              <a:t>Section 7</a:t>
            </a:r>
          </a:p>
        </p:txBody>
      </p:sp>
      <p:sp>
        <p:nvSpPr>
          <p:cNvPr id="20" name="TextBox 19"/>
          <p:cNvSpPr txBox="1"/>
          <p:nvPr/>
        </p:nvSpPr>
        <p:spPr>
          <a:xfrm>
            <a:off x="566928" y="4617720"/>
            <a:ext cx="502920" cy="274320"/>
          </a:xfrm>
          <a:prstGeom prst="rect">
            <a:avLst/>
          </a:prstGeom>
          <a:noFill/>
        </p:spPr>
        <p:txBody>
          <a:bodyPr wrap="none">
            <a:spAutoFit/>
          </a:bodyPr>
          <a:lstStyle/>
          <a:p>
            <a:pPr>
              <a:defRPr sz="950" b="1">
                <a:solidFill>
                  <a:srgbClr val="003087"/>
                </a:solidFill>
              </a:defRPr>
            </a:pPr>
            <a:r>
              <a:t>08</a:t>
            </a:r>
          </a:p>
        </p:txBody>
      </p:sp>
      <p:sp>
        <p:nvSpPr>
          <p:cNvPr id="21" name="TextBox 20"/>
          <p:cNvSpPr txBox="1"/>
          <p:nvPr/>
        </p:nvSpPr>
        <p:spPr>
          <a:xfrm>
            <a:off x="1143000" y="4617720"/>
            <a:ext cx="9601200" cy="384048"/>
          </a:xfrm>
          <a:prstGeom prst="rect">
            <a:avLst/>
          </a:prstGeom>
          <a:noFill/>
        </p:spPr>
        <p:txBody>
          <a:bodyPr wrap="none">
            <a:spAutoFit/>
          </a:bodyPr>
          <a:lstStyle/>
          <a:p>
            <a:pPr>
              <a:defRPr sz="1260">
                <a:solidFill>
                  <a:srgbClr val="333333"/>
                </a:solidFill>
              </a:defRPr>
            </a:pPr>
            <a:r>
              <a:t>Section 8</a:t>
            </a:r>
          </a:p>
        </p:txBody>
      </p:sp>
      <p:sp>
        <p:nvSpPr>
          <p:cNvPr id="22" name="TextBox 21"/>
          <p:cNvSpPr txBox="1"/>
          <p:nvPr/>
        </p:nvSpPr>
        <p:spPr>
          <a:xfrm>
            <a:off x="566928" y="5074920"/>
            <a:ext cx="502920" cy="274320"/>
          </a:xfrm>
          <a:prstGeom prst="rect">
            <a:avLst/>
          </a:prstGeom>
          <a:noFill/>
        </p:spPr>
        <p:txBody>
          <a:bodyPr wrap="none">
            <a:spAutoFit/>
          </a:bodyPr>
          <a:lstStyle/>
          <a:p>
            <a:pPr>
              <a:defRPr sz="950" b="1">
                <a:solidFill>
                  <a:srgbClr val="003087"/>
                </a:solidFill>
              </a:defRPr>
            </a:pPr>
            <a:r>
              <a:t>09</a:t>
            </a:r>
          </a:p>
        </p:txBody>
      </p:sp>
      <p:sp>
        <p:nvSpPr>
          <p:cNvPr id="23" name="TextBox 22"/>
          <p:cNvSpPr txBox="1"/>
          <p:nvPr/>
        </p:nvSpPr>
        <p:spPr>
          <a:xfrm>
            <a:off x="1143000" y="5074920"/>
            <a:ext cx="9601200" cy="384048"/>
          </a:xfrm>
          <a:prstGeom prst="rect">
            <a:avLst/>
          </a:prstGeom>
          <a:noFill/>
        </p:spPr>
        <p:txBody>
          <a:bodyPr wrap="none">
            <a:spAutoFit/>
          </a:bodyPr>
          <a:lstStyle/>
          <a:p>
            <a:pPr>
              <a:defRPr sz="1260">
                <a:solidFill>
                  <a:srgbClr val="333333"/>
                </a:solidFill>
              </a:defRPr>
            </a:pPr>
            <a:r>
              <a:t>Section 9</a:t>
            </a:r>
          </a:p>
        </p:txBody>
      </p:sp>
      <p:sp>
        <p:nvSpPr>
          <p:cNvPr id="24" name="TextBox 23"/>
          <p:cNvSpPr txBox="1"/>
          <p:nvPr/>
        </p:nvSpPr>
        <p:spPr>
          <a:xfrm>
            <a:off x="566928" y="5532120"/>
            <a:ext cx="502920" cy="274320"/>
          </a:xfrm>
          <a:prstGeom prst="rect">
            <a:avLst/>
          </a:prstGeom>
          <a:noFill/>
        </p:spPr>
        <p:txBody>
          <a:bodyPr wrap="none">
            <a:spAutoFit/>
          </a:bodyPr>
          <a:lstStyle/>
          <a:p>
            <a:pPr>
              <a:defRPr sz="950" b="1">
                <a:solidFill>
                  <a:srgbClr val="003087"/>
                </a:solidFill>
              </a:defRPr>
            </a:pPr>
            <a:r>
              <a:t>10</a:t>
            </a:r>
          </a:p>
        </p:txBody>
      </p:sp>
      <p:sp>
        <p:nvSpPr>
          <p:cNvPr id="25" name="TextBox 24"/>
          <p:cNvSpPr txBox="1"/>
          <p:nvPr/>
        </p:nvSpPr>
        <p:spPr>
          <a:xfrm>
            <a:off x="1143000" y="5532120"/>
            <a:ext cx="9601200" cy="384048"/>
          </a:xfrm>
          <a:prstGeom prst="rect">
            <a:avLst/>
          </a:prstGeom>
          <a:noFill/>
        </p:spPr>
        <p:txBody>
          <a:bodyPr wrap="none">
            <a:spAutoFit/>
          </a:bodyPr>
          <a:lstStyle/>
          <a:p>
            <a:pPr>
              <a:defRPr sz="1260">
                <a:solidFill>
                  <a:srgbClr val="333333"/>
                </a:solidFill>
              </a:defRPr>
            </a:pPr>
            <a:r>
              <a:t>Section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highlights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analysis narrows the agenda to a focused set of management priorities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81328"/>
            <a:ext cx="438912" cy="201168"/>
          </a:xfrm>
          <a:prstGeom prst="rect">
            <a:avLst/>
          </a:prstGeom>
          <a:noFill/>
        </p:spPr>
        <p:txBody>
          <a:bodyPr wrap="none">
            <a:spAutoFit/>
          </a:bodyPr>
          <a:lstStyle/>
          <a:p>
            <a:pPr>
              <a:defRPr sz="900" b="1">
                <a:solidFill>
                  <a:srgbClr val="003087"/>
                </a:solidFill>
              </a:defRPr>
            </a:pPr>
            <a:r>
              <a:t>01</a:t>
            </a:r>
          </a:p>
        </p:txBody>
      </p:sp>
      <p:sp>
        <p:nvSpPr>
          <p:cNvPr id="9" name="TextBox 8"/>
          <p:cNvSpPr txBox="1"/>
          <p:nvPr/>
        </p:nvSpPr>
        <p:spPr>
          <a:xfrm>
            <a:off x="1207008" y="1499616"/>
            <a:ext cx="4590288" cy="704088"/>
          </a:xfrm>
          <a:prstGeom prst="rect">
            <a:avLst/>
          </a:prstGeom>
          <a:noFill/>
        </p:spPr>
        <p:txBody>
          <a:bodyPr wrap="square">
            <a:spAutoFit/>
          </a:bodyPr>
          <a:lstStyle/>
          <a:p>
            <a:pPr>
              <a:defRPr sz="770">
                <a:solidFill>
                  <a:srgbClr val="333333"/>
                </a:solidFill>
              </a:defRPr>
            </a:pPr>
            <a:r>
              <a:t>Nuclear fusion, long considered the 'holy grail' of energy, is transitioning from pure science to an engineering challenge with a credi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1</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1</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Nuclear fusion technology has made remarkable strides in the past decade, transitioning from theoretical physics to engineering prototypes. Multiple reactor designs—tokamaks, stellarators, inertial confinement, and novel approaches like magnetized target fusio</a:t>
            </a:r>
          </a:p>
          <a:p>
            <a:pPr>
              <a:spcAft>
                <a:spcPts val="600"/>
              </a:spcAft>
              <a:defRPr sz="819">
                <a:solidFill>
                  <a:srgbClr val="333333"/>
                </a:solidFill>
              </a:defRPr>
            </a:pPr>
            <a:r>
              <a:t>The international flagship project ITER, under construction in France, aims to produce 500 MW of fusion power from 50 MW of input by 2035, though repeated delays and cost overruns have pushed its first plasma target to 2035. Meanwhile, private companies are pu</a:t>
            </a:r>
          </a:p>
          <a:p>
            <a:pPr>
              <a:spcAft>
                <a:spcPts val="600"/>
              </a:spcAft>
              <a:defRPr sz="819">
                <a:solidFill>
                  <a:srgbClr val="333333"/>
                </a:solidFill>
              </a:defRPr>
            </a:pPr>
            <a:r>
              <a:t>Key technical challenges persist: achieving stable plasma confinement for extended periods, developing materials that can withstand extreme neutron fluxes, and ensuring a reliable tritium fuel supply. Tritium breeding—producing tritium within the reactor blank</a:t>
            </a:r>
          </a:p>
        </p:txBody>
      </p:sp>
      <p:pic>
        <p:nvPicPr>
          <p:cNvPr id="7" name="Picture 6" descr="image-1.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2</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2</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levelized cost of energy (LCOE) for fusion is highly uncertain, with estimates ranging from $50 to $150 per MWh for first-of-a-kind plants, potentially falling to $30–$60 per MWh for mature plants. This compares to $20–$40 per MWh for solar and wind (with</a:t>
            </a:r>
          </a:p>
          <a:p>
            <a:pPr>
              <a:spcAft>
                <a:spcPts val="600"/>
              </a:spcAft>
              <a:defRPr sz="819">
                <a:solidFill>
                  <a:srgbClr val="333333"/>
                </a:solidFill>
              </a:defRPr>
            </a:pPr>
            <a:r>
              <a:t>Capital expenditure for a commercial fusion plant is projected at $5–$10 billion for the first units, similar to fission reactors, but could decline with standardization and learning. Operational costs are expected to be low due to abundant fuel (deuterium and</a:t>
            </a:r>
          </a:p>
          <a:p>
            <a:pPr>
              <a:spcAft>
                <a:spcPts val="600"/>
              </a:spcAft>
              <a:defRPr sz="819">
                <a:solidFill>
                  <a:srgbClr val="333333"/>
                </a:solidFill>
              </a:defRPr>
            </a:pPr>
            <a:r>
              <a:t>Market demand for fusion will be shaped by the pace of renewable deployment, grid stability needs, and decarbonization targets. Fusion's baseload, dispatchable power could complement intermittent renewables, but it must compete with fission, natural gas with c</a:t>
            </a:r>
          </a:p>
        </p:txBody>
      </p:sp>
      <p:pic>
        <p:nvPicPr>
          <p:cNvPr id="7" name="Picture 6" descr="image-2.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3</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3</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Fusion energy offers the promise of near-limitless, carbon-free power with minimal fuel cost and no long-lived radioactive waste. This could fundamentally alter energy security for nations that develop or license fusion technology, reducing dependence on fossi</a:t>
            </a:r>
          </a:p>
          <a:p>
            <a:pPr>
              <a:spcAft>
                <a:spcPts val="600"/>
              </a:spcAft>
              <a:defRPr sz="819">
                <a:solidFill>
                  <a:srgbClr val="333333"/>
                </a:solidFill>
              </a:defRPr>
            </a:pPr>
            <a:r>
              <a:t>The geopolitical landscape could shift as fusion reduces the strategic importance of oil and gas reserves. Energy-importing nations like Japan and South Korea could achieve energy independence, while fossil fuel exporters may face declining revenues. However,</a:t>
            </a:r>
          </a:p>
          <a:p>
            <a:pPr>
              <a:spcAft>
                <a:spcPts val="600"/>
              </a:spcAft>
              <a:defRPr sz="819">
                <a:solidFill>
                  <a:srgbClr val="333333"/>
                </a:solidFill>
              </a:defRPr>
            </a:pPr>
            <a:r>
              <a:t>Fusion's role in decarbonization is significant: it could provide baseload power to complement renewables, enabling deep decarbonization of electricity and hard-to-abate sectors like heavy industry and hydrogen production. However, fusion is not a silver bulle</a:t>
            </a:r>
          </a:p>
        </p:txBody>
      </p:sp>
      <p:pic>
        <p:nvPicPr>
          <p:cNvPr id="7" name="Picture 6" descr="image-3.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4</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4</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Private investment in fusion has surged, with over $5 billion raised since 2020 from venture capital, corporate investors, and high-net-worth individuals. Notable deals include Commonwealth Fusion Systems' $2 billion round, Helion Energy's $500 million from Mi</a:t>
            </a:r>
          </a:p>
          <a:p>
            <a:pPr>
              <a:spcAft>
                <a:spcPts val="600"/>
              </a:spcAft>
              <a:defRPr sz="819">
                <a:solidFill>
                  <a:srgbClr val="333333"/>
                </a:solidFill>
              </a:defRPr>
            </a:pPr>
            <a:r>
              <a:t>Public funding remains critical, with governments committing billions to ITER, national programs, and domestic fusion initiatives. The U.S. Department of Energy's Fusion Energy Sciences program has a budget of over $1 billion annually, while China's fusion bud</a:t>
            </a:r>
          </a:p>
          <a:p>
            <a:pPr>
              <a:spcAft>
                <a:spcPts val="600"/>
              </a:spcAft>
              <a:defRPr sz="819">
                <a:solidFill>
                  <a:srgbClr val="333333"/>
                </a:solidFill>
              </a:defRPr>
            </a:pPr>
            <a:r>
              <a:t>The regulatory environment is evolving: the U.S. Nuclear Regulatory Commission is developing a licensing framework for fusion reactors, distinct from fission regulations. The UK and Canada have also initiated regulatory reviews. Clear, predictable rules will b</a:t>
            </a:r>
          </a:p>
        </p:txBody>
      </p:sp>
      <p:pic>
        <p:nvPicPr>
          <p:cNvPr id="7" name="Picture 6" descr="image-4.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5</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5</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Technical risk remains the most significant: fusion may fail to achieve sustained net energy gain at commercial scale, or materials may not withstand the extreme conditions inside a reactor. The history of ITER—with its repeated delays and cost overruns—serves</a:t>
            </a:r>
          </a:p>
          <a:p>
            <a:pPr>
              <a:spcAft>
                <a:spcPts val="600"/>
              </a:spcAft>
              <a:defRPr sz="819">
                <a:solidFill>
                  <a:srgbClr val="333333"/>
                </a:solidFill>
              </a:defRPr>
            </a:pPr>
            <a:r>
              <a:t>Economic risk is equally daunting. First-of-a-kind fusion plants could cost $10–$20 billion, and if LCOE does not fall to competitive levels, market adoption will be limited. The rapid decline in renewable costs and improvements in energy storage could erode f</a:t>
            </a:r>
          </a:p>
          <a:p>
            <a:pPr>
              <a:spcAft>
                <a:spcPts val="600"/>
              </a:spcAft>
              <a:defRPr sz="819">
                <a:solidFill>
                  <a:srgbClr val="333333"/>
                </a:solidFill>
              </a:defRPr>
            </a:pPr>
            <a:r>
              <a:t>Geopolitical and regulatory risks add further uncertainty. Technology nationalism could lead to export controls on critical components, fragmenting supply chains and slowing global deployment. The lack of established licensing frameworks for fusion reactors co</a:t>
            </a:r>
          </a:p>
        </p:txBody>
      </p:sp>
      <p:pic>
        <p:nvPicPr>
          <p:cNvPr id="7" name="Picture 6" descr="image-5.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6</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6</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promise of virtually unlimited clean energy has drawn unprecedented private capital into fusion startups. Since 2020, over $5 billion has been invested, with major rounds from Commonwealth Fusion Systems, Helion Energy, TAE Technologies, and others. This i</a:t>
            </a:r>
          </a:p>
          <a:p>
            <a:pPr>
              <a:spcAft>
                <a:spcPts val="600"/>
              </a:spcAft>
              <a:defRPr sz="819">
                <a:solidFill>
                  <a:srgbClr val="333333"/>
                </a:solidFill>
              </a:defRPr>
            </a:pPr>
            <a:r>
              <a:t>Private investors are attracted by the potential for outsized returns if fusion succeeds, but they also bring a culture of rapid iteration and cost discipline that contrasts with the slower pace of public projects. Many startups are targeting smaller, cheaper</a:t>
            </a:r>
          </a:p>
          <a:p>
            <a:pPr>
              <a:spcAft>
                <a:spcPts val="600"/>
              </a:spcAft>
              <a:defRPr sz="819">
                <a:solidFill>
                  <a:srgbClr val="333333"/>
                </a:solidFill>
              </a:defRPr>
            </a:pPr>
            <a:r>
              <a:t>The involvement of corporate investors like Microsoft, Google, and Chevron signals that major energy consumers see fusion as a strategic hedge. These partnerships provide not only capital but also expertise in grid integration, project finance, and regulatory</a:t>
            </a:r>
          </a:p>
        </p:txBody>
      </p:sp>
      <p:pic>
        <p:nvPicPr>
          <p:cNvPr id="7" name="Picture 6" descr="image-6.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7</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7</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ITER, the world's largest fusion experiment, has been plagued by schedule slips and cost overruns since its inception. Originally expected to achieve first plasma in 2020, the project now targets 2035, with total costs estimated at over $20 billion. The delays</a:t>
            </a:r>
          </a:p>
          <a:p>
            <a:pPr>
              <a:spcAft>
                <a:spcPts val="600"/>
              </a:spcAft>
              <a:defRPr sz="819">
                <a:solidFill>
                  <a:srgbClr val="333333"/>
                </a:solidFill>
              </a:defRPr>
            </a:pPr>
            <a:r>
              <a:t>Despite these setbacks, ITER remains a critical milestone for fusion science. It will be the first device to produce net energy gain (Q&gt;10) and will test key technologies like tritium breeding and remote handling. Lessons from ITER are informing next-generatio</a:t>
            </a:r>
          </a:p>
          <a:p>
            <a:pPr>
              <a:spcAft>
                <a:spcPts val="600"/>
              </a:spcAft>
              <a:defRPr sz="819">
                <a:solidFill>
                  <a:srgbClr val="333333"/>
                </a:solidFill>
              </a:defRPr>
            </a:pPr>
            <a:r>
              <a:t>The contrast between ITER's timeline and private sector promises highlights a fundamental tension in fusion development: the need for rigorous scientific validation versus the desire for rapid commercialization. Decision-makers should view ITER as a long-term</a:t>
            </a:r>
          </a:p>
        </p:txBody>
      </p:sp>
      <p:pic>
        <p:nvPicPr>
          <p:cNvPr id="7" name="Picture 6" descr="image-7.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8</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8</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advent of commercial fusion could fundamentally alter global energy dynamics. Nations that develop or license fusion technology would gain energy independence, reducing their vulnerability to fossil fuel price shocks and supply disruptions. This is particu</a:t>
            </a:r>
          </a:p>
          <a:p>
            <a:pPr>
              <a:spcAft>
                <a:spcPts val="600"/>
              </a:spcAft>
              <a:defRPr sz="819">
                <a:solidFill>
                  <a:srgbClr val="333333"/>
                </a:solidFill>
              </a:defRPr>
            </a:pPr>
            <a:r>
              <a:t>Fusion could also reduce the strategic importance of fossil fuel reserves, potentially diminishing the geopolitical influence of major exporters like Russia, Saudi Arabia, and the United States. However, the transition would be gradual, and fossil fuels will r</a:t>
            </a:r>
          </a:p>
          <a:p>
            <a:pPr>
              <a:spcAft>
                <a:spcPts val="600"/>
              </a:spcAft>
              <a:defRPr sz="819">
                <a:solidFill>
                  <a:srgbClr val="333333"/>
                </a:solidFill>
              </a:defRPr>
            </a:pPr>
            <a:r>
              <a:t>The dual-use nature of fusion technology—with potential applications in nuclear weapons—raises non-proliferation concerns. Tritium, a key fuel, can be used to boost fission weapons, and fusion expertise could be diverted to weapons programs. International safe</a:t>
            </a:r>
          </a:p>
        </p:txBody>
      </p:sp>
      <p:pic>
        <p:nvPicPr>
          <p:cNvPr id="7" name="Picture 6" descr="image-8.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9</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9</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Tritium, a radioactive isotope of hydrogen, is a key fuel for most fusion reactor designs. It is produced in small quantities in fission reactors and is also generated naturally in the atmosphere, but current global supply is only about 20 kilograms per year—f</a:t>
            </a:r>
          </a:p>
          <a:p>
            <a:pPr>
              <a:spcAft>
                <a:spcPts val="600"/>
              </a:spcAft>
              <a:defRPr sz="819">
                <a:solidFill>
                  <a:srgbClr val="333333"/>
                </a:solidFill>
              </a:defRPr>
            </a:pPr>
            <a:r>
              <a:t>Tritium breeding involves surrounding the fusion plasma with a blanket of lithium that absorbs neutrons and produces tritium. This technology has been demonstrated in laboratory settings but not at the scale or efficiency required for a commercial reactor. ITE</a:t>
            </a:r>
          </a:p>
          <a:p>
            <a:pPr>
              <a:spcAft>
                <a:spcPts val="600"/>
              </a:spcAft>
              <a:defRPr sz="819">
                <a:solidFill>
                  <a:srgbClr val="333333"/>
                </a:solidFill>
              </a:defRPr>
            </a:pPr>
            <a:r>
              <a:t>The tritium bottleneck poses a significant risk to fusion timelines. Without a proven breeding technology, fusion reactors would depend on external tritium supply, which is limited and expensive. This could delay commercialization and increase costs. Research</a:t>
            </a:r>
          </a:p>
        </p:txBody>
      </p:sp>
      <p:pic>
        <p:nvPicPr>
          <p:cNvPr id="7" name="Picture 6" descr="image-9.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10</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10</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Given the long timelines and high uncertainties, decision-makers should adopt a staged investment strategy that balances risk and reward. In the near term (2025–2030), focus on monitoring technical milestones: net energy gain demonstrations (e.g., SPARC), prog</a:t>
            </a:r>
          </a:p>
          <a:p>
            <a:pPr>
              <a:spcAft>
                <a:spcPts val="600"/>
              </a:spcAft>
              <a:defRPr sz="819">
                <a:solidFill>
                  <a:srgbClr val="333333"/>
                </a:solidFill>
              </a:defRPr>
            </a:pPr>
            <a:r>
              <a:t>In the medium term (2030–2040), as demonstration plants come online, evaluate the economic competitiveness of fusion relative to other low-carbon technologies. Engage with regulators to shape licensing frameworks and ensure that fusion is treated appropriately</a:t>
            </a:r>
          </a:p>
          <a:p>
            <a:pPr>
              <a:spcAft>
                <a:spcPts val="600"/>
              </a:spcAft>
              <a:defRPr sz="819">
                <a:solidFill>
                  <a:srgbClr val="333333"/>
                </a:solidFill>
              </a:defRPr>
            </a:pPr>
            <a:r>
              <a:t>In the long term (2040+), if fusion proves viable, position your organization to be an early adopter or supplier. This may involve investing in fusion plant construction, developing fusion-powered industrial processes, or securing access to fuel supplies. Give</a:t>
            </a:r>
          </a:p>
        </p:txBody>
      </p:sp>
      <p:pic>
        <p:nvPicPr>
          <p:cNvPr id="7" name="Picture 6" descr="image-10.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1: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1: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1.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2: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2: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2.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3: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3: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3.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4: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4: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4.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5: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5: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5.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6: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6: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6.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Closing</a:t>
            </a:r>
          </a:p>
        </p:txBody>
      </p:sp>
      <p:pic>
        <p:nvPicPr>
          <p:cNvPr id="4" name="Picture 3" descr="cover-ai.png"/>
          <p:cNvPicPr>
            <a:picLocks noChangeAspect="1"/>
          </p:cNvPicPr>
          <p:nvPr/>
        </p:nvPicPr>
        <p:blipFill>
          <a:blip r:embed="rId2"/>
          <a:stretch>
            <a:fillRect/>
          </a:stretch>
        </p:blipFill>
        <p:spPr>
          <a:xfrm>
            <a:off x="6583680" y="1051560"/>
            <a:ext cx="5074920" cy="4800600"/>
          </a:xfrm>
          <a:prstGeom prst="rect">
            <a:avLst/>
          </a:prstGeom>
        </p:spPr>
      </p:pic>
      <p:sp>
        <p:nvSpPr>
          <p:cNvPr id="5" name="TextBox 4"/>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step is to convert the research into a short list of decisions</a:t>
            </a:r>
          </a:p>
        </p:txBody>
      </p:sp>
      <p:sp>
        <p:nvSpPr>
          <p:cNvPr id="6" name="Rectangle 5"/>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63040"/>
            <a:ext cx="5715000" cy="2926080"/>
          </a:xfrm>
          <a:prstGeom prst="rect">
            <a:avLst/>
          </a:prstGeom>
          <a:noFill/>
        </p:spPr>
        <p:txBody>
          <a:bodyPr wrap="square">
            <a:spAutoFit/>
          </a:bodyPr>
          <a:lstStyle/>
          <a:p>
            <a:pPr>
              <a:defRPr sz="1500">
                <a:solidFill>
                  <a:srgbClr val="003087"/>
                </a:solidFill>
              </a:defRPr>
            </a:pPr>
            <a:r>
              <a:t>A BlueOcean Research Report for Senior Decision-Makers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