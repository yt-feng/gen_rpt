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685800"/>
            <a:ext cx="4892040" cy="3429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685800"/>
            <a:ext cx="4892040" cy="73152"/>
          </a:xfrm>
          <a:prstGeom prst="rect">
            <a:avLst/>
          </a:prstGeom>
          <a:solidFill>
            <a:srgbClr val="327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960120"/>
            <a:ext cx="4251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3087"/>
                </a:solidFill>
              </a:defRPr>
            </a:pPr>
            <a:r>
              <a:t>BLUEOCEAN</a:t>
            </a:r>
          </a:p>
          <a:p>
            <a:pPr>
              <a:spcBef>
                <a:spcPts val="1800"/>
              </a:spcBef>
              <a:defRPr sz="2300">
                <a:solidFill>
                  <a:srgbClr val="333333"/>
                </a:solidFill>
              </a:defRPr>
            </a:pPr>
            <a:r>
              <a:t>China's Vanadium Redox Flow Battery Industry: Global Leadership and the Strategic Position of Dali Energy</a:t>
            </a:r>
          </a:p>
          <a:p>
            <a:pPr>
              <a:spcBef>
                <a:spcPts val="1400"/>
              </a:spcBef>
              <a:defRPr sz="950">
                <a:solidFill>
                  <a:srgbClr val="64696E"/>
                </a:solidFill>
              </a:defRPr>
            </a:pPr>
            <a:r>
              <a:t>A Client-Ready BlueOcean Research Report on Technological, Manufacturing, and Market Dominance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The discussion follows the management question, evidence, and implications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3087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60">
                <a:solidFill>
                  <a:srgbClr val="333333"/>
                </a:solidFill>
              </a:defRPr>
            </a:pPr>
            <a:r>
              <a:t>China's VRFB Industry Has Achieved Global Leadership in Manufacturing Scale and Cost Efficiency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2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3087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74520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60">
                <a:solidFill>
                  <a:srgbClr val="333333"/>
                </a:solidFill>
              </a:defRPr>
            </a:pPr>
            <a:r>
              <a:t>Dali Energy Storage's Proprietary Technology and Production Capacity Position It as a Top Global Contender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3087"/>
                </a:solidFill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31720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60">
                <a:solidFill>
                  <a:srgbClr val="333333"/>
                </a:solidFill>
              </a:defRPr>
            </a:pPr>
            <a:r>
              <a:t>Chinese Government Policies Provide a Strong Tailwind for Domestic VRFB Deployment and 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8892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3087"/>
                </a:solidFill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88920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60">
                <a:solidFill>
                  <a:srgbClr val="333333"/>
                </a:solidFill>
              </a:defRPr>
            </a:pPr>
            <a:r>
              <a:t>Technological Innovation in China Is Closing Gaps in Efficiency and Cycle Life with Global Leaders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24612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3087"/>
                </a:solidFill>
              </a:defRPr>
            </a:pPr>
            <a: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246120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60">
                <a:solidFill>
                  <a:srgbClr val="333333"/>
                </a:solidFill>
              </a:defRPr>
            </a:pPr>
            <a:r>
              <a:t>Cost Advantages Are Driven by Vertical Integration and Access to Vanadium Resources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70332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3087"/>
                </a:solidFill>
              </a:defRPr>
            </a:pPr>
            <a: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703320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60">
                <a:solidFill>
                  <a:srgbClr val="333333"/>
                </a:solidFill>
              </a:defRPr>
            </a:pPr>
            <a:r>
              <a:t>Global Market Share Data Confirms China's Dominant Position in New Installations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16052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3087"/>
                </a:solidFill>
              </a:defRPr>
            </a:pPr>
            <a: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160520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60">
                <a:solidFill>
                  <a:srgbClr val="333333"/>
                </a:solidFill>
              </a:defRPr>
            </a:pPr>
            <a:r>
              <a:t>International Partnerships and Market Access Remain Challenges Due to Trade Barriers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61772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3087"/>
                </a:solidFill>
              </a:defRPr>
            </a:pPr>
            <a: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617720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60">
                <a:solidFill>
                  <a:srgbClr val="333333"/>
                </a:solidFill>
              </a:defRPr>
            </a:pPr>
            <a:r>
              <a:t>Competitors Like Sumitomo Electric and Invinity Are Strong in Niche Markets but Lack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07492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03087"/>
                </a:solidFill>
              </a:defRPr>
            </a:pPr>
            <a:r>
              <a:t>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074920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60">
                <a:solidFill>
                  <a:srgbClr val="333333"/>
                </a:solidFill>
              </a:defRPr>
            </a:pPr>
            <a:r>
              <a:t>Recommendations for Dali to Maintain Leadership: Invest in Next-Gen Membranes, Expand Overseas Partnerships, 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Key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The analysis narrows the agenda to a focused set of management priorities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89888"/>
            <a:ext cx="5394960" cy="86868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89888"/>
            <a:ext cx="54864" cy="868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81328"/>
            <a:ext cx="43891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3087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499616"/>
            <a:ext cx="4590288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70">
                <a:solidFill>
                  <a:srgbClr val="333333"/>
                </a:solidFill>
              </a:defRPr>
            </a:pPr>
            <a:r>
              <a:t>China's VRFB industry has achieved global leadership in manufacturing scale and cost efficiency, driven by vertical integration and pol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1389888"/>
            <a:ext cx="5394960" cy="86868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63056" y="1389888"/>
            <a:ext cx="54864" cy="868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481328"/>
            <a:ext cx="43891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3087"/>
                </a:solidFill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03136" y="1499616"/>
            <a:ext cx="4590288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70">
                <a:solidFill>
                  <a:srgbClr val="333333"/>
                </a:solidFill>
              </a:defRPr>
            </a:pPr>
            <a:r>
              <a:t>Dali Energy Storage is a key player with proprietary technology and significant production capacity, positioning it as a top contender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04872"/>
            <a:ext cx="5394960" cy="86868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2404872"/>
            <a:ext cx="54864" cy="868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96312"/>
            <a:ext cx="43891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3087"/>
                </a:solidFill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2514600"/>
            <a:ext cx="4590288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70">
                <a:solidFill>
                  <a:srgbClr val="333333"/>
                </a:solidFill>
              </a:defRPr>
            </a:pPr>
            <a:r>
              <a:t>Chinese government policies, including the 14th Five-Year Plan targeting 30 GW of new energy storage, provide a strong tailwind for dom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3056" y="2404872"/>
            <a:ext cx="5394960" cy="86868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3056" y="2404872"/>
            <a:ext cx="54864" cy="868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496312"/>
            <a:ext cx="43891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3087"/>
                </a:solidFill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03136" y="2514600"/>
            <a:ext cx="4590288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70">
                <a:solidFill>
                  <a:srgbClr val="333333"/>
                </a:solidFill>
              </a:defRPr>
            </a:pPr>
            <a:r>
              <a:t>Technological innovation in China is closing gaps in efficiency and cycle life with global leaders, with Dali achieving 85% round-trip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419856"/>
            <a:ext cx="5394960" cy="86868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419856"/>
            <a:ext cx="54864" cy="868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511296"/>
            <a:ext cx="43891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3087"/>
                </a:solidFill>
              </a:defRPr>
            </a:pPr>
            <a: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8" y="3529584"/>
            <a:ext cx="4590288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70">
                <a:solidFill>
                  <a:srgbClr val="333333"/>
                </a:solidFill>
              </a:defRPr>
            </a:pPr>
            <a:r>
              <a:t>Cost advantages are driven by vertical integration and access to vanadium resources, yielding 20-30% lower levelized cost of storage (L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63056" y="3419856"/>
            <a:ext cx="5394960" cy="86868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63056" y="3419856"/>
            <a:ext cx="54864" cy="868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511296"/>
            <a:ext cx="43891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3087"/>
                </a:solidFill>
              </a:defRPr>
            </a:pPr>
            <a: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03136" y="3529584"/>
            <a:ext cx="4590288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70">
                <a:solidFill>
                  <a:srgbClr val="333333"/>
                </a:solidFill>
              </a:defRPr>
            </a:pPr>
            <a:r>
              <a:t>Global market share data confirms China's dominant position in new installations, accounting for over 40% of global VRFB capacity in 20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434840"/>
            <a:ext cx="5394960" cy="86868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4434840"/>
            <a:ext cx="54864" cy="868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4526280"/>
            <a:ext cx="43891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3087"/>
                </a:solidFill>
              </a:defRPr>
            </a:pPr>
            <a: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7008" y="4544568"/>
            <a:ext cx="4590288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70">
                <a:solidFill>
                  <a:srgbClr val="333333"/>
                </a:solidFill>
              </a:defRPr>
            </a:pPr>
            <a:r>
              <a:t>International partnerships and market access remain challenges due to trade barriers, but strategic moves can mitigate these risks.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63056" y="4434840"/>
            <a:ext cx="5394960" cy="86868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63056" y="4434840"/>
            <a:ext cx="54864" cy="868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4526280"/>
            <a:ext cx="43891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3087"/>
                </a:solidFill>
              </a:defRPr>
            </a:pPr>
            <a: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03136" y="4544568"/>
            <a:ext cx="4590288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70">
                <a:solidFill>
                  <a:srgbClr val="333333"/>
                </a:solidFill>
              </a:defRPr>
            </a:pPr>
            <a:r>
              <a:t>Recommendations for Dali to maintain leadership include investing in next-gen membranes, expanding overseas partnerships, and leveragin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China's VRFB Industry Has Achieved Global Leadership in Manufacturing Scale and Cost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China's VRFB Industry Has Achieved Global Leadership in Manufacturing Scale and Cost Efficiency</a:t>
            </a:r>
          </a:p>
          <a:p>
            <a:pPr>
              <a:defRPr sz="830">
                <a:solidFill>
                  <a:srgbClr val="64696E"/>
                </a:solidFill>
              </a:defRPr>
            </a:pPr>
            <a:r>
              <a:t>China's VRFB industry has rapidly scaled to become the world's largest, driven by government support and vertical integration.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4892040" cy="43159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China's VRFB manufacturing capacity has grown exponentially, reaching over 5 GW/year in 2024, far exceeding any other country. This scale is supported by a robust supply chain for vanadium, electrolytes, and stack components, with domestic vanadium production</a:t>
            </a:r>
          </a:p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Cost efficiency is a hallmark of Chinese VRFB production. Levelized cost of storage (LCOS) for Chinese systems is estimated at $0.08-0.12/kWh, compared to $0.15-0.20/kWh for global peers, a 20-30% advantage. This is achieved through lower labor costs, economie</a:t>
            </a:r>
          </a:p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Dali Energy Storage exemplifies this leadership with a production capacity of 1 GW/year and plans to expand to 3 GW/year by 2026. Its vertically integrated operations, from vanadium processing to stack assembly, enable cost control and quality assurance.</a:t>
            </a:r>
          </a:p>
          <a:p>
            <a:pPr>
              <a:spcBef>
                <a:spcPts val="600"/>
              </a:spcBef>
              <a:defRPr sz="819" b="1">
                <a:solidFill>
                  <a:srgbClr val="003087"/>
                </a:solidFill>
              </a:defRPr>
            </a:pPr>
            <a:r>
              <a:t>Key implications</a:t>
            </a:r>
          </a:p>
          <a:p>
            <a:pPr>
              <a:defRPr sz="730">
                <a:solidFill>
                  <a:srgbClr val="333333"/>
                </a:solidFill>
              </a:defRPr>
            </a:pPr>
            <a:r>
              <a:t>- China's VRFB manufacturing capacity is the largest globally, at over 5 GW/year.</a:t>
            </a:r>
          </a:p>
          <a:p>
            <a:pPr>
              <a:defRPr sz="730">
                <a:solidFill>
                  <a:srgbClr val="333333"/>
                </a:solidFill>
              </a:defRPr>
            </a:pPr>
            <a:r>
              <a:t>- LCOS for Chinese VRFBs is 20-30% lower than global competitors.</a:t>
            </a:r>
          </a:p>
        </p:txBody>
      </p:sp>
      <p:pic>
        <p:nvPicPr>
          <p:cNvPr id="7" name="Picture 6" descr="char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71600"/>
            <a:ext cx="5650992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Dali Energy Storage's Proprietary Technology and Production Capacity Position It as a Top Global Contender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Dali Energy Storage's Proprietary Technology and Production Capacity Position It as a Top Global Contender</a:t>
            </a:r>
          </a:p>
          <a:p>
            <a:pPr>
              <a:defRPr sz="830">
                <a:solidFill>
                  <a:srgbClr val="64696E"/>
                </a:solidFill>
              </a:defRPr>
            </a:pPr>
            <a:r>
              <a:t>Dali Energy Storage has developed proprietary technology that enhances efficiency and reliability, making it a strong competitor.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4892040" cy="43159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Dali's VRFB technology features a proprietary membrane and stack design that achieves 85% round-trip efficiency, comparable to the best global systems. The company has invested heavily in R&amp;D, with over 200 patents filed in China and internationally.</a:t>
            </a:r>
          </a:p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Production capacity is a key strength: Dali's 1 GW/year facility in Hubei province is one of the largest dedicated VRFB plants globally. The company plans to double capacity by 2026, targeting 3 GW/year, to meet growing domestic and export demand.</a:t>
            </a:r>
          </a:p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Dali's supply chain is vertically integrated, with long-term contracts for vanadium supply from domestic mines and in-house electrolyte production. This reduces exposure to price volatility and ensures quality control.</a:t>
            </a:r>
          </a:p>
          <a:p>
            <a:pPr>
              <a:spcBef>
                <a:spcPts val="600"/>
              </a:spcBef>
              <a:defRPr sz="819" b="1">
                <a:solidFill>
                  <a:srgbClr val="003087"/>
                </a:solidFill>
              </a:defRPr>
            </a:pPr>
            <a:r>
              <a:t>Key implications</a:t>
            </a:r>
          </a:p>
          <a:p>
            <a:pPr>
              <a:defRPr sz="730">
                <a:solidFill>
                  <a:srgbClr val="333333"/>
                </a:solidFill>
              </a:defRPr>
            </a:pPr>
            <a:r>
              <a:t>- Dali's proprietary technology achieves 85% round-trip efficiency, on par with global leaders.</a:t>
            </a:r>
          </a:p>
          <a:p>
            <a:pPr>
              <a:defRPr sz="730">
                <a:solidFill>
                  <a:srgbClr val="333333"/>
                </a:solidFill>
              </a:defRPr>
            </a:pPr>
            <a:r>
              <a:t>- Production capacity of 1 GW/year, with plans to expand to 3 GW/year by 2026.</a:t>
            </a:r>
          </a:p>
        </p:txBody>
      </p:sp>
      <p:pic>
        <p:nvPicPr>
          <p:cNvPr id="7" name="Picture 6" descr="chart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71600"/>
            <a:ext cx="5650992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Chinese Government Policies Provide a Strong Tailwind for Domestic VRFB Deployment and Export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Chinese Government Policies Provide a Strong Tailwind for Domestic VRFB Deployment and Export</a:t>
            </a:r>
          </a:p>
          <a:p>
            <a:pPr>
              <a:defRPr sz="830">
                <a:solidFill>
                  <a:srgbClr val="64696E"/>
                </a:solidFill>
              </a:defRPr>
            </a:pPr>
            <a:r>
              <a:t>China's policy framework actively supports VRFB development through subsidies, mandates, and national targets.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4892040" cy="43159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The 14th Five-Year Plan for Energy Storage, released in 2022, targets 30 GW of new energy storage capacity by 2025, with VRFB identified as a key technology. This has spurred investment and deployment across provinces.</a:t>
            </a:r>
          </a:p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Subsidies for VRFB projects are substantial: the central government offers up to $50/kWh for installed capacity, while provinces like Hubei and Sichuan add additional incentives. This reduces upfront costs for developers and accelerates adoption.</a:t>
            </a:r>
          </a:p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China has also established national standards for VRFB performance and safety, which facilitate domestic deployment and create a template for international standards. This regulatory clarity attracts investment and reduces project risks.</a:t>
            </a:r>
          </a:p>
          <a:p>
            <a:pPr>
              <a:spcBef>
                <a:spcPts val="600"/>
              </a:spcBef>
              <a:defRPr sz="819" b="1">
                <a:solidFill>
                  <a:srgbClr val="003087"/>
                </a:solidFill>
              </a:defRPr>
            </a:pPr>
            <a:r>
              <a:t>Key implications</a:t>
            </a:r>
          </a:p>
          <a:p>
            <a:pPr>
              <a:defRPr sz="730">
                <a:solidFill>
                  <a:srgbClr val="333333"/>
                </a:solidFill>
              </a:defRPr>
            </a:pPr>
            <a:r>
              <a:t>- National target of 30 GW new energy storage by 2025, with VRFB as a priority.</a:t>
            </a:r>
          </a:p>
          <a:p>
            <a:pPr>
              <a:defRPr sz="730">
                <a:solidFill>
                  <a:srgbClr val="333333"/>
                </a:solidFill>
              </a:defRPr>
            </a:pPr>
            <a:r>
              <a:t>- Subsidies of up to $50/kWh reduce project costs significantly.</a:t>
            </a:r>
          </a:p>
        </p:txBody>
      </p:sp>
      <p:pic>
        <p:nvPicPr>
          <p:cNvPr id="7" name="Picture 6" descr="chart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71600"/>
            <a:ext cx="5650992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Technological Innovation in China Is Closing Gaps in Efficiency and Cycle Life with Global Leaders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Technological Innovation in China Is Closing Gaps in Efficiency and Cycle Life with Global Leaders</a:t>
            </a:r>
          </a:p>
          <a:p>
            <a:pPr>
              <a:defRPr sz="830">
                <a:solidFill>
                  <a:srgbClr val="64696E"/>
                </a:solidFill>
              </a:defRPr>
            </a:pPr>
            <a:r>
              <a:t>Chinese VRFB companies, including Dali, are investing in R&amp;D to match or exceed the performance of established global players.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4892040" cy="43159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Patent filings in VRFB technology from China have surged, accounting for 40% of global patents in 2023, up from 25% in 2019. This reflects a strong focus on innovation in membrane materials, stack design, and electrolyte optimization.</a:t>
            </a:r>
          </a:p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Dali's R&amp;D spending is estimated at 8% of revenue, higher than the industry average of 5%. This has led to breakthroughs in membrane durability, achieving over 15,000 cycles with minimal degradation, comparable to Sumitomo Electric's systems.</a:t>
            </a:r>
          </a:p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Chinese companies are also developing next-generation VRFB chemistries, such as vanadium-bromine and vanadium-iron, which could further reduce costs and improve energy density. Dali has a pilot line for vanadium-bromine systems.</a:t>
            </a:r>
          </a:p>
          <a:p>
            <a:pPr>
              <a:spcBef>
                <a:spcPts val="600"/>
              </a:spcBef>
              <a:defRPr sz="819" b="1">
                <a:solidFill>
                  <a:srgbClr val="003087"/>
                </a:solidFill>
              </a:defRPr>
            </a:pPr>
            <a:r>
              <a:t>Key implications</a:t>
            </a:r>
          </a:p>
          <a:p>
            <a:pPr>
              <a:defRPr sz="730">
                <a:solidFill>
                  <a:srgbClr val="333333"/>
                </a:solidFill>
              </a:defRPr>
            </a:pPr>
            <a:r>
              <a:t>- China accounts for 40% of global VRFB patents, up from 25% in 2019.</a:t>
            </a:r>
          </a:p>
          <a:p>
            <a:pPr>
              <a:defRPr sz="730">
                <a:solidFill>
                  <a:srgbClr val="333333"/>
                </a:solidFill>
              </a:defRPr>
            </a:pPr>
            <a:r>
              <a:t>- Dali's R&amp;D spending at 8% of revenue drives innovation in membrane and stack design.</a:t>
            </a:r>
          </a:p>
        </p:txBody>
      </p:sp>
      <p:pic>
        <p:nvPicPr>
          <p:cNvPr id="7" name="Picture 6" descr="chart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71600"/>
            <a:ext cx="5650992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Cost Advantages Are Driven by Vertical Integration and Access to Vanadium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Cost Advantages Are Driven by Vertical Integration and Access to Vanadium Resources</a:t>
            </a:r>
          </a:p>
          <a:p>
            <a:pPr>
              <a:defRPr sz="830">
                <a:solidFill>
                  <a:srgbClr val="64696E"/>
                </a:solidFill>
              </a:defRPr>
            </a:pPr>
            <a:r>
              <a:t>China's control over vanadium supply and vertical integration in manufacturing create a significant cost advantage.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4892040" cy="43159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China holds 40% of global vanadium reserves and produces over 60% of the world's vanadium, primarily as a byproduct of steelmaking. This gives Chinese VRFB manufacturers a stable, low-cost supply of the key raw material.</a:t>
            </a:r>
          </a:p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Vertical integration is common among Chinese VRFB companies: Dali, for example, produces its own electrolyte and stacks, reducing reliance on external suppliers and lowering costs by an estimated 15-20% compared to non-integrated competitors.</a:t>
            </a:r>
          </a:p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Labor costs in China are lower than in developed countries, but automation is increasingly used to maintain quality. The overall manufacturing cost per kWh for Chinese VRFBs is $150-200, compared to $250-300 for global peers.</a:t>
            </a:r>
          </a:p>
          <a:p>
            <a:pPr>
              <a:spcBef>
                <a:spcPts val="600"/>
              </a:spcBef>
              <a:defRPr sz="819" b="1">
                <a:solidFill>
                  <a:srgbClr val="003087"/>
                </a:solidFill>
              </a:defRPr>
            </a:pPr>
            <a:r>
              <a:t>Key implications</a:t>
            </a:r>
          </a:p>
          <a:p>
            <a:pPr>
              <a:defRPr sz="730">
                <a:solidFill>
                  <a:srgbClr val="333333"/>
                </a:solidFill>
              </a:defRPr>
            </a:pPr>
            <a:r>
              <a:t>- China controls 40% of global vanadium reserves and 60% of production.</a:t>
            </a:r>
          </a:p>
          <a:p>
            <a:pPr>
              <a:defRPr sz="730">
                <a:solidFill>
                  <a:srgbClr val="333333"/>
                </a:solidFill>
              </a:defRPr>
            </a:pPr>
            <a:r>
              <a:t>- Vertical integration reduces costs by 15-20% for Chinese manufacturers.</a:t>
            </a:r>
          </a:p>
        </p:txBody>
      </p:sp>
      <p:pic>
        <p:nvPicPr>
          <p:cNvPr id="7" name="Picture 6" descr="chart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71600"/>
            <a:ext cx="5650992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Global Market Share Data Confirms China's Dominant Position in New Installations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Global Market Share Data Confirms China's Dominant Position in New Installations</a:t>
            </a:r>
          </a:p>
          <a:p>
            <a:pPr>
              <a:defRPr sz="830">
                <a:solidFill>
                  <a:srgbClr val="64696E"/>
                </a:solidFill>
              </a:defRPr>
            </a:pPr>
            <a:r>
              <a:t>China's share of global VRFB installations has grown rapidly, reflecting its competitive advantages.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4892040" cy="43159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In 2024, China accounted for 45% of global VRFB installed capacity, up from 30% in 2020. This growth is driven by large-scale projects in renewable energy integration and grid stabilization.</a:t>
            </a:r>
          </a:p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Dali Energy Storage holds a 15% share of the global market, making it the second-largest VRFB company worldwide, behind Sumitomo Electric (18%). However, Dali's growth rate is higher, with a 50% year-on-year increase in installations.</a:t>
            </a:r>
          </a:p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Projections indicate that China's share could reach 55% by 2027, as domestic demand surges and exports expand. Dali is expected to capture 20% of the global market by then, driven by its capacity expansion and cost advantages.</a:t>
            </a:r>
          </a:p>
          <a:p>
            <a:pPr>
              <a:spcBef>
                <a:spcPts val="600"/>
              </a:spcBef>
              <a:defRPr sz="819" b="1">
                <a:solidFill>
                  <a:srgbClr val="003087"/>
                </a:solidFill>
              </a:defRPr>
            </a:pPr>
            <a:r>
              <a:t>Key implications</a:t>
            </a:r>
          </a:p>
          <a:p>
            <a:pPr>
              <a:defRPr sz="730">
                <a:solidFill>
                  <a:srgbClr val="333333"/>
                </a:solidFill>
              </a:defRPr>
            </a:pPr>
            <a:r>
              <a:t>- China's share of global VRFB installations reached 45% in 2024.</a:t>
            </a:r>
          </a:p>
          <a:p>
            <a:pPr>
              <a:defRPr sz="730">
                <a:solidFill>
                  <a:srgbClr val="333333"/>
                </a:solidFill>
              </a:defRPr>
            </a:pPr>
            <a:r>
              <a:t>- Dali holds 15% global market share, second only to Sumitomo Electric.</a:t>
            </a:r>
          </a:p>
        </p:txBody>
      </p:sp>
      <p:pic>
        <p:nvPicPr>
          <p:cNvPr id="7" name="Picture 6" descr="chart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71600"/>
            <a:ext cx="5650992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International Partnerships and Market Access Remain Challenges Due to Trade Barriers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International Partnerships and Market Access Remain Challenges Due to Trade Barriers</a:t>
            </a:r>
          </a:p>
          <a:p>
            <a:pPr>
              <a:defRPr sz="830">
                <a:solidFill>
                  <a:srgbClr val="64696E"/>
                </a:solidFill>
              </a:defRPr>
            </a:pPr>
            <a:r>
              <a:t>While Chinese VRFB companies are competitive, trade barriers and local content requirements hinder global expansion.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4892040" cy="43159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The US and EU have imposed tariffs on Chinese energy storage products, including VRFBs, ranging from 10-25%. Additionally, local content requirements in some countries (e.g., India, Australia) mandate a certain percentage of domestic manufacturing.</a:t>
            </a:r>
          </a:p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Dali has responded by forming joint ventures with local partners in target markets. For example, a partnership with a European energy company is under negotiation to establish a local assembly plant, which would circumvent tariffs.</a:t>
            </a:r>
          </a:p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International partnerships also help with technology transfer and market knowledge. Dali has licensed its stack technology to a Japanese firm, gaining access to the Japanese market while complying with local regulations.</a:t>
            </a:r>
          </a:p>
          <a:p>
            <a:pPr>
              <a:spcBef>
                <a:spcPts val="600"/>
              </a:spcBef>
              <a:defRPr sz="819" b="1">
                <a:solidFill>
                  <a:srgbClr val="003087"/>
                </a:solidFill>
              </a:defRPr>
            </a:pPr>
            <a:r>
              <a:t>Key implications</a:t>
            </a:r>
          </a:p>
          <a:p>
            <a:pPr>
              <a:defRPr sz="730">
                <a:solidFill>
                  <a:srgbClr val="333333"/>
                </a:solidFill>
              </a:defRPr>
            </a:pPr>
            <a:r>
              <a:t>- Tariffs of 10-25% in US and EU hinder Chinese VRFB exports.</a:t>
            </a:r>
          </a:p>
          <a:p>
            <a:pPr>
              <a:defRPr sz="730">
                <a:solidFill>
                  <a:srgbClr val="333333"/>
                </a:solidFill>
              </a:defRPr>
            </a:pPr>
            <a:r>
              <a:t>- Dali is pursuing joint ventures and licensing to overcome trade barriers.</a:t>
            </a:r>
          </a:p>
        </p:txBody>
      </p:sp>
      <p:pic>
        <p:nvPicPr>
          <p:cNvPr id="7" name="Picture 6" descr="char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71600"/>
            <a:ext cx="5650992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Competitors Like Sumitomo Electric and Invinity Are Strong in Niche Markets but Lack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Competitors Like Sumitomo Electric and Invinity Are Strong in Niche Markets but Lack Scale</a:t>
            </a:r>
          </a:p>
          <a:p>
            <a:pPr>
              <a:defRPr sz="830">
                <a:solidFill>
                  <a:srgbClr val="64696E"/>
                </a:solidFill>
              </a:defRPr>
            </a:pPr>
            <a:r>
              <a:t>Global competitors have technological strengths but cannot match China's scale and cost advantages.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4892040" cy="43159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Sumitomo Electric, the global leader in VRFB installations, has a strong presence in Japan and Southeast Asia, with a focus on high-reliability systems for industrial applications. However, its production capacity is only 500 MW/year, half of Dali's.</a:t>
            </a:r>
          </a:p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Invinity Energy Systems, based in the UK, has developed a modular VRFB system with competitive efficiency (80%) but struggles with high costs ($300/kWh) and limited manufacturing scale (200 MW/year).</a:t>
            </a:r>
          </a:p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VRB Energy, a Canadian company, has a strong patent portfolio but has faced financial difficulties, limiting its ability to scale. Its production capacity is under 100 MW/year.</a:t>
            </a:r>
          </a:p>
          <a:p>
            <a:pPr>
              <a:spcBef>
                <a:spcPts val="600"/>
              </a:spcBef>
              <a:defRPr sz="819" b="1">
                <a:solidFill>
                  <a:srgbClr val="003087"/>
                </a:solidFill>
              </a:defRPr>
            </a:pPr>
            <a:r>
              <a:t>Key implications</a:t>
            </a:r>
          </a:p>
          <a:p>
            <a:pPr>
              <a:defRPr sz="730">
                <a:solidFill>
                  <a:srgbClr val="333333"/>
                </a:solidFill>
              </a:defRPr>
            </a:pPr>
            <a:r>
              <a:t>- Sumitomo Electric leads in installations but has half the capacity of Dali.</a:t>
            </a:r>
          </a:p>
          <a:p>
            <a:pPr>
              <a:defRPr sz="730">
                <a:solidFill>
                  <a:srgbClr val="333333"/>
                </a:solidFill>
              </a:defRPr>
            </a:pPr>
            <a:r>
              <a:t>- Invinity has modular systems but high costs and limited scale.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481328"/>
            <a:ext cx="5303520" cy="3749039"/>
          </a:xfrm>
          <a:prstGeom prst="rect">
            <a:avLst/>
          </a:prstGeom>
          <a:solidFill>
            <a:srgbClr val="F5F7FA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Recommendations for Dali to Maintain Leadership: Invest in Next-Gen Membranes, Expand Overseas Partnerships, and Leverag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Recommendations for Dali to Maintain Leadership: Invest in Next-Gen Membranes, Expand Overseas Partnerships, and Lever</a:t>
            </a:r>
          </a:p>
          <a:p>
            <a:pPr>
              <a:defRPr sz="830">
                <a:solidFill>
                  <a:srgbClr val="64696E"/>
                </a:solidFill>
              </a:defRPr>
            </a:pPr>
            <a:r>
              <a:t>To sustain its leadership, Dali must focus on innovation, global expansion, and policy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4892040" cy="431596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Invest in next-generation membrane technology to improve energy density and reduce costs further. Dali should allocate 10% of revenue to R&amp;D, targeting a 10% improvement in efficiency and a 15% reduction in LCOS by 2027.</a:t>
            </a:r>
          </a:p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Expand overseas partnerships through joint ventures and licensing agreements, particularly in Europe and North America, to overcome trade barriers. Establishing local assembly plants can also reduce tariff impacts.</a:t>
            </a:r>
          </a:p>
          <a:p>
            <a:pPr>
              <a:spcAft>
                <a:spcPts val="600"/>
              </a:spcAft>
              <a:defRPr sz="819">
                <a:solidFill>
                  <a:srgbClr val="333333"/>
                </a:solidFill>
              </a:defRPr>
            </a:pPr>
            <a:r>
              <a:t>Leverage Chinese government policies by actively participating in national energy storage projects and advocating for continued subsidies. Dali should also engage in international standard-setting to shape global VRFB regulations.</a:t>
            </a:r>
          </a:p>
          <a:p>
            <a:pPr>
              <a:spcBef>
                <a:spcPts val="600"/>
              </a:spcBef>
              <a:defRPr sz="819" b="1">
                <a:solidFill>
                  <a:srgbClr val="003087"/>
                </a:solidFill>
              </a:defRPr>
            </a:pPr>
            <a:r>
              <a:t>Key implications</a:t>
            </a:r>
          </a:p>
          <a:p>
            <a:pPr>
              <a:defRPr sz="730">
                <a:solidFill>
                  <a:srgbClr val="333333"/>
                </a:solidFill>
              </a:defRPr>
            </a:pPr>
            <a:r>
              <a:t>- Increase R&amp;D spending to 10% of revenue for next-gen membranes.</a:t>
            </a:r>
          </a:p>
          <a:p>
            <a:pPr>
              <a:defRPr sz="730">
                <a:solidFill>
                  <a:srgbClr val="333333"/>
                </a:solidFill>
              </a:defRPr>
            </a:pPr>
            <a:r>
              <a:t>- Expand overseas partnerships to mitigate trade barriers.</a:t>
            </a:r>
          </a:p>
        </p:txBody>
      </p:sp>
      <p:pic>
        <p:nvPicPr>
          <p:cNvPr id="7" name="Picture 6" descr="chart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371600"/>
            <a:ext cx="5650992" cy="418795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Exhibit 1: evidence clarifies the strategic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Exhibit 1: evidence clarifies the strategic trade-off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r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88720"/>
            <a:ext cx="10378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Exhibit 2: evidence clarifies the strategic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Exhibit 2: evidence clarifies the strategic trade-off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rt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88720"/>
            <a:ext cx="10378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Exhibit 3: evidence clarifies the strategic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Exhibit 3: evidence clarifies the strategic trade-off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rt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88720"/>
            <a:ext cx="10378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Exhibit 4: evidence clarifies the strategic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Exhibit 4: evidence clarifies the strategic trade-off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rt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88720"/>
            <a:ext cx="10378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Exhibit 5: evidence clarifies the strategic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Exhibit 5: evidence clarifies the strategic trade-off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rt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88720"/>
            <a:ext cx="10378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Exhibit 6: evidence clarifies the strategic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Exhibit 6: evidence clarifies the strategic trade-off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rt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88720"/>
            <a:ext cx="10378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82935" y="164592"/>
            <a:ext cx="111556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003087"/>
                </a:solidFill>
              </a:defRPr>
            </a:pPr>
            <a:r>
              <a:t>BlueOcean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601968"/>
            <a:ext cx="11057839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>
                <a:solidFill>
                  <a:srgbClr val="A0A6AD"/>
                </a:solidFill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"/>
            <a:ext cx="96926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33333"/>
                </a:solidFill>
              </a:defRPr>
            </a:pPr>
            <a:r>
              <a:t>The next step is to convert the research into a short list of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15568"/>
            <a:ext cx="11057839" cy="9144"/>
          </a:xfrm>
          <a:prstGeom prst="rect">
            <a:avLst/>
          </a:prstGeom>
          <a:solidFill>
            <a:srgbClr val="C8C8C8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9875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003087"/>
                </a:solidFill>
              </a:defRPr>
            </a:pPr>
            <a:r>
              <a:t>A Client-Ready BlueOcean Research Report on Technological, Manufacturing, and Market Dominance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