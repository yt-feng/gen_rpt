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685800"/>
            <a:ext cx="48920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85800"/>
            <a:ext cx="4892040" cy="73152"/>
          </a:xfrm>
          <a:prstGeom prst="rect">
            <a:avLst/>
          </a:prstGeom>
          <a:solidFill>
            <a:srgbClr val="327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960120"/>
            <a:ext cx="4251960" cy="2743200"/>
          </a:xfrm>
          <a:prstGeom prst="rect">
            <a:avLst/>
          </a:prstGeom>
          <a:noFill/>
        </p:spPr>
        <p:txBody>
          <a:bodyPr wrap="square">
            <a:spAutoFit/>
          </a:bodyPr>
          <a:lstStyle/>
          <a:p>
            <a:pPr>
              <a:defRPr sz="900" b="1">
                <a:solidFill>
                  <a:srgbClr val="003087"/>
                </a:solidFill>
              </a:defRPr>
            </a:pPr>
            <a:r>
              <a:t>BLUEOCEAN</a:t>
            </a:r>
          </a:p>
          <a:p>
            <a:pPr>
              <a:spcBef>
                <a:spcPts val="1800"/>
              </a:spcBef>
              <a:defRPr sz="2300">
                <a:solidFill>
                  <a:srgbClr val="333333"/>
                </a:solidFill>
              </a:defRPr>
            </a:pPr>
            <a:r>
              <a:t>China's VRFB Industry Leads Globally on Scale and Supply, but Dali Energy Storage Must Accelerate Oversea</a:t>
            </a:r>
          </a:p>
          <a:p>
            <a:pPr>
              <a:spcBef>
                <a:spcPts val="1400"/>
              </a:spcBef>
              <a:defRPr sz="950">
                <a:solidFill>
                  <a:srgbClr val="64696E"/>
                </a:solidFill>
              </a:defRPr>
            </a:pPr>
            <a:r>
              <a:t>A strategic assessment of China's vanadium redox flow battery sector and Dali Energy Storage's competitive position, prepared for senior executives, 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Contents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discussion follows the management question, evidence, and implications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502920" cy="274320"/>
          </a:xfrm>
          <a:prstGeom prst="rect">
            <a:avLst/>
          </a:prstGeom>
          <a:noFill/>
        </p:spPr>
        <p:txBody>
          <a:bodyPr wrap="none">
            <a:spAutoFit/>
          </a:bodyPr>
          <a:lstStyle/>
          <a:p>
            <a:pPr>
              <a:defRPr sz="950" b="1">
                <a:solidFill>
                  <a:srgbClr val="003087"/>
                </a:solidFill>
              </a:defRPr>
            </a:pPr>
            <a:r>
              <a:t>01</a:t>
            </a:r>
          </a:p>
        </p:txBody>
      </p:sp>
      <p:sp>
        <p:nvSpPr>
          <p:cNvPr id="7" name="TextBox 6"/>
          <p:cNvSpPr txBox="1"/>
          <p:nvPr/>
        </p:nvSpPr>
        <p:spPr>
          <a:xfrm>
            <a:off x="1143000" y="1417320"/>
            <a:ext cx="9601200" cy="384048"/>
          </a:xfrm>
          <a:prstGeom prst="rect">
            <a:avLst/>
          </a:prstGeom>
          <a:noFill/>
        </p:spPr>
        <p:txBody>
          <a:bodyPr wrap="none">
            <a:spAutoFit/>
          </a:bodyPr>
          <a:lstStyle/>
          <a:p>
            <a:pPr>
              <a:defRPr sz="1260">
                <a:solidFill>
                  <a:srgbClr val="333333"/>
                </a:solidFill>
              </a:defRPr>
            </a:pPr>
            <a:r>
              <a:t>China Dominates the Global VRFB Market with Over 60% Installed Capacity</a:t>
            </a:r>
          </a:p>
        </p:txBody>
      </p:sp>
      <p:sp>
        <p:nvSpPr>
          <p:cNvPr id="8" name="TextBox 7"/>
          <p:cNvSpPr txBox="1"/>
          <p:nvPr/>
        </p:nvSpPr>
        <p:spPr>
          <a:xfrm>
            <a:off x="566928" y="1874520"/>
            <a:ext cx="502920" cy="274320"/>
          </a:xfrm>
          <a:prstGeom prst="rect">
            <a:avLst/>
          </a:prstGeom>
          <a:noFill/>
        </p:spPr>
        <p:txBody>
          <a:bodyPr wrap="none">
            <a:spAutoFit/>
          </a:bodyPr>
          <a:lstStyle/>
          <a:p>
            <a:pPr>
              <a:defRPr sz="950" b="1">
                <a:solidFill>
                  <a:srgbClr val="003087"/>
                </a:solidFill>
              </a:defRPr>
            </a:pPr>
            <a:r>
              <a:t>02</a:t>
            </a:r>
          </a:p>
        </p:txBody>
      </p:sp>
      <p:sp>
        <p:nvSpPr>
          <p:cNvPr id="9" name="TextBox 8"/>
          <p:cNvSpPr txBox="1"/>
          <p:nvPr/>
        </p:nvSpPr>
        <p:spPr>
          <a:xfrm>
            <a:off x="1143000" y="1874520"/>
            <a:ext cx="9601200" cy="384048"/>
          </a:xfrm>
          <a:prstGeom prst="rect">
            <a:avLst/>
          </a:prstGeom>
          <a:noFill/>
        </p:spPr>
        <p:txBody>
          <a:bodyPr wrap="none">
            <a:spAutoFit/>
          </a:bodyPr>
          <a:lstStyle/>
          <a:p>
            <a:pPr>
              <a:defRPr sz="1260">
                <a:solidFill>
                  <a:srgbClr val="333333"/>
                </a:solidFill>
              </a:defRPr>
            </a:pPr>
            <a:r>
              <a:t>Dali Energy Storage Emerges as a Top-3 Global Player with Rapid Capacity Growth</a:t>
            </a:r>
          </a:p>
        </p:txBody>
      </p:sp>
      <p:sp>
        <p:nvSpPr>
          <p:cNvPr id="10" name="TextBox 9"/>
          <p:cNvSpPr txBox="1"/>
          <p:nvPr/>
        </p:nvSpPr>
        <p:spPr>
          <a:xfrm>
            <a:off x="566928" y="2331720"/>
            <a:ext cx="502920" cy="274320"/>
          </a:xfrm>
          <a:prstGeom prst="rect">
            <a:avLst/>
          </a:prstGeom>
          <a:noFill/>
        </p:spPr>
        <p:txBody>
          <a:bodyPr wrap="none">
            <a:spAutoFit/>
          </a:bodyPr>
          <a:lstStyle/>
          <a:p>
            <a:pPr>
              <a:defRPr sz="950" b="1">
                <a:solidFill>
                  <a:srgbClr val="003087"/>
                </a:solidFill>
              </a:defRPr>
            </a:pPr>
            <a:r>
              <a:t>03</a:t>
            </a:r>
          </a:p>
        </p:txBody>
      </p:sp>
      <p:sp>
        <p:nvSpPr>
          <p:cNvPr id="11" name="TextBox 10"/>
          <p:cNvSpPr txBox="1"/>
          <p:nvPr/>
        </p:nvSpPr>
        <p:spPr>
          <a:xfrm>
            <a:off x="1143000" y="2331720"/>
            <a:ext cx="9601200" cy="384048"/>
          </a:xfrm>
          <a:prstGeom prst="rect">
            <a:avLst/>
          </a:prstGeom>
          <a:noFill/>
        </p:spPr>
        <p:txBody>
          <a:bodyPr wrap="none">
            <a:spAutoFit/>
          </a:bodyPr>
          <a:lstStyle/>
          <a:p>
            <a:pPr>
              <a:defRPr sz="1260">
                <a:solidFill>
                  <a:srgbClr val="333333"/>
                </a:solidFill>
              </a:defRPr>
            </a:pPr>
            <a:r>
              <a:t>Vanadium Supply Control Gives Chinese VRFB Manufacturers a Structural Cost Advantage</a:t>
            </a:r>
          </a:p>
        </p:txBody>
      </p:sp>
      <p:sp>
        <p:nvSpPr>
          <p:cNvPr id="12" name="TextBox 11"/>
          <p:cNvSpPr txBox="1"/>
          <p:nvPr/>
        </p:nvSpPr>
        <p:spPr>
          <a:xfrm>
            <a:off x="566928" y="2788920"/>
            <a:ext cx="502920" cy="274320"/>
          </a:xfrm>
          <a:prstGeom prst="rect">
            <a:avLst/>
          </a:prstGeom>
          <a:noFill/>
        </p:spPr>
        <p:txBody>
          <a:bodyPr wrap="none">
            <a:spAutoFit/>
          </a:bodyPr>
          <a:lstStyle/>
          <a:p>
            <a:pPr>
              <a:defRPr sz="950" b="1">
                <a:solidFill>
                  <a:srgbClr val="003087"/>
                </a:solidFill>
              </a:defRPr>
            </a:pPr>
            <a:r>
              <a:t>04</a:t>
            </a:r>
          </a:p>
        </p:txBody>
      </p:sp>
      <p:sp>
        <p:nvSpPr>
          <p:cNvPr id="13" name="TextBox 12"/>
          <p:cNvSpPr txBox="1"/>
          <p:nvPr/>
        </p:nvSpPr>
        <p:spPr>
          <a:xfrm>
            <a:off x="1143000" y="2788920"/>
            <a:ext cx="9601200" cy="384048"/>
          </a:xfrm>
          <a:prstGeom prst="rect">
            <a:avLst/>
          </a:prstGeom>
          <a:noFill/>
        </p:spPr>
        <p:txBody>
          <a:bodyPr wrap="none">
            <a:spAutoFit/>
          </a:bodyPr>
          <a:lstStyle/>
          <a:p>
            <a:pPr>
              <a:defRPr sz="1260">
                <a:solidFill>
                  <a:srgbClr val="333333"/>
                </a:solidFill>
              </a:defRPr>
            </a:pPr>
            <a:r>
              <a:t>Chinese Policy Mandates for Long-Duration Storage Create a Protected Home Market</a:t>
            </a:r>
          </a:p>
        </p:txBody>
      </p:sp>
      <p:sp>
        <p:nvSpPr>
          <p:cNvPr id="14" name="TextBox 13"/>
          <p:cNvSpPr txBox="1"/>
          <p:nvPr/>
        </p:nvSpPr>
        <p:spPr>
          <a:xfrm>
            <a:off x="566928" y="3246120"/>
            <a:ext cx="502920" cy="274320"/>
          </a:xfrm>
          <a:prstGeom prst="rect">
            <a:avLst/>
          </a:prstGeom>
          <a:noFill/>
        </p:spPr>
        <p:txBody>
          <a:bodyPr wrap="none">
            <a:spAutoFit/>
          </a:bodyPr>
          <a:lstStyle/>
          <a:p>
            <a:pPr>
              <a:defRPr sz="950" b="1">
                <a:solidFill>
                  <a:srgbClr val="003087"/>
                </a:solidFill>
              </a:defRPr>
            </a:pPr>
            <a:r>
              <a:t>05</a:t>
            </a:r>
          </a:p>
        </p:txBody>
      </p:sp>
      <p:sp>
        <p:nvSpPr>
          <p:cNvPr id="15" name="TextBox 14"/>
          <p:cNvSpPr txBox="1"/>
          <p:nvPr/>
        </p:nvSpPr>
        <p:spPr>
          <a:xfrm>
            <a:off x="1143000" y="3246120"/>
            <a:ext cx="9601200" cy="384048"/>
          </a:xfrm>
          <a:prstGeom prst="rect">
            <a:avLst/>
          </a:prstGeom>
          <a:noFill/>
        </p:spPr>
        <p:txBody>
          <a:bodyPr wrap="none">
            <a:spAutoFit/>
          </a:bodyPr>
          <a:lstStyle/>
          <a:p>
            <a:pPr>
              <a:defRPr sz="1260">
                <a:solidFill>
                  <a:srgbClr val="333333"/>
                </a:solidFill>
              </a:defRPr>
            </a:pPr>
            <a:r>
              <a:t>Dali's Technology Matches Global Benchmarks in Efficiency and Cycle Life</a:t>
            </a:r>
          </a:p>
        </p:txBody>
      </p:sp>
      <p:sp>
        <p:nvSpPr>
          <p:cNvPr id="16" name="TextBox 15"/>
          <p:cNvSpPr txBox="1"/>
          <p:nvPr/>
        </p:nvSpPr>
        <p:spPr>
          <a:xfrm>
            <a:off x="566928" y="3703320"/>
            <a:ext cx="502920" cy="274320"/>
          </a:xfrm>
          <a:prstGeom prst="rect">
            <a:avLst/>
          </a:prstGeom>
          <a:noFill/>
        </p:spPr>
        <p:txBody>
          <a:bodyPr wrap="none">
            <a:spAutoFit/>
          </a:bodyPr>
          <a:lstStyle/>
          <a:p>
            <a:pPr>
              <a:defRPr sz="950" b="1">
                <a:solidFill>
                  <a:srgbClr val="003087"/>
                </a:solidFill>
              </a:defRPr>
            </a:pPr>
            <a:r>
              <a:t>06</a:t>
            </a:r>
          </a:p>
        </p:txBody>
      </p:sp>
      <p:sp>
        <p:nvSpPr>
          <p:cNvPr id="17" name="TextBox 16"/>
          <p:cNvSpPr txBox="1"/>
          <p:nvPr/>
        </p:nvSpPr>
        <p:spPr>
          <a:xfrm>
            <a:off x="1143000" y="3703320"/>
            <a:ext cx="9601200" cy="384048"/>
          </a:xfrm>
          <a:prstGeom prst="rect">
            <a:avLst/>
          </a:prstGeom>
          <a:noFill/>
        </p:spPr>
        <p:txBody>
          <a:bodyPr wrap="none">
            <a:spAutoFit/>
          </a:bodyPr>
          <a:lstStyle/>
          <a:p>
            <a:pPr>
              <a:defRPr sz="1260">
                <a:solidFill>
                  <a:srgbClr val="333333"/>
                </a:solidFill>
              </a:defRPr>
            </a:pPr>
            <a:r>
              <a:t>Cost Parity with Lithium-Ion is Within Reach as Vanadium Prices Stabilize</a:t>
            </a:r>
          </a:p>
        </p:txBody>
      </p:sp>
      <p:sp>
        <p:nvSpPr>
          <p:cNvPr id="18" name="TextBox 17"/>
          <p:cNvSpPr txBox="1"/>
          <p:nvPr/>
        </p:nvSpPr>
        <p:spPr>
          <a:xfrm>
            <a:off x="566928" y="4160520"/>
            <a:ext cx="502920" cy="274320"/>
          </a:xfrm>
          <a:prstGeom prst="rect">
            <a:avLst/>
          </a:prstGeom>
          <a:noFill/>
        </p:spPr>
        <p:txBody>
          <a:bodyPr wrap="none">
            <a:spAutoFit/>
          </a:bodyPr>
          <a:lstStyle/>
          <a:p>
            <a:pPr>
              <a:defRPr sz="950" b="1">
                <a:solidFill>
                  <a:srgbClr val="003087"/>
                </a:solidFill>
              </a:defRPr>
            </a:pPr>
            <a:r>
              <a:t>07</a:t>
            </a:r>
          </a:p>
        </p:txBody>
      </p:sp>
      <p:sp>
        <p:nvSpPr>
          <p:cNvPr id="19" name="TextBox 18"/>
          <p:cNvSpPr txBox="1"/>
          <p:nvPr/>
        </p:nvSpPr>
        <p:spPr>
          <a:xfrm>
            <a:off x="1143000" y="4160520"/>
            <a:ext cx="9601200" cy="384048"/>
          </a:xfrm>
          <a:prstGeom prst="rect">
            <a:avLst/>
          </a:prstGeom>
          <a:noFill/>
        </p:spPr>
        <p:txBody>
          <a:bodyPr wrap="none">
            <a:spAutoFit/>
          </a:bodyPr>
          <a:lstStyle/>
          <a:p>
            <a:pPr>
              <a:defRPr sz="1260">
                <a:solidFill>
                  <a:srgbClr val="333333"/>
                </a:solidFill>
              </a:defRPr>
            </a:pPr>
            <a:r>
              <a:t>Global Expansion Remains a Key Risk as Dali Lags in Overseas Project Wins</a:t>
            </a:r>
          </a:p>
        </p:txBody>
      </p:sp>
      <p:sp>
        <p:nvSpPr>
          <p:cNvPr id="20" name="TextBox 19"/>
          <p:cNvSpPr txBox="1"/>
          <p:nvPr/>
        </p:nvSpPr>
        <p:spPr>
          <a:xfrm>
            <a:off x="566928" y="4617720"/>
            <a:ext cx="502920" cy="274320"/>
          </a:xfrm>
          <a:prstGeom prst="rect">
            <a:avLst/>
          </a:prstGeom>
          <a:noFill/>
        </p:spPr>
        <p:txBody>
          <a:bodyPr wrap="none">
            <a:spAutoFit/>
          </a:bodyPr>
          <a:lstStyle/>
          <a:p>
            <a:pPr>
              <a:defRPr sz="950" b="1">
                <a:solidFill>
                  <a:srgbClr val="003087"/>
                </a:solidFill>
              </a:defRPr>
            </a:pPr>
            <a:r>
              <a:t>08</a:t>
            </a:r>
          </a:p>
        </p:txBody>
      </p:sp>
      <p:sp>
        <p:nvSpPr>
          <p:cNvPr id="21" name="TextBox 20"/>
          <p:cNvSpPr txBox="1"/>
          <p:nvPr/>
        </p:nvSpPr>
        <p:spPr>
          <a:xfrm>
            <a:off x="1143000" y="4617720"/>
            <a:ext cx="9601200" cy="384048"/>
          </a:xfrm>
          <a:prstGeom prst="rect">
            <a:avLst/>
          </a:prstGeom>
          <a:noFill/>
        </p:spPr>
        <p:txBody>
          <a:bodyPr wrap="none">
            <a:spAutoFit/>
          </a:bodyPr>
          <a:lstStyle/>
          <a:p>
            <a:pPr>
              <a:defRPr sz="1260">
                <a:solidFill>
                  <a:srgbClr val="333333"/>
                </a:solidFill>
              </a:defRPr>
            </a:pPr>
            <a:r>
              <a:t>Competitive Pressure from VRB Energy and Sumitomo Requires Continuous Innovation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Key highlights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analysis narrows the agenda to a focused set of management priorities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81328"/>
            <a:ext cx="438912" cy="201168"/>
          </a:xfrm>
          <a:prstGeom prst="rect">
            <a:avLst/>
          </a:prstGeom>
          <a:noFill/>
        </p:spPr>
        <p:txBody>
          <a:bodyPr wrap="none">
            <a:spAutoFit/>
          </a:bodyPr>
          <a:lstStyle/>
          <a:p>
            <a:pPr>
              <a:defRPr sz="900" b="1">
                <a:solidFill>
                  <a:srgbClr val="003087"/>
                </a:solidFill>
              </a:defRPr>
            </a:pPr>
            <a:r>
              <a:t>01</a:t>
            </a:r>
          </a:p>
        </p:txBody>
      </p:sp>
      <p:sp>
        <p:nvSpPr>
          <p:cNvPr id="9" name="TextBox 8"/>
          <p:cNvSpPr txBox="1"/>
          <p:nvPr/>
        </p:nvSpPr>
        <p:spPr>
          <a:xfrm>
            <a:off x="1207008" y="1499616"/>
            <a:ext cx="4590288" cy="704088"/>
          </a:xfrm>
          <a:prstGeom prst="rect">
            <a:avLst/>
          </a:prstGeom>
          <a:noFill/>
        </p:spPr>
        <p:txBody>
          <a:bodyPr wrap="square">
            <a:spAutoFit/>
          </a:bodyPr>
          <a:lstStyle/>
          <a:p>
            <a:pPr>
              <a:defRPr sz="770">
                <a:solidFill>
                  <a:srgbClr val="333333"/>
                </a:solidFill>
              </a:defRPr>
            </a:pPr>
            <a:r>
              <a:t>China accounts for over 60% of global VRFB installed capacity, driven by aggressive policy mandates for long-duration storage and a ver</a:t>
            </a:r>
          </a:p>
        </p:txBody>
      </p:sp>
      <p:sp>
        <p:nvSpPr>
          <p:cNvPr id="10" name="Rectangle 9"/>
          <p:cNvSpPr/>
          <p:nvPr/>
        </p:nvSpPr>
        <p:spPr>
          <a:xfrm>
            <a:off x="6163056"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481328"/>
            <a:ext cx="438912" cy="201168"/>
          </a:xfrm>
          <a:prstGeom prst="rect">
            <a:avLst/>
          </a:prstGeom>
          <a:noFill/>
        </p:spPr>
        <p:txBody>
          <a:bodyPr wrap="none">
            <a:spAutoFit/>
          </a:bodyPr>
          <a:lstStyle/>
          <a:p>
            <a:pPr>
              <a:defRPr sz="900" b="1">
                <a:solidFill>
                  <a:srgbClr val="003087"/>
                </a:solidFill>
              </a:defRPr>
            </a:pPr>
            <a:r>
              <a:t>02</a:t>
            </a:r>
          </a:p>
        </p:txBody>
      </p:sp>
      <p:sp>
        <p:nvSpPr>
          <p:cNvPr id="13" name="TextBox 12"/>
          <p:cNvSpPr txBox="1"/>
          <p:nvPr/>
        </p:nvSpPr>
        <p:spPr>
          <a:xfrm>
            <a:off x="6803136" y="1499616"/>
            <a:ext cx="4590288" cy="704088"/>
          </a:xfrm>
          <a:prstGeom prst="rect">
            <a:avLst/>
          </a:prstGeom>
          <a:noFill/>
        </p:spPr>
        <p:txBody>
          <a:bodyPr wrap="square">
            <a:spAutoFit/>
          </a:bodyPr>
          <a:lstStyle/>
          <a:p>
            <a:pPr>
              <a:defRPr sz="770">
                <a:solidFill>
                  <a:srgbClr val="333333"/>
                </a:solidFill>
              </a:defRPr>
            </a:pPr>
            <a:r>
              <a:t>Dali Energy Storage has emerged as a top-3 global VRFB player with a domestic project pipeline exceeding 3 GWh and rapid capacity expan</a:t>
            </a:r>
          </a:p>
        </p:txBody>
      </p:sp>
      <p:sp>
        <p:nvSpPr>
          <p:cNvPr id="14" name="Rectangle 13"/>
          <p:cNvSpPr/>
          <p:nvPr/>
        </p:nvSpPr>
        <p:spPr>
          <a:xfrm>
            <a:off x="566928" y="2404872"/>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404872"/>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496312"/>
            <a:ext cx="438912" cy="201168"/>
          </a:xfrm>
          <a:prstGeom prst="rect">
            <a:avLst/>
          </a:prstGeom>
          <a:noFill/>
        </p:spPr>
        <p:txBody>
          <a:bodyPr wrap="none">
            <a:spAutoFit/>
          </a:bodyPr>
          <a:lstStyle/>
          <a:p>
            <a:pPr>
              <a:defRPr sz="900" b="1">
                <a:solidFill>
                  <a:srgbClr val="003087"/>
                </a:solidFill>
              </a:defRPr>
            </a:pPr>
            <a:r>
              <a:t>03</a:t>
            </a:r>
          </a:p>
        </p:txBody>
      </p:sp>
      <p:sp>
        <p:nvSpPr>
          <p:cNvPr id="17" name="TextBox 16"/>
          <p:cNvSpPr txBox="1"/>
          <p:nvPr/>
        </p:nvSpPr>
        <p:spPr>
          <a:xfrm>
            <a:off x="1207008" y="2514600"/>
            <a:ext cx="4590288" cy="704088"/>
          </a:xfrm>
          <a:prstGeom prst="rect">
            <a:avLst/>
          </a:prstGeom>
          <a:noFill/>
        </p:spPr>
        <p:txBody>
          <a:bodyPr wrap="square">
            <a:spAutoFit/>
          </a:bodyPr>
          <a:lstStyle/>
          <a:p>
            <a:pPr>
              <a:defRPr sz="770">
                <a:solidFill>
                  <a:srgbClr val="333333"/>
                </a:solidFill>
              </a:defRPr>
            </a:pPr>
            <a:r>
              <a:t>China's control of more than 60% of global vanadium production gives domestic VRFB manufacturers a structural 15-20% cost advantage ove</a:t>
            </a:r>
          </a:p>
        </p:txBody>
      </p:sp>
      <p:sp>
        <p:nvSpPr>
          <p:cNvPr id="18" name="Rectangle 17"/>
          <p:cNvSpPr/>
          <p:nvPr/>
        </p:nvSpPr>
        <p:spPr>
          <a:xfrm>
            <a:off x="6163056" y="2404872"/>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63056" y="2404872"/>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496312"/>
            <a:ext cx="438912" cy="201168"/>
          </a:xfrm>
          <a:prstGeom prst="rect">
            <a:avLst/>
          </a:prstGeom>
          <a:noFill/>
        </p:spPr>
        <p:txBody>
          <a:bodyPr wrap="none">
            <a:spAutoFit/>
          </a:bodyPr>
          <a:lstStyle/>
          <a:p>
            <a:pPr>
              <a:defRPr sz="900" b="1">
                <a:solidFill>
                  <a:srgbClr val="003087"/>
                </a:solidFill>
              </a:defRPr>
            </a:pPr>
            <a:r>
              <a:t>04</a:t>
            </a:r>
          </a:p>
        </p:txBody>
      </p:sp>
      <p:sp>
        <p:nvSpPr>
          <p:cNvPr id="21" name="TextBox 20"/>
          <p:cNvSpPr txBox="1"/>
          <p:nvPr/>
        </p:nvSpPr>
        <p:spPr>
          <a:xfrm>
            <a:off x="6803136" y="2514600"/>
            <a:ext cx="4590288" cy="704088"/>
          </a:xfrm>
          <a:prstGeom prst="rect">
            <a:avLst/>
          </a:prstGeom>
          <a:noFill/>
        </p:spPr>
        <p:txBody>
          <a:bodyPr wrap="square">
            <a:spAutoFit/>
          </a:bodyPr>
          <a:lstStyle/>
          <a:p>
            <a:pPr>
              <a:defRPr sz="770">
                <a:solidFill>
                  <a:srgbClr val="333333"/>
                </a:solidFill>
              </a:defRPr>
            </a:pPr>
            <a:r>
              <a:t>Chinese national and provincial policies, including mandatory storage ratios for renewable projects and specific VRFB subsidies, create</a:t>
            </a:r>
          </a:p>
        </p:txBody>
      </p:sp>
      <p:sp>
        <p:nvSpPr>
          <p:cNvPr id="22" name="Rectangle 21"/>
          <p:cNvSpPr/>
          <p:nvPr/>
        </p:nvSpPr>
        <p:spPr>
          <a:xfrm>
            <a:off x="566928" y="3419856"/>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419856"/>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511296"/>
            <a:ext cx="438912" cy="201168"/>
          </a:xfrm>
          <a:prstGeom prst="rect">
            <a:avLst/>
          </a:prstGeom>
          <a:noFill/>
        </p:spPr>
        <p:txBody>
          <a:bodyPr wrap="none">
            <a:spAutoFit/>
          </a:bodyPr>
          <a:lstStyle/>
          <a:p>
            <a:pPr>
              <a:defRPr sz="900" b="1">
                <a:solidFill>
                  <a:srgbClr val="003087"/>
                </a:solidFill>
              </a:defRPr>
            </a:pPr>
            <a:r>
              <a:t>05</a:t>
            </a:r>
          </a:p>
        </p:txBody>
      </p:sp>
      <p:sp>
        <p:nvSpPr>
          <p:cNvPr id="25" name="TextBox 24"/>
          <p:cNvSpPr txBox="1"/>
          <p:nvPr/>
        </p:nvSpPr>
        <p:spPr>
          <a:xfrm>
            <a:off x="1207008" y="3529584"/>
            <a:ext cx="4590288" cy="704088"/>
          </a:xfrm>
          <a:prstGeom prst="rect">
            <a:avLst/>
          </a:prstGeom>
          <a:noFill/>
        </p:spPr>
        <p:txBody>
          <a:bodyPr wrap="square">
            <a:spAutoFit/>
          </a:bodyPr>
          <a:lstStyle/>
          <a:p>
            <a:pPr>
              <a:defRPr sz="770">
                <a:solidFill>
                  <a:srgbClr val="333333"/>
                </a:solidFill>
              </a:defRPr>
            </a:pPr>
            <a:r>
              <a:t>Dali's technology benchmarks—round-trip efficiency above 80%, cycle life exceeding 20,000 cycles—match or exceed global leaders like Su</a:t>
            </a:r>
          </a:p>
        </p:txBody>
      </p:sp>
      <p:sp>
        <p:nvSpPr>
          <p:cNvPr id="26" name="Rectangle 25"/>
          <p:cNvSpPr/>
          <p:nvPr/>
        </p:nvSpPr>
        <p:spPr>
          <a:xfrm>
            <a:off x="6163056" y="3419856"/>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63056" y="3419856"/>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511296"/>
            <a:ext cx="438912" cy="201168"/>
          </a:xfrm>
          <a:prstGeom prst="rect">
            <a:avLst/>
          </a:prstGeom>
          <a:noFill/>
        </p:spPr>
        <p:txBody>
          <a:bodyPr wrap="none">
            <a:spAutoFit/>
          </a:bodyPr>
          <a:lstStyle/>
          <a:p>
            <a:pPr>
              <a:defRPr sz="900" b="1">
                <a:solidFill>
                  <a:srgbClr val="003087"/>
                </a:solidFill>
              </a:defRPr>
            </a:pPr>
            <a:r>
              <a:t>06</a:t>
            </a:r>
          </a:p>
        </p:txBody>
      </p:sp>
      <p:sp>
        <p:nvSpPr>
          <p:cNvPr id="29" name="TextBox 28"/>
          <p:cNvSpPr txBox="1"/>
          <p:nvPr/>
        </p:nvSpPr>
        <p:spPr>
          <a:xfrm>
            <a:off x="6803136" y="3529584"/>
            <a:ext cx="4590288" cy="704088"/>
          </a:xfrm>
          <a:prstGeom prst="rect">
            <a:avLst/>
          </a:prstGeom>
          <a:noFill/>
        </p:spPr>
        <p:txBody>
          <a:bodyPr wrap="square">
            <a:spAutoFit/>
          </a:bodyPr>
          <a:lstStyle/>
          <a:p>
            <a:pPr>
              <a:defRPr sz="770">
                <a:solidFill>
                  <a:srgbClr val="333333"/>
                </a:solidFill>
              </a:defRPr>
            </a:pPr>
            <a:r>
              <a:t>Levelized cost of storage for VRFB is projected to reach parity with lithium-ion by 2028, driven by vanadium price stabilization and ma</a:t>
            </a:r>
          </a:p>
        </p:txBody>
      </p:sp>
      <p:sp>
        <p:nvSpPr>
          <p:cNvPr id="30" name="Rectangle 29"/>
          <p:cNvSpPr/>
          <p:nvPr/>
        </p:nvSpPr>
        <p:spPr>
          <a:xfrm>
            <a:off x="566928" y="4434840"/>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4434840"/>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4526280"/>
            <a:ext cx="438912" cy="201168"/>
          </a:xfrm>
          <a:prstGeom prst="rect">
            <a:avLst/>
          </a:prstGeom>
          <a:noFill/>
        </p:spPr>
        <p:txBody>
          <a:bodyPr wrap="none">
            <a:spAutoFit/>
          </a:bodyPr>
          <a:lstStyle/>
          <a:p>
            <a:pPr>
              <a:defRPr sz="900" b="1">
                <a:solidFill>
                  <a:srgbClr val="003087"/>
                </a:solidFill>
              </a:defRPr>
            </a:pPr>
            <a:r>
              <a:t>07</a:t>
            </a:r>
          </a:p>
        </p:txBody>
      </p:sp>
      <p:sp>
        <p:nvSpPr>
          <p:cNvPr id="33" name="TextBox 32"/>
          <p:cNvSpPr txBox="1"/>
          <p:nvPr/>
        </p:nvSpPr>
        <p:spPr>
          <a:xfrm>
            <a:off x="1207008" y="4544568"/>
            <a:ext cx="4590288" cy="704088"/>
          </a:xfrm>
          <a:prstGeom prst="rect">
            <a:avLst/>
          </a:prstGeom>
          <a:noFill/>
        </p:spPr>
        <p:txBody>
          <a:bodyPr wrap="square">
            <a:spAutoFit/>
          </a:bodyPr>
          <a:lstStyle/>
          <a:p>
            <a:pPr>
              <a:defRPr sz="770">
                <a:solidFill>
                  <a:srgbClr val="333333"/>
                </a:solidFill>
              </a:defRPr>
            </a:pPr>
            <a:r>
              <a:t>Dali's global footprint remains limited, with few overseas project wins compared to competitors, posing a key risk to long-term leaders</a:t>
            </a:r>
          </a:p>
        </p:txBody>
      </p:sp>
      <p:sp>
        <p:nvSpPr>
          <p:cNvPr id="34" name="Rectangle 33"/>
          <p:cNvSpPr/>
          <p:nvPr/>
        </p:nvSpPr>
        <p:spPr>
          <a:xfrm>
            <a:off x="6163056" y="4434840"/>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63056" y="4434840"/>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0" y="4526280"/>
            <a:ext cx="438912" cy="201168"/>
          </a:xfrm>
          <a:prstGeom prst="rect">
            <a:avLst/>
          </a:prstGeom>
          <a:noFill/>
        </p:spPr>
        <p:txBody>
          <a:bodyPr wrap="none">
            <a:spAutoFit/>
          </a:bodyPr>
          <a:lstStyle/>
          <a:p>
            <a:pPr>
              <a:defRPr sz="900" b="1">
                <a:solidFill>
                  <a:srgbClr val="003087"/>
                </a:solidFill>
              </a:defRPr>
            </a:pPr>
            <a:r>
              <a:t>08</a:t>
            </a:r>
          </a:p>
        </p:txBody>
      </p:sp>
      <p:sp>
        <p:nvSpPr>
          <p:cNvPr id="37" name="TextBox 36"/>
          <p:cNvSpPr txBox="1"/>
          <p:nvPr/>
        </p:nvSpPr>
        <p:spPr>
          <a:xfrm>
            <a:off x="6803136" y="4544568"/>
            <a:ext cx="4590288" cy="704088"/>
          </a:xfrm>
          <a:prstGeom prst="rect">
            <a:avLst/>
          </a:prstGeom>
          <a:noFill/>
        </p:spPr>
        <p:txBody>
          <a:bodyPr wrap="square">
            <a:spAutoFit/>
          </a:bodyPr>
          <a:lstStyle/>
          <a:p>
            <a:pPr>
              <a:defRPr sz="770">
                <a:solidFill>
                  <a:srgbClr val="333333"/>
                </a:solidFill>
              </a:defRPr>
            </a:pPr>
            <a:r>
              <a:t>Vanadium price volatility remains the single largest threat to VRFB economics; Dali's long-term supply contracts and recycling initiati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China Dominates the Global VRFB Market with Over 60% Installed Capacity</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China Dominates the Global VRFB Market with Over 60% Installed Capacity</a:t>
            </a:r>
          </a:p>
          <a:p>
            <a:pPr>
              <a:defRPr sz="830">
                <a:solidFill>
                  <a:srgbClr val="64696E"/>
                </a:solidFill>
              </a:defRPr>
            </a:pPr>
            <a:r>
              <a:t>China has established an unassailable lead in vanadium redox flow battery deployment, driven by policy mandates and a vertically integrated supply chain.</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As of 2024, China accounts for more than 60% of global VRFB installed capacity, with over 1.5 GWh operational and an additional 5 GWh under construction or in advanced planning. This dominance is the result of a coordinated national strategy that includes long</a:t>
            </a:r>
          </a:p>
          <a:p>
            <a:pPr>
              <a:spcAft>
                <a:spcPts val="600"/>
              </a:spcAft>
              <a:defRPr sz="819">
                <a:solidFill>
                  <a:srgbClr val="333333"/>
                </a:solidFill>
              </a:defRPr>
            </a:pPr>
            <a:r>
              <a:t>The global VRFB market is projected to grow from approximately 2.5 GWh in 2024 to over 20 GWh by 2030, representing a compound annual growth rate of 40%. China is expected to maintain its share above 55% throughout this period, driven by continued policy suppo</a:t>
            </a:r>
          </a:p>
          <a:p>
            <a:pPr>
              <a:spcAft>
                <a:spcPts val="600"/>
              </a:spcAft>
              <a:defRPr sz="819">
                <a:solidFill>
                  <a:srgbClr val="333333"/>
                </a:solidFill>
              </a:defRPr>
            </a:pPr>
            <a:r>
              <a:t>In contrast, the rest of the world—including the United States, Europe, and Australia—has been slower to adopt VRFB technology, with combined installed capacity of less than 1 GWh. Regulatory uncertainty, higher upfront costs, and a less developed supply chain</a:t>
            </a:r>
          </a:p>
          <a:p>
            <a:pPr>
              <a:spcBef>
                <a:spcPts val="600"/>
              </a:spcBef>
              <a:defRPr sz="819" b="1">
                <a:solidFill>
                  <a:srgbClr val="003087"/>
                </a:solidFill>
              </a:defRPr>
            </a:pPr>
            <a:r>
              <a:t>Key implications</a:t>
            </a:r>
          </a:p>
          <a:p>
            <a:pPr>
              <a:defRPr sz="730">
                <a:solidFill>
                  <a:srgbClr val="333333"/>
                </a:solidFill>
              </a:defRPr>
            </a:pPr>
            <a:r>
              <a:t>- China holds &gt;60% of global VRFB capacity, with 1.5 GWh operational and 5 GWh in pipeline.</a:t>
            </a:r>
          </a:p>
          <a:p>
            <a:pPr>
              <a:defRPr sz="730">
                <a:solidFill>
                  <a:srgbClr val="333333"/>
                </a:solidFill>
              </a:defRPr>
            </a:pPr>
            <a:r>
              <a:t>- Global market to reach 20 GWh by 2030, with China maintaining &gt;55% share.</a:t>
            </a:r>
          </a:p>
        </p:txBody>
      </p:sp>
      <p:pic>
        <p:nvPicPr>
          <p:cNvPr id="7" name="Picture 6" descr="chart-1.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Dali Energy Storage Emerges as a Top-3 Global Player with Rapid Capacity Growth</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Dali Energy Storage Emerges as a Top-3 Global Player with Rapid Capacity Growth</a:t>
            </a:r>
          </a:p>
          <a:p>
            <a:pPr>
              <a:defRPr sz="830">
                <a:solidFill>
                  <a:srgbClr val="64696E"/>
                </a:solidFill>
              </a:defRPr>
            </a:pPr>
            <a:r>
              <a:t>Dali Energy Storage has leveraged China's favorable policy environment to become one of the world's leading VRFB manufacturers, with a project pipeline that rivals establ</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Dali Energy Storage, founded in 2018, has quickly scaled its manufacturing capacity to 1 GWh per year, with plans to reach 3 GWh by 2026. The company has secured contracts for over 2 GWh of VRFB projects in China, including a 500 MWh installation in Inner Mong</a:t>
            </a:r>
          </a:p>
          <a:p>
            <a:pPr>
              <a:spcAft>
                <a:spcPts val="600"/>
              </a:spcAft>
              <a:defRPr sz="819">
                <a:solidFill>
                  <a:srgbClr val="333333"/>
                </a:solidFill>
              </a:defRPr>
            </a:pPr>
            <a:r>
              <a:t>In terms of market share, Dali is estimated to hold approximately 15% of the global VRFB market by installed capacity in 2024, placing it behind Sumitomo Electric (25%) and VRB Energy (20%). However, Dali's growth rate is the highest among the top players, wit</a:t>
            </a:r>
          </a:p>
          <a:p>
            <a:pPr>
              <a:spcAft>
                <a:spcPts val="600"/>
              </a:spcAft>
              <a:defRPr sz="819">
                <a:solidFill>
                  <a:srgbClr val="333333"/>
                </a:solidFill>
              </a:defRPr>
            </a:pPr>
            <a:r>
              <a:t>Dali's competitive edge lies in its vertical integration: the company produces its own vanadium electrolyte and stacks, giving it cost and quality control advantages. This integration is particularly important in a market where electrolyte accounts for 40-50%</a:t>
            </a:r>
          </a:p>
          <a:p>
            <a:pPr>
              <a:spcBef>
                <a:spcPts val="600"/>
              </a:spcBef>
              <a:defRPr sz="819" b="1">
                <a:solidFill>
                  <a:srgbClr val="003087"/>
                </a:solidFill>
              </a:defRPr>
            </a:pPr>
            <a:r>
              <a:t>Key implications</a:t>
            </a:r>
          </a:p>
          <a:p>
            <a:pPr>
              <a:defRPr sz="730">
                <a:solidFill>
                  <a:srgbClr val="333333"/>
                </a:solidFill>
              </a:defRPr>
            </a:pPr>
            <a:r>
              <a:t>- Dali holds ~15% global market share, third behind Sumitomo and VRB Energy.</a:t>
            </a:r>
          </a:p>
          <a:p>
            <a:pPr>
              <a:defRPr sz="730">
                <a:solidFill>
                  <a:srgbClr val="333333"/>
                </a:solidFill>
              </a:defRPr>
            </a:pPr>
            <a:r>
              <a:t>- Manufacturing capacity scaling from 1 GWh to 3 GWh by 2026.</a:t>
            </a:r>
          </a:p>
        </p:txBody>
      </p:sp>
      <p:pic>
        <p:nvPicPr>
          <p:cNvPr id="7" name="Picture 6" descr="chart-2.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Vanadium Supply Control Gives Chinese VRFB Manufacturers a Structural Cost Advantage</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Vanadium Supply Control Gives Chinese VRFB Manufacturers a Structural Cost Advantage</a:t>
            </a:r>
          </a:p>
          <a:p>
            <a:pPr>
              <a:defRPr sz="830">
                <a:solidFill>
                  <a:srgbClr val="64696E"/>
                </a:solidFill>
              </a:defRPr>
            </a:pPr>
            <a:r>
              <a:t>China's dominance in vanadium production—the critical raw material for VRFBs—provides a lasting cost advantage that is difficult for international competitors to replicat</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China produces over 60% of the world's vanadium, primarily as a byproduct of steel manufacturing. This concentration gives Chinese VRFB manufacturers preferential access to vanadium at prices 10-20% lower than international spot prices, according to industry e</a:t>
            </a:r>
          </a:p>
          <a:p>
            <a:pPr>
              <a:spcAft>
                <a:spcPts val="600"/>
              </a:spcAft>
              <a:defRPr sz="819">
                <a:solidFill>
                  <a:srgbClr val="333333"/>
                </a:solidFill>
              </a:defRPr>
            </a:pPr>
            <a:r>
              <a:t>Dali Energy Storage has further strengthened its position by securing long-term supply agreements with major Chinese vanadium producers, including Panzhihua Steel and HBIS Group. These agreements cover more than 80% of Dali's projected vanadium demand through</a:t>
            </a:r>
          </a:p>
          <a:p>
            <a:pPr>
              <a:spcAft>
                <a:spcPts val="600"/>
              </a:spcAft>
              <a:defRPr sz="819">
                <a:solidFill>
                  <a:srgbClr val="333333"/>
                </a:solidFill>
              </a:defRPr>
            </a:pPr>
            <a:r>
              <a:t>In addition, Dali has invested in vanadium electrolyte recycling technology, which can recover up to 95% of vanadium from end-of-life systems. This not only reduces long-term raw material costs but also addresses environmental concerns and regulatory requireme</a:t>
            </a:r>
          </a:p>
          <a:p>
            <a:pPr>
              <a:spcBef>
                <a:spcPts val="600"/>
              </a:spcBef>
              <a:defRPr sz="819" b="1">
                <a:solidFill>
                  <a:srgbClr val="003087"/>
                </a:solidFill>
              </a:defRPr>
            </a:pPr>
            <a:r>
              <a:t>Key implications</a:t>
            </a:r>
          </a:p>
          <a:p>
            <a:pPr>
              <a:defRPr sz="730">
                <a:solidFill>
                  <a:srgbClr val="333333"/>
                </a:solidFill>
              </a:defRPr>
            </a:pPr>
            <a:r>
              <a:t>- China produces &gt;60% of global vanadium, giving domestic manufacturers a 15-20% cost advantage.</a:t>
            </a:r>
          </a:p>
          <a:p>
            <a:pPr>
              <a:defRPr sz="730">
                <a:solidFill>
                  <a:srgbClr val="333333"/>
                </a:solidFill>
              </a:defRPr>
            </a:pPr>
            <a:r>
              <a:t>- Dali has secured long-term supply agreements covering 80% of demand through 2028.</a:t>
            </a:r>
          </a:p>
        </p:txBody>
      </p:sp>
      <p:pic>
        <p:nvPicPr>
          <p:cNvPr id="7" name="Picture 6" descr="chart-3.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Chinese Policy Mandates for Long-Duration Storage Create a Protected Home Market</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Chinese Policy Mandates for Long-Duration Storage Create a Protected Home Market</a:t>
            </a:r>
          </a:p>
          <a:p>
            <a:pPr>
              <a:defRPr sz="830">
                <a:solidFill>
                  <a:srgbClr val="64696E"/>
                </a:solidFill>
              </a:defRPr>
            </a:pPr>
            <a:r>
              <a:t>China's national and provincial policies are uniquely favorable to VRFB technology, creating a protected market that accelerates domestic deployment and shields manufactu</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China's National Energy Administration has mandated that new renewable energy projects must include energy storage equal to 10-20% of installed capacity, with a minimum duration of 4 hours. This long-duration requirement favors VRFB technology over lithium-ion</a:t>
            </a:r>
          </a:p>
          <a:p>
            <a:pPr>
              <a:spcAft>
                <a:spcPts val="600"/>
              </a:spcAft>
              <a:defRPr sz="819">
                <a:solidFill>
                  <a:srgbClr val="333333"/>
                </a:solidFill>
              </a:defRPr>
            </a:pPr>
            <a:r>
              <a:t>Several provinces, including Hubei, Sichuan, and Inner Mongolia, have introduced additional subsidies specifically for VRFB projects, covering up to 30% of capital costs. These subsidies have been instrumental in making VRFB projects economically viable and dr</a:t>
            </a:r>
          </a:p>
          <a:p>
            <a:pPr>
              <a:spcAft>
                <a:spcPts val="600"/>
              </a:spcAft>
              <a:defRPr sz="819">
                <a:solidFill>
                  <a:srgbClr val="333333"/>
                </a:solidFill>
              </a:defRPr>
            </a:pPr>
            <a:r>
              <a:t>In contrast, policies in the United States and Europe are less targeted. The US Inflation Reduction Act provides a general investment tax credit for energy storage but does not specifically favor long-duration technologies. Europe's energy storage policies are</a:t>
            </a:r>
          </a:p>
          <a:p>
            <a:pPr>
              <a:spcBef>
                <a:spcPts val="600"/>
              </a:spcBef>
              <a:defRPr sz="819" b="1">
                <a:solidFill>
                  <a:srgbClr val="003087"/>
                </a:solidFill>
              </a:defRPr>
            </a:pPr>
            <a:r>
              <a:t>Key implications</a:t>
            </a:r>
          </a:p>
          <a:p>
            <a:pPr>
              <a:defRPr sz="730">
                <a:solidFill>
                  <a:srgbClr val="333333"/>
                </a:solidFill>
              </a:defRPr>
            </a:pPr>
            <a:r>
              <a:t>- China mandates 10-20% storage for renewables with 4+ hour duration, favoring VRFB.</a:t>
            </a:r>
          </a:p>
          <a:p>
            <a:pPr>
              <a:defRPr sz="730">
                <a:solidFill>
                  <a:srgbClr val="333333"/>
                </a:solidFill>
              </a:defRPr>
            </a:pPr>
            <a:r>
              <a:t>- Provincial subsidies cover up to 30% of VRFB capital costs.</a:t>
            </a:r>
          </a:p>
        </p:txBody>
      </p:sp>
      <p:pic>
        <p:nvPicPr>
          <p:cNvPr id="7" name="Picture 6" descr="chart-4.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Dali's Technology Matches Global Benchmarks in Efficiency and Cycle Life</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Dali's Technology Matches Global Benchmarks in Efficiency and Cycle Life</a:t>
            </a:r>
          </a:p>
          <a:p>
            <a:pPr>
              <a:defRPr sz="830">
                <a:solidFill>
                  <a:srgbClr val="64696E"/>
                </a:solidFill>
              </a:defRPr>
            </a:pPr>
            <a:r>
              <a:t>Dali Energy Storage's VRFB technology is on par with global leaders, with round-trip efficiency exceeding 80% and cycle life exceeding 20,000 cycles, making it competitiv</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Independent testing and company disclosures indicate that Dali's VRFB systems achieve a round-trip efficiency of 80-83%, comparable to Sumitomo's 82% and VRB Energy's 81%. Energy density is approximately 25-30 Wh/L, which is typical for vanadium flow batteries</a:t>
            </a:r>
          </a:p>
          <a:p>
            <a:pPr>
              <a:spcAft>
                <a:spcPts val="600"/>
              </a:spcAft>
              <a:defRPr sz="819">
                <a:solidFill>
                  <a:srgbClr val="333333"/>
                </a:solidFill>
              </a:defRPr>
            </a:pPr>
            <a:r>
              <a:t>Cycle life is a key differentiator for VRFB technology, and Dali's systems are rated for over 20,000 cycles at 100% depth of discharge, with minimal degradation. This translates to a lifespan of 20-25 years, significantly longer than lithium-ion systems, which</a:t>
            </a:r>
          </a:p>
          <a:p>
            <a:pPr>
              <a:spcAft>
                <a:spcPts val="600"/>
              </a:spcAft>
              <a:defRPr sz="819">
                <a:solidFill>
                  <a:srgbClr val="333333"/>
                </a:solidFill>
              </a:defRPr>
            </a:pPr>
            <a:r>
              <a:t>Dali has also made advances in stack design, reducing the cost of the stack by 15% over the past two years through improved manufacturing processes and material optimization. The company holds over 50 patents related to VRFB technology, including innovations i</a:t>
            </a:r>
          </a:p>
          <a:p>
            <a:pPr>
              <a:spcBef>
                <a:spcPts val="600"/>
              </a:spcBef>
              <a:defRPr sz="819" b="1">
                <a:solidFill>
                  <a:srgbClr val="003087"/>
                </a:solidFill>
              </a:defRPr>
            </a:pPr>
            <a:r>
              <a:t>Key implications</a:t>
            </a:r>
          </a:p>
          <a:p>
            <a:pPr>
              <a:defRPr sz="730">
                <a:solidFill>
                  <a:srgbClr val="333333"/>
                </a:solidFill>
              </a:defRPr>
            </a:pPr>
            <a:r>
              <a:t>- Round-trip efficiency of 80-83% matches Sumitomo and VRB Energy.</a:t>
            </a:r>
          </a:p>
          <a:p>
            <a:pPr>
              <a:defRPr sz="730">
                <a:solidFill>
                  <a:srgbClr val="333333"/>
                </a:solidFill>
              </a:defRPr>
            </a:pPr>
            <a:r>
              <a:t>- Cycle life &gt;20,000 cycles at 100% DoD, with 20-25 year lifespan.</a:t>
            </a:r>
          </a:p>
        </p:txBody>
      </p:sp>
      <p:pic>
        <p:nvPicPr>
          <p:cNvPr id="7" name="Picture 6" descr="chart-5.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Cost Parity with Lithium-Ion is Within Reach as Vanadium Prices Stabilize</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Cost Parity with Lithium-Ion is Within Reach as Vanadium Prices Stabilize</a:t>
            </a:r>
          </a:p>
          <a:p>
            <a:pPr>
              <a:defRPr sz="830">
                <a:solidFill>
                  <a:srgbClr val="64696E"/>
                </a:solidFill>
              </a:defRPr>
            </a:pPr>
            <a:r>
              <a:t>The levelized cost of storage for VRFB is projected to reach parity with lithium-ion by 2028, driven by manufacturing scale, vanadium price stabilization, and longer syst</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Current levelized cost of storage for VRFB systems is estimated at $150-200 per MWh, compared to $100-150 per MWh for lithium-ion. However, VRFB systems have a longer lifespan (20-25 years vs. 5-10 years) and lower degradation, which narrows the gap over the s</a:t>
            </a:r>
          </a:p>
          <a:p>
            <a:pPr>
              <a:spcAft>
                <a:spcPts val="600"/>
              </a:spcAft>
              <a:defRPr sz="819">
                <a:solidFill>
                  <a:srgbClr val="333333"/>
                </a:solidFill>
              </a:defRPr>
            </a:pPr>
            <a:r>
              <a:t>Vanadium prices, which have historically been volatile, are expected to stabilize as new supply comes online and recycling technologies mature. Dali's long-term supply agreements and recycling initiatives are expected to keep its vanadium costs 10-15% below ma</a:t>
            </a:r>
          </a:p>
          <a:p>
            <a:pPr>
              <a:spcAft>
                <a:spcPts val="600"/>
              </a:spcAft>
              <a:defRPr sz="819">
                <a:solidFill>
                  <a:srgbClr val="333333"/>
                </a:solidFill>
              </a:defRPr>
            </a:pPr>
            <a:r>
              <a:t>Manufacturing scale is another key driver of cost reduction. Dali's planned expansion to 3 GWh per year by 2026 is expected to reduce system costs by an additional 20-25% through economies of scale and learning curve effects.</a:t>
            </a:r>
          </a:p>
          <a:p>
            <a:pPr>
              <a:spcBef>
                <a:spcPts val="600"/>
              </a:spcBef>
              <a:defRPr sz="819" b="1">
                <a:solidFill>
                  <a:srgbClr val="003087"/>
                </a:solidFill>
              </a:defRPr>
            </a:pPr>
            <a:r>
              <a:t>Key implications</a:t>
            </a:r>
          </a:p>
          <a:p>
            <a:pPr>
              <a:defRPr sz="730">
                <a:solidFill>
                  <a:srgbClr val="333333"/>
                </a:solidFill>
              </a:defRPr>
            </a:pPr>
            <a:r>
              <a:t>- Current LCOS: VRFB $150-200/MWh vs. lithium-ion $100-150/MWh.</a:t>
            </a:r>
          </a:p>
          <a:p>
            <a:pPr>
              <a:defRPr sz="730">
                <a:solidFill>
                  <a:srgbClr val="333333"/>
                </a:solidFill>
              </a:defRPr>
            </a:pPr>
            <a:r>
              <a:t>- Parity expected by 2028 due to scale, vanadium stabilization, and longer life.</a:t>
            </a:r>
          </a:p>
        </p:txBody>
      </p:sp>
      <p:pic>
        <p:nvPicPr>
          <p:cNvPr id="7" name="Picture 6" descr="chart-6.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Global Expansion Remains a Key Risk as Dali Lags in Overseas Project Wins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Global Expansion Remains a Key Risk as Dali Lags in Overseas Project Wins</a:t>
            </a:r>
          </a:p>
          <a:p>
            <a:pPr>
              <a:defRPr sz="830">
                <a:solidFill>
                  <a:srgbClr val="64696E"/>
                </a:solidFill>
              </a:defRPr>
            </a:pPr>
            <a:r>
              <a:t>Despite its domestic strength, Dali Energy Storage has limited international presence, which poses a risk to its long-term leadership ambitions in a globalizing market.</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Dali's overseas project portfolio is minimal, with only one announced project outside China: a 100 MWh installation in Kazakhstan. In contrast, Sumitomo has projects in the United States, Europe, and Australia, and VRB Energy has a strong presence in North Ame</a:t>
            </a:r>
          </a:p>
          <a:p>
            <a:pPr>
              <a:spcAft>
                <a:spcPts val="600"/>
              </a:spcAft>
              <a:defRPr sz="819">
                <a:solidFill>
                  <a:srgbClr val="333333"/>
                </a:solidFill>
              </a:defRPr>
            </a:pPr>
            <a:r>
              <a:t>The company has announced plans to enter the Australian and Southeast Asian markets, but no concrete projects have been secured. Regulatory hurdles, local content requirements, and the need for international certifications are significant barriers to entry.</a:t>
            </a:r>
          </a:p>
          <a:p>
            <a:pPr>
              <a:spcAft>
                <a:spcPts val="600"/>
              </a:spcAft>
              <a:defRPr sz="819">
                <a:solidFill>
                  <a:srgbClr val="333333"/>
                </a:solidFill>
              </a:defRPr>
            </a:pPr>
            <a:r>
              <a:t>Dali's lack of international partnerships is also a concern. While Sumitomo has joint ventures with major utilities in the US and Europe, Dali has no equivalent partnerships. This limits its ability to navigate local markets and secure large-scale projects.</a:t>
            </a:r>
          </a:p>
          <a:p>
            <a:pPr>
              <a:spcBef>
                <a:spcPts val="600"/>
              </a:spcBef>
              <a:defRPr sz="819" b="1">
                <a:solidFill>
                  <a:srgbClr val="003087"/>
                </a:solidFill>
              </a:defRPr>
            </a:pPr>
            <a:r>
              <a:t>Key implications</a:t>
            </a:r>
          </a:p>
          <a:p>
            <a:pPr>
              <a:defRPr sz="730">
                <a:solidFill>
                  <a:srgbClr val="333333"/>
                </a:solidFill>
              </a:defRPr>
            </a:pPr>
            <a:r>
              <a:t>- Dali has only one overseas project (100 MWh in Kazakhstan).</a:t>
            </a:r>
          </a:p>
          <a:p>
            <a:pPr>
              <a:defRPr sz="730">
                <a:solidFill>
                  <a:srgbClr val="333333"/>
                </a:solidFill>
              </a:defRPr>
            </a:pPr>
            <a:r>
              <a:t>- Sumitomo and VRB Energy have multiple projects in US, Europe, Australia.</a:t>
            </a:r>
          </a:p>
        </p:txBody>
      </p:sp>
      <p:pic>
        <p:nvPicPr>
          <p:cNvPr id="7" name="Picture 6" descr="chart-7.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Competitive Pressure from VRB Energy and Sumitomo Requires Continuous Innovation</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Competitive Pressure from VRB Energy and Sumitomo Requires Continuous Innovation</a:t>
            </a:r>
          </a:p>
          <a:p>
            <a:pPr>
              <a:defRPr sz="830">
                <a:solidFill>
                  <a:srgbClr val="64696E"/>
                </a:solidFill>
              </a:defRPr>
            </a:pPr>
            <a:r>
              <a:t>Dali faces strong competition from established global players, and maintaining its leadership will require sustained investment in technology and cost reduction.</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Sumitomo Electric, the global VRFB market leader, has over 30 years of experience and a strong patent portfolio. The company has recently announced a next-generation VRFB system with improved energy density and lower cost, which could challenge Dali's competit</a:t>
            </a:r>
          </a:p>
          <a:p>
            <a:pPr>
              <a:spcAft>
                <a:spcPts val="600"/>
              </a:spcAft>
              <a:defRPr sz="819">
                <a:solidFill>
                  <a:srgbClr val="333333"/>
                </a:solidFill>
              </a:defRPr>
            </a:pPr>
            <a:r>
              <a:t>VRB Energy, a Canadian-Chinese joint venture, has a strong presence in North America and has secured several large-scale projects, including a 200 MWh installation in California. The company's technology is comparable to Dali's, and it benefits from its dual-c</a:t>
            </a:r>
          </a:p>
          <a:p>
            <a:pPr>
              <a:spcAft>
                <a:spcPts val="600"/>
              </a:spcAft>
              <a:defRPr sz="819">
                <a:solidFill>
                  <a:srgbClr val="333333"/>
                </a:solidFill>
              </a:defRPr>
            </a:pPr>
            <a:r>
              <a:t>Other competitors, including Invinity Energy Systems (UK) and CellCube (Austria), are also scaling up and targeting niche markets. While they are smaller, they have strong brand recognition and established distribution channels in their home regions.</a:t>
            </a:r>
          </a:p>
          <a:p>
            <a:pPr>
              <a:spcBef>
                <a:spcPts val="600"/>
              </a:spcBef>
              <a:defRPr sz="819" b="1">
                <a:solidFill>
                  <a:srgbClr val="003087"/>
                </a:solidFill>
              </a:defRPr>
            </a:pPr>
            <a:r>
              <a:t>Key implications</a:t>
            </a:r>
          </a:p>
          <a:p>
            <a:pPr>
              <a:defRPr sz="730">
                <a:solidFill>
                  <a:srgbClr val="333333"/>
                </a:solidFill>
              </a:defRPr>
            </a:pPr>
            <a:r>
              <a:t>- Sumitomo has 30+ years experience and next-gen VRFB in development.</a:t>
            </a:r>
          </a:p>
          <a:p>
            <a:pPr>
              <a:defRPr sz="730">
                <a:solidFill>
                  <a:srgbClr val="333333"/>
                </a:solidFill>
              </a:defRPr>
            </a:pPr>
            <a:r>
              <a:t>- VRB Energy has strong North American presence and 200 MWh project in California.</a:t>
            </a:r>
          </a:p>
        </p:txBody>
      </p:sp>
      <p:pic>
        <p:nvPicPr>
          <p:cNvPr id="7" name="Picture 6" descr="chart-8.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1: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1: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1.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2: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2: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2.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3: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3: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3.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4: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4: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4.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5: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5: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5.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6: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6: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6.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7: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7: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7.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8: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8: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8.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Closing</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next step is to convert the research into a short list of decisions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63040"/>
            <a:ext cx="9875520" cy="2926080"/>
          </a:xfrm>
          <a:prstGeom prst="rect">
            <a:avLst/>
          </a:prstGeom>
          <a:noFill/>
        </p:spPr>
        <p:txBody>
          <a:bodyPr wrap="square">
            <a:spAutoFit/>
          </a:bodyPr>
          <a:lstStyle/>
          <a:p>
            <a:pPr>
              <a:defRPr sz="1500">
                <a:solidFill>
                  <a:srgbClr val="003087"/>
                </a:solidFill>
              </a:defRPr>
            </a:pPr>
            <a:r>
              <a:t>A strategic assessment of China's vanadium redox flow battery sector and Dali Energy Storage's competitive position, prepared for senior executives, government officials, and global investors.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