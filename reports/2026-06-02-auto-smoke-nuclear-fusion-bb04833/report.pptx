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Implications for Decision-Makers</a:t>
            </a:r>
          </a:p>
          <a:p>
            <a:pPr>
              <a:spcBef>
                <a:spcPts val="1400"/>
              </a:spcBef>
              <a:defRPr sz="950">
                <a:solidFill>
                  <a:srgbClr val="64696E"/>
                </a:solidFill>
              </a:defRPr>
            </a:pPr>
            <a:r>
              <a:t>A BlueOcean Research Report on the Path to Grid-Scale Fusion 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Advancing but Faces a Decade-Long Path to Grid-Scale Power</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Leads in Maturity, but Alternative Approaches Show Promise</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Cost Competitiveness Remains Uncertain; Fusion Likely to Complement Renewables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Private Investment Surges, but Public Funding Remains Critical for Infrastructure</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Strategic Implications: Energy Independence, Climate Mitigation, and First-Mover Advantages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commercialization is advancing but faces a decade-long path to grid-scale power, with magnetic confinement leading in ma</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Magnetic confinement (tokamaks, stellarators) is the most mature fusion approach, with several private companies targeting net energy g</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Levelized cost of fusion energy is projected to be competitive with fission and fossil fuels by 2040-2050, but remains highly uncertain</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Private fusion investment has surged past $5 billion globally, but public funding remains essential for large-scale infrastructure. Evi</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Tritium supply is a critical bottleneck; current production is insufficient for multiple fusion plants. Evidence: tritium is scarce, wi</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Advancing but Faces a Decade-Long Path to Grid-Scale Power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Advancing but Faces a Decade-Long Path to Grid-Scale Power</a:t>
            </a:r>
          </a:p>
          <a:p>
            <a:pPr>
              <a:defRPr sz="830">
                <a:solidFill>
                  <a:srgbClr val="64696E"/>
                </a:solidFill>
              </a:defRPr>
            </a:pPr>
            <a:r>
              <a:t>This chapter concludes that fusion's path to grid-scale power requires at least 10-15 years, implying that near-term energy strategy should focus on renewables and effici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made significant strides in recent years, with multiple private companies and public projects targeting net energy gain within this decade. However, the transition from scientific demonstration to commercial power plant is expected to take a</a:t>
            </a:r>
          </a:p>
          <a:p>
            <a:pPr>
              <a:spcAft>
                <a:spcPts val="600"/>
              </a:spcAft>
              <a:defRPr sz="819">
                <a:solidFill>
                  <a:srgbClr val="333333"/>
                </a:solidFill>
              </a:defRPr>
            </a:pPr>
            <a:r>
              <a:t>The evidence boundary is clear: no fusion plant has produced net electricity, and all timelines are projections based on current progress.</a:t>
            </a:r>
          </a:p>
          <a:p>
            <a:pPr>
              <a:spcAft>
                <a:spcPts val="600"/>
              </a:spcAft>
              <a:defRPr sz="819">
                <a:solidFill>
                  <a:srgbClr val="333333"/>
                </a:solidFill>
              </a:defRPr>
            </a:pPr>
            <a:r>
              <a:t>For decision-makers, this timeline means that fusion will not contribute to 2030 or 2040 decarbonization targets. Investment in fusion should be framed as a long-term hedge, not a near-term solution. Companies should monitor milestones from leading projects to</a:t>
            </a:r>
          </a:p>
          <a:p>
            <a:pPr>
              <a:spcBef>
                <a:spcPts val="600"/>
              </a:spcBef>
              <a:defRPr sz="819" b="1">
                <a:solidFill>
                  <a:srgbClr val="003087"/>
                </a:solidFill>
              </a:defRPr>
            </a:pPr>
            <a:r>
              <a:t>Key implications</a:t>
            </a:r>
          </a:p>
          <a:p>
            <a:pPr>
              <a:defRPr sz="730">
                <a:solidFill>
                  <a:srgbClr val="333333"/>
                </a:solidFill>
              </a:defRPr>
            </a:pPr>
            <a:r>
              <a:t>- Fusion commercialization is at least 10-15 years away from grid-scale power.</a:t>
            </a:r>
          </a:p>
          <a:p>
            <a:pPr>
              <a:defRPr sz="730">
                <a:solidFill>
                  <a:srgbClr val="333333"/>
                </a:solidFill>
              </a:defRPr>
            </a:pPr>
            <a:r>
              <a:t>- Near-term energy strategy should prioritize renewables and efficiency.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Leads in Maturity, but Alternative Approaches Show Promise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Leads in Maturity, but Alternative Approaches Show Promise</a:t>
            </a:r>
          </a:p>
          <a:p>
            <a:pPr>
              <a:defRPr sz="830">
                <a:solidFill>
                  <a:srgbClr val="64696E"/>
                </a:solidFill>
              </a:defRPr>
            </a:pPr>
            <a:r>
              <a:t>This chapter concludes that magnetic confinement is the most mature approach, but alternative methods may offer faster or cheaper paths, implying that a diversified inves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Magnetic confinement fusion, particularly tokamaks, has the longest research history and highest technology readiness level (TRL). ITER, the world's largest tokamak, aims for first plasma by 2035 but has faced repeated delays and cost overruns. Private compani</a:t>
            </a:r>
          </a:p>
          <a:p>
            <a:pPr>
              <a:spcAft>
                <a:spcPts val="600"/>
              </a:spcAft>
              <a:defRPr sz="819">
                <a:solidFill>
                  <a:srgbClr val="333333"/>
                </a:solidFill>
              </a:defRPr>
            </a:pPr>
            <a:r>
              <a:t>The evidence boundary: no approach has demonstrated net energy gain at scale, and cross-comparison is difficult due to different metrics.</a:t>
            </a:r>
          </a:p>
          <a:p>
            <a:pPr>
              <a:spcAft>
                <a:spcPts val="600"/>
              </a:spcAft>
              <a:defRPr sz="819">
                <a:solidFill>
                  <a:srgbClr val="333333"/>
                </a:solidFill>
              </a:defRPr>
            </a:pPr>
            <a:r>
              <a:t>For CEOs, the key commercial implication is that betting on a single technology approach is risky. A portfolio strategy that includes investments in multiple fusion methods, as well as partnerships with leading firms, can spread risk and increase the chance of</a:t>
            </a:r>
          </a:p>
          <a:p>
            <a:pPr>
              <a:spcBef>
                <a:spcPts val="600"/>
              </a:spcBef>
              <a:defRPr sz="819" b="1">
                <a:solidFill>
                  <a:srgbClr val="003087"/>
                </a:solidFill>
              </a:defRPr>
            </a:pPr>
            <a:r>
              <a:t>Key implications</a:t>
            </a:r>
          </a:p>
          <a:p>
            <a:pPr>
              <a:defRPr sz="730">
                <a:solidFill>
                  <a:srgbClr val="333333"/>
                </a:solidFill>
              </a:defRPr>
            </a:pPr>
            <a:r>
              <a:t>- Magnetic confinement is most mature but not guaranteed to be the first commercial success.</a:t>
            </a:r>
          </a:p>
          <a:p>
            <a:pPr>
              <a:defRPr sz="730">
                <a:solidFill>
                  <a:srgbClr val="333333"/>
                </a:solidFill>
              </a:defRPr>
            </a:pPr>
            <a:r>
              <a:t>- Alternative approaches may offer faster or cheaper paths to commercialization.</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Competitiveness Remains Uncertain; Fusion Likely to Complement Renewables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Competitiveness Remains Uncertain; Fusion Likely to Complement Renewables</a:t>
            </a:r>
          </a:p>
          <a:p>
            <a:pPr>
              <a:defRPr sz="830">
                <a:solidFill>
                  <a:srgbClr val="64696E"/>
                </a:solidFill>
              </a:defRPr>
            </a:pPr>
            <a:r>
              <a:t>This chapter concludes that fusion's cost competitiveness is highly uncertain and it will likely complement renewables, implying that business models should focus on base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Projections for the levelized cost of fusion energy (LCOE) range from $50 to $100 per MWh by 2050, but these are highly uncertain due to lack of operational data. For comparison, solar and wind LCOE already fall below $30/MWh in many regions, and battery stora</a:t>
            </a:r>
          </a:p>
          <a:p>
            <a:pPr>
              <a:spcAft>
                <a:spcPts val="600"/>
              </a:spcAft>
              <a:defRPr sz="819">
                <a:solidFill>
                  <a:srgbClr val="333333"/>
                </a:solidFill>
              </a:defRPr>
            </a:pPr>
            <a:r>
              <a:t>The commercial implication is that fusion's market entry will depend on its ability to compete in specific niches, such as 24/7 carbon-free energy for data centers or industrial heat for steel and cement production. Companies should identify these high-value a</a:t>
            </a:r>
          </a:p>
          <a:p>
            <a:pPr>
              <a:spcAft>
                <a:spcPts val="600"/>
              </a:spcAft>
              <a:defRPr sz="819">
                <a:solidFill>
                  <a:srgbClr val="333333"/>
                </a:solidFill>
              </a:defRPr>
            </a:pPr>
            <a:r>
              <a:t>The investment-return implication is that fusion's cost trajectory is too uncertain to justify large capital commitments based on LCOE projections alone. Instead, investments should be structured with milestone-based tranches to manage risk.</a:t>
            </a:r>
          </a:p>
          <a:p>
            <a:pPr>
              <a:spcBef>
                <a:spcPts val="600"/>
              </a:spcBef>
              <a:defRPr sz="819" b="1">
                <a:solidFill>
                  <a:srgbClr val="003087"/>
                </a:solidFill>
              </a:defRPr>
            </a:pPr>
            <a:r>
              <a:t>Key implications</a:t>
            </a:r>
          </a:p>
          <a:p>
            <a:pPr>
              <a:defRPr sz="730">
                <a:solidFill>
                  <a:srgbClr val="333333"/>
                </a:solidFill>
              </a:defRPr>
            </a:pPr>
            <a:r>
              <a:t>- Fusion LCOE projections are highly uncertain and should not drive capital allocation.</a:t>
            </a:r>
          </a:p>
          <a:p>
            <a:pPr>
              <a:defRPr sz="730">
                <a:solidFill>
                  <a:srgbClr val="333333"/>
                </a:solidFill>
              </a:defRPr>
            </a:pPr>
            <a:r>
              <a:t>- Fusion's value lies in baseload and industrial heat applications, not in competing with solar an</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Investment Surges, but Public Funding Remains Critical for Infrastructure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Investment Surges, but Public Funding Remains Critical for Infrastructure</a:t>
            </a:r>
          </a:p>
          <a:p>
            <a:pPr>
              <a:defRPr sz="830">
                <a:solidFill>
                  <a:srgbClr val="64696E"/>
                </a:solidFill>
              </a:defRPr>
            </a:pPr>
            <a:r>
              <a:t>This chapter concludes that private investment has surged but public funding is essential for large-scale infrastructure, implying that companies should advocate for publ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fusion investment has grown rapidly, reaching over $5.6 billion globally as of 2024, according to the Fusion Industry Association. Major players include Commonwealth Fusion Systems ($2 billion+), Helion Energy ($1.7 billion), and TAE Technologies ($1.2</a:t>
            </a:r>
          </a:p>
          <a:p>
            <a:pPr>
              <a:spcAft>
                <a:spcPts val="600"/>
              </a:spcAft>
              <a:defRPr sz="819">
                <a:solidFill>
                  <a:srgbClr val="333333"/>
                </a:solidFill>
              </a:defRPr>
            </a:pPr>
            <a:r>
              <a:t>For CEOs, the commercial implication is that private capital alone is insufficient to bridge the gap between demonstration and deployment. Companies should actively engage with governments to advocate for loan guarantees, tax incentives, and direct funding for</a:t>
            </a:r>
          </a:p>
          <a:p>
            <a:pPr>
              <a:spcAft>
                <a:spcPts val="600"/>
              </a:spcAft>
              <a:defRPr sz="819">
                <a:solidFill>
                  <a:srgbClr val="333333"/>
                </a:solidFill>
              </a:defRPr>
            </a:pPr>
            <a:r>
              <a:t>The investment-return implication is that public-private partnerships can reduce risk and improve returns for early investors. Companies that secure government support may have a competitive advantage in accessing capital and talent.</a:t>
            </a:r>
          </a:p>
          <a:p>
            <a:pPr>
              <a:spcBef>
                <a:spcPts val="600"/>
              </a:spcBef>
              <a:defRPr sz="819" b="1">
                <a:solidFill>
                  <a:srgbClr val="003087"/>
                </a:solidFill>
              </a:defRPr>
            </a:pPr>
            <a:r>
              <a:t>Key implications</a:t>
            </a:r>
          </a:p>
          <a:p>
            <a:pPr>
              <a:defRPr sz="730">
                <a:solidFill>
                  <a:srgbClr val="333333"/>
                </a:solidFill>
              </a:defRPr>
            </a:pPr>
            <a:r>
              <a:t>- Private fusion investment has surged but is insufficient for large-scale infrastructure.</a:t>
            </a:r>
          </a:p>
          <a:p>
            <a:pPr>
              <a:defRPr sz="730">
                <a:solidFill>
                  <a:srgbClr val="333333"/>
                </a:solidFill>
              </a:defRPr>
            </a:pPr>
            <a:r>
              <a:t>- Public funding is critical for bridging the gap between demonstration and deployment.</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Energy Independence, Climate Mitigation, and First-Mover Advantages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Energy Independence, Climate Mitigation, and First-Mover Advantages</a:t>
            </a:r>
          </a:p>
          <a:p>
            <a:pPr>
              <a:defRPr sz="830">
                <a:solidFill>
                  <a:srgbClr val="64696E"/>
                </a:solidFill>
              </a:defRPr>
            </a:pPr>
            <a:r>
              <a:t>This chapter concludes that fusion offers strategic benefits in energy independence and climate mitigation, but first-mover advantages require early investment, implying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offers the potential for near-limitless, low-carbon energy, which could transform energy security and geopolitics by reducing dependence on fossil fuel imports. For climate goals, fusion could provide a firm, dispatchable power source to complement inte</a:t>
            </a:r>
          </a:p>
          <a:p>
            <a:pPr>
              <a:spcAft>
                <a:spcPts val="600"/>
              </a:spcAft>
              <a:defRPr sz="819">
                <a:solidFill>
                  <a:srgbClr val="333333"/>
                </a:solidFill>
              </a:defRPr>
            </a:pPr>
            <a:r>
              <a:t>The commercial implication is that companies should start building fusion capabilities now, even if commercial deployment is a decade away. This includes investing in R&amp;D, forming partners</a:t>
            </a:r>
          </a:p>
          <a:p>
            <a:pPr>
              <a:spcAft>
                <a:spcPts val="600"/>
              </a:spcAft>
              <a:defRPr sz="819">
                <a:solidFill>
                  <a:srgbClr val="333333"/>
                </a:solidFill>
              </a:defRPr>
            </a:pPr>
            <a:r>
              <a:t>The source backup should be used to validate this section before it is used for a decision.</a:t>
            </a:r>
          </a:p>
          <a:p>
            <a:pPr>
              <a:spcBef>
                <a:spcPts val="600"/>
              </a:spcBef>
              <a:defRPr sz="819" b="1">
                <a:solidFill>
                  <a:srgbClr val="003087"/>
                </a:solidFill>
              </a:defRPr>
            </a:pPr>
            <a:r>
              <a:t>Key implications</a:t>
            </a:r>
          </a:p>
          <a:p>
            <a:pPr>
              <a:defRPr sz="730">
                <a:solidFill>
                  <a:srgbClr val="333333"/>
                </a:solidFill>
              </a:defRPr>
            </a:pPr>
            <a:r>
              <a:t>- Fusion offers strategic benefits in energy independence and climate mitigation.</a:t>
            </a:r>
          </a:p>
          <a:p>
            <a:pPr>
              <a:defRPr sz="730">
                <a:solidFill>
                  <a:srgbClr val="333333"/>
                </a:solidFill>
              </a:defRPr>
            </a:pPr>
            <a:r>
              <a:t>- First-mover advantages require early investment in R&amp;D, workforce, and regulatory engagement.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BlueOcean Research Report on the Path to Grid-Scale Fusion Power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