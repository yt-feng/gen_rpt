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png" ContentType="image/pn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xml" ContentType="application/vnd.openxmlformats-officedocument.presentationml.slide+xml"/>
  <Override PartName="/ppt/slides/slide20.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8"/>
    <p:sldId id="258" r:id="rId9"/>
    <p:sldId id="259" r:id="rId10"/>
    <p:sldId id="260" r:id="rId11"/>
    <p:sldId id="261" r:id="rId12"/>
    <p:sldId id="262" r:id="rId13"/>
    <p:sldId id="263" r:id="rId14"/>
    <p:sldId id="264" r:id="rId15"/>
    <p:sldId id="265" r:id="rId16"/>
    <p:sldId id="266" r:id="rId17"/>
    <p:sldId id="267" r:id="rId18"/>
    <p:sldId id="268" r:id="rId19"/>
    <p:sldId id="269" r:id="rId20"/>
    <p:sldId id="270" r:id="rId21"/>
    <p:sldId id="271" r:id="rId22"/>
    <p:sldId id="272" r:id="rId23"/>
    <p:sldId id="273" r:id="rId24"/>
    <p:sldId id="274" r:id="rId25"/>
    <p:sldId id="275" r:id="rId26"/>
  </p:sldIdLst>
  <p:sldSz cx="12191695"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slide" Target="slides/slide2.xml"/><Relationship Id="rId9" Type="http://schemas.openxmlformats.org/officeDocument/2006/relationships/slide" Target="slides/slide3.xml"/><Relationship Id="rId10" Type="http://schemas.openxmlformats.org/officeDocument/2006/relationships/slide" Target="slides/slide4.xml"/><Relationship Id="rId11" Type="http://schemas.openxmlformats.org/officeDocument/2006/relationships/slide" Target="slides/slide5.xml"/><Relationship Id="rId12" Type="http://schemas.openxmlformats.org/officeDocument/2006/relationships/slide" Target="slides/slide6.xml"/><Relationship Id="rId13" Type="http://schemas.openxmlformats.org/officeDocument/2006/relationships/slide" Target="slides/slide7.xml"/><Relationship Id="rId14" Type="http://schemas.openxmlformats.org/officeDocument/2006/relationships/slide" Target="slides/slide8.xml"/><Relationship Id="rId15" Type="http://schemas.openxmlformats.org/officeDocument/2006/relationships/slide" Target="slides/slide9.xml"/><Relationship Id="rId16" Type="http://schemas.openxmlformats.org/officeDocument/2006/relationships/slide" Target="slides/slide10.xml"/><Relationship Id="rId17" Type="http://schemas.openxmlformats.org/officeDocument/2006/relationships/slide" Target="slides/slide11.xml"/><Relationship Id="rId18" Type="http://schemas.openxmlformats.org/officeDocument/2006/relationships/slide" Target="slides/slide12.xml"/><Relationship Id="rId19" Type="http://schemas.openxmlformats.org/officeDocument/2006/relationships/slide" Target="slides/slide13.xml"/><Relationship Id="rId20" Type="http://schemas.openxmlformats.org/officeDocument/2006/relationships/slide" Target="slides/slide14.xml"/><Relationship Id="rId21" Type="http://schemas.openxmlformats.org/officeDocument/2006/relationships/slide" Target="slides/slide15.xml"/><Relationship Id="rId22" Type="http://schemas.openxmlformats.org/officeDocument/2006/relationships/slide" Target="slides/slide16.xml"/><Relationship Id="rId23" Type="http://schemas.openxmlformats.org/officeDocument/2006/relationships/slide" Target="slides/slide17.xml"/><Relationship Id="rId24" Type="http://schemas.openxmlformats.org/officeDocument/2006/relationships/slide" Target="slides/slide18.xml"/><Relationship Id="rId25" Type="http://schemas.openxmlformats.org/officeDocument/2006/relationships/slide" Target="slides/slide19.xml"/><Relationship Id="rId26" Type="http://schemas.openxmlformats.org/officeDocument/2006/relationships/slide" Target="slides/slide20.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2.png"/></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3.png"/></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4.png"/></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5.png"/></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6.png"/></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7.png"/></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2.png"/></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3.png"/></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8.png"/></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4.png"/></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5.png"/></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6.png"/></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7.png"/></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slide1.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pic>
        <p:nvPicPr>
          <p:cNvPr id="2" name="Picture 1" descr="cover-background.png"/>
          <p:cNvPicPr>
            <a:picLocks noChangeAspect="1"/>
          </p:cNvPicPr>
          <p:nvPr/>
        </p:nvPicPr>
        <p:blipFill>
          <a:blip r:embed="rId2"/>
          <a:stretch>
            <a:fillRect/>
          </a:stretch>
        </p:blipFill>
        <p:spPr>
          <a:xfrm>
            <a:off x="0" y="0"/>
            <a:ext cx="12191695" cy="6858000"/>
          </a:xfrm>
          <a:prstGeom prst="rect">
            <a:avLst/>
          </a:prstGeom>
        </p:spPr>
      </p:pic>
      <p:sp>
        <p:nvSpPr>
          <p:cNvPr id="3" name="Rectangle 2"/>
          <p:cNvSpPr/>
          <p:nvPr/>
        </p:nvSpPr>
        <p:spPr>
          <a:xfrm>
            <a:off x="0" y="0"/>
            <a:ext cx="12191695" cy="6858000"/>
          </a:xfrm>
          <a:prstGeom prst="rect">
            <a:avLst/>
          </a:prstGeom>
          <a:solidFill>
            <a:srgbClr val="051C2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658368" y="685800"/>
            <a:ext cx="4892040" cy="3429000"/>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Rectangle 4"/>
          <p:cNvSpPr/>
          <p:nvPr/>
        </p:nvSpPr>
        <p:spPr>
          <a:xfrm>
            <a:off x="658368" y="685800"/>
            <a:ext cx="4892040" cy="73152"/>
          </a:xfrm>
          <a:prstGeom prst="rect">
            <a:avLst/>
          </a:prstGeom>
          <a:solidFill>
            <a:srgbClr val="3273F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960120" y="960120"/>
            <a:ext cx="4251960" cy="2743200"/>
          </a:xfrm>
          <a:prstGeom prst="rect">
            <a:avLst/>
          </a:prstGeom>
          <a:noFill/>
        </p:spPr>
        <p:txBody>
          <a:bodyPr wrap="square">
            <a:spAutoFit/>
          </a:bodyPr>
          <a:lstStyle/>
          <a:p>
            <a:pPr>
              <a:defRPr sz="900" b="1">
                <a:solidFill>
                  <a:srgbClr val="003087"/>
                </a:solidFill>
              </a:defRPr>
            </a:pPr>
            <a:r>
              <a:t>BLUEOCEAN</a:t>
            </a:r>
          </a:p>
          <a:p>
            <a:pPr>
              <a:spcBef>
                <a:spcPts val="1800"/>
              </a:spcBef>
              <a:defRPr sz="2300">
                <a:solidFill>
                  <a:srgbClr val="333333"/>
                </a:solidFill>
              </a:defRPr>
            </a:pPr>
            <a:r>
              <a:t>Strategic Assessment of China's Controlled Nuclear Fusion Program: Implications for Global Energy Markets</a:t>
            </a:r>
          </a:p>
          <a:p>
            <a:pPr>
              <a:spcBef>
                <a:spcPts val="1400"/>
              </a:spcBef>
              <a:defRPr sz="950">
                <a:solidFill>
                  <a:srgbClr val="64696E"/>
                </a:solidFill>
              </a:defRPr>
            </a:pPr>
            <a:r>
              <a:t>A BlueOcean Research Report for Senior Executives and Strategic Planners</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10682935" y="164592"/>
            <a:ext cx="1115568" cy="219456"/>
          </a:xfrm>
          <a:prstGeom prst="rect">
            <a:avLst/>
          </a:prstGeom>
          <a:noFill/>
        </p:spPr>
        <p:txBody>
          <a:bodyPr wrap="none">
            <a:spAutoFit/>
          </a:bodyPr>
          <a:lstStyle/>
          <a:p>
            <a:pPr algn="r">
              <a:defRPr sz="800" b="1">
                <a:solidFill>
                  <a:srgbClr val="003087"/>
                </a:solidFill>
              </a:defRPr>
            </a:pPr>
            <a:r>
              <a:t>BlueOcean</a:t>
            </a:r>
          </a:p>
        </p:txBody>
      </p:sp>
      <p:sp>
        <p:nvSpPr>
          <p:cNvPr id="3" name="TextBox 2"/>
          <p:cNvSpPr txBox="1"/>
          <p:nvPr/>
        </p:nvSpPr>
        <p:spPr>
          <a:xfrm>
            <a:off x="566928" y="6601968"/>
            <a:ext cx="11057839" cy="146304"/>
          </a:xfrm>
          <a:prstGeom prst="rect">
            <a:avLst/>
          </a:prstGeom>
          <a:noFill/>
        </p:spPr>
        <p:txBody>
          <a:bodyPr wrap="none">
            <a:spAutoFit/>
          </a:bodyPr>
          <a:lstStyle/>
          <a:p>
            <a:pPr>
              <a:defRPr sz="600">
                <a:solidFill>
                  <a:srgbClr val="A0A6AD"/>
                </a:solidFill>
              </a:defRPr>
            </a:pPr>
            <a:r>
              <a:t>Contents</a:t>
            </a:r>
          </a:p>
        </p:txBody>
      </p:sp>
      <p:sp>
        <p:nvSpPr>
          <p:cNvPr id="4" name="TextBox 3"/>
          <p:cNvSpPr txBox="1"/>
          <p:nvPr/>
        </p:nvSpPr>
        <p:spPr>
          <a:xfrm>
            <a:off x="566928" y="347472"/>
            <a:ext cx="9692640" cy="841248"/>
          </a:xfrm>
          <a:prstGeom prst="rect">
            <a:avLst/>
          </a:prstGeom>
          <a:noFill/>
        </p:spPr>
        <p:txBody>
          <a:bodyPr wrap="square">
            <a:spAutoFit/>
          </a:bodyPr>
          <a:lstStyle/>
          <a:p>
            <a:pPr>
              <a:defRPr sz="2000" b="0">
                <a:solidFill>
                  <a:srgbClr val="333333"/>
                </a:solidFill>
              </a:defRPr>
            </a:pPr>
            <a:r>
              <a:t>The discussion follows the management question, evidence, and implications</a:t>
            </a:r>
          </a:p>
        </p:txBody>
      </p:sp>
      <p:sp>
        <p:nvSpPr>
          <p:cNvPr id="5" name="Rectangle 4"/>
          <p:cNvSpPr/>
          <p:nvPr/>
        </p:nvSpPr>
        <p:spPr>
          <a:xfrm>
            <a:off x="566928" y="1115568"/>
            <a:ext cx="11057839" cy="9144"/>
          </a:xfrm>
          <a:prstGeom prst="rect">
            <a:avLst/>
          </a:prstGeom>
          <a:solidFill>
            <a:srgbClr val="C8C8C8"/>
          </a:solidFill>
          <a:ln>
            <a:solidFill>
              <a:srgbClr val="C8C8C8"/>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566928" y="1417320"/>
            <a:ext cx="502920" cy="274320"/>
          </a:xfrm>
          <a:prstGeom prst="rect">
            <a:avLst/>
          </a:prstGeom>
          <a:noFill/>
        </p:spPr>
        <p:txBody>
          <a:bodyPr wrap="none">
            <a:spAutoFit/>
          </a:bodyPr>
          <a:lstStyle/>
          <a:p>
            <a:pPr>
              <a:defRPr sz="950" b="1">
                <a:solidFill>
                  <a:srgbClr val="003087"/>
                </a:solidFill>
              </a:defRPr>
            </a:pPr>
            <a:r>
              <a:t>01</a:t>
            </a:r>
          </a:p>
        </p:txBody>
      </p:sp>
      <p:sp>
        <p:nvSpPr>
          <p:cNvPr id="7" name="TextBox 6"/>
          <p:cNvSpPr txBox="1"/>
          <p:nvPr/>
        </p:nvSpPr>
        <p:spPr>
          <a:xfrm>
            <a:off x="1143000" y="1417320"/>
            <a:ext cx="9601200" cy="384048"/>
          </a:xfrm>
          <a:prstGeom prst="rect">
            <a:avLst/>
          </a:prstGeom>
          <a:noFill/>
        </p:spPr>
        <p:txBody>
          <a:bodyPr wrap="none">
            <a:spAutoFit/>
          </a:bodyPr>
          <a:lstStyle/>
          <a:p>
            <a:pPr>
              <a:defRPr sz="1260">
                <a:solidFill>
                  <a:srgbClr val="333333"/>
                </a:solidFill>
              </a:defRPr>
            </a:pPr>
            <a:r>
              <a:t>China's Fusion Program Is on Track to Achieve Key Technical Milestones by 2026, but Commercial Viability Remai</a:t>
            </a:r>
          </a:p>
        </p:txBody>
      </p:sp>
      <p:sp>
        <p:nvSpPr>
          <p:cNvPr id="8" name="TextBox 7"/>
          <p:cNvSpPr txBox="1"/>
          <p:nvPr/>
        </p:nvSpPr>
        <p:spPr>
          <a:xfrm>
            <a:off x="566928" y="1874520"/>
            <a:ext cx="502920" cy="274320"/>
          </a:xfrm>
          <a:prstGeom prst="rect">
            <a:avLst/>
          </a:prstGeom>
          <a:noFill/>
        </p:spPr>
        <p:txBody>
          <a:bodyPr wrap="none">
            <a:spAutoFit/>
          </a:bodyPr>
          <a:lstStyle/>
          <a:p>
            <a:pPr>
              <a:defRPr sz="950" b="1">
                <a:solidFill>
                  <a:srgbClr val="003087"/>
                </a:solidFill>
              </a:defRPr>
            </a:pPr>
            <a:r>
              <a:t>02</a:t>
            </a:r>
          </a:p>
        </p:txBody>
      </p:sp>
      <p:sp>
        <p:nvSpPr>
          <p:cNvPr id="9" name="TextBox 8"/>
          <p:cNvSpPr txBox="1"/>
          <p:nvPr/>
        </p:nvSpPr>
        <p:spPr>
          <a:xfrm>
            <a:off x="1143000" y="1874520"/>
            <a:ext cx="9601200" cy="384048"/>
          </a:xfrm>
          <a:prstGeom prst="rect">
            <a:avLst/>
          </a:prstGeom>
          <a:noFill/>
        </p:spPr>
        <p:txBody>
          <a:bodyPr wrap="none">
            <a:spAutoFit/>
          </a:bodyPr>
          <a:lstStyle/>
          <a:p>
            <a:pPr>
              <a:defRPr sz="1260">
                <a:solidFill>
                  <a:srgbClr val="333333"/>
                </a:solidFill>
              </a:defRPr>
            </a:pPr>
            <a:r>
              <a:t>Government Funding and Policy Support for Fusion in China Are Robust and Growing, with a Clear National Roadma</a:t>
            </a:r>
          </a:p>
        </p:txBody>
      </p:sp>
      <p:sp>
        <p:nvSpPr>
          <p:cNvPr id="10" name="TextBox 9"/>
          <p:cNvSpPr txBox="1"/>
          <p:nvPr/>
        </p:nvSpPr>
        <p:spPr>
          <a:xfrm>
            <a:off x="566928" y="2331720"/>
            <a:ext cx="502920" cy="274320"/>
          </a:xfrm>
          <a:prstGeom prst="rect">
            <a:avLst/>
          </a:prstGeom>
          <a:noFill/>
        </p:spPr>
        <p:txBody>
          <a:bodyPr wrap="none">
            <a:spAutoFit/>
          </a:bodyPr>
          <a:lstStyle/>
          <a:p>
            <a:pPr>
              <a:defRPr sz="950" b="1">
                <a:solidFill>
                  <a:srgbClr val="003087"/>
                </a:solidFill>
              </a:defRPr>
            </a:pPr>
            <a:r>
              <a:t>03</a:t>
            </a:r>
          </a:p>
        </p:txBody>
      </p:sp>
      <p:sp>
        <p:nvSpPr>
          <p:cNvPr id="11" name="TextBox 10"/>
          <p:cNvSpPr txBox="1"/>
          <p:nvPr/>
        </p:nvSpPr>
        <p:spPr>
          <a:xfrm>
            <a:off x="1143000" y="2331720"/>
            <a:ext cx="9601200" cy="384048"/>
          </a:xfrm>
          <a:prstGeom prst="rect">
            <a:avLst/>
          </a:prstGeom>
          <a:noFill/>
        </p:spPr>
        <p:txBody>
          <a:bodyPr wrap="none">
            <a:spAutoFit/>
          </a:bodyPr>
          <a:lstStyle/>
          <a:p>
            <a:pPr>
              <a:defRPr sz="1260">
                <a:solidFill>
                  <a:srgbClr val="333333"/>
                </a:solidFill>
              </a:defRPr>
            </a:pPr>
            <a:r>
              <a:t>China Is Both a Key Collaborator and a Competitor in International Fusion Efforts, Leveraging ITER While Advan</a:t>
            </a:r>
          </a:p>
        </p:txBody>
      </p:sp>
      <p:sp>
        <p:nvSpPr>
          <p:cNvPr id="12" name="TextBox 11"/>
          <p:cNvSpPr txBox="1"/>
          <p:nvPr/>
        </p:nvSpPr>
        <p:spPr>
          <a:xfrm>
            <a:off x="566928" y="2788920"/>
            <a:ext cx="502920" cy="274320"/>
          </a:xfrm>
          <a:prstGeom prst="rect">
            <a:avLst/>
          </a:prstGeom>
          <a:noFill/>
        </p:spPr>
        <p:txBody>
          <a:bodyPr wrap="none">
            <a:spAutoFit/>
          </a:bodyPr>
          <a:lstStyle/>
          <a:p>
            <a:pPr>
              <a:defRPr sz="950" b="1">
                <a:solidFill>
                  <a:srgbClr val="003087"/>
                </a:solidFill>
              </a:defRPr>
            </a:pPr>
            <a:r>
              <a:t>04</a:t>
            </a:r>
          </a:p>
        </p:txBody>
      </p:sp>
      <p:sp>
        <p:nvSpPr>
          <p:cNvPr id="13" name="TextBox 12"/>
          <p:cNvSpPr txBox="1"/>
          <p:nvPr/>
        </p:nvSpPr>
        <p:spPr>
          <a:xfrm>
            <a:off x="1143000" y="2788920"/>
            <a:ext cx="9601200" cy="384048"/>
          </a:xfrm>
          <a:prstGeom prst="rect">
            <a:avLst/>
          </a:prstGeom>
          <a:noFill/>
        </p:spPr>
        <p:txBody>
          <a:bodyPr wrap="none">
            <a:spAutoFit/>
          </a:bodyPr>
          <a:lstStyle/>
          <a:p>
            <a:pPr>
              <a:defRPr sz="1260">
                <a:solidFill>
                  <a:srgbClr val="333333"/>
                </a:solidFill>
              </a:defRPr>
            </a:pPr>
            <a:r>
              <a:t>Strategic Implications Include Potential Energy Independence for China and Shifts in Global Energy Geopolitics</a:t>
            </a:r>
          </a:p>
        </p:txBody>
      </p:sp>
      <p:sp>
        <p:nvSpPr>
          <p:cNvPr id="14" name="TextBox 13"/>
          <p:cNvSpPr txBox="1"/>
          <p:nvPr/>
        </p:nvSpPr>
        <p:spPr>
          <a:xfrm>
            <a:off x="566928" y="3246120"/>
            <a:ext cx="502920" cy="274320"/>
          </a:xfrm>
          <a:prstGeom prst="rect">
            <a:avLst/>
          </a:prstGeom>
          <a:noFill/>
        </p:spPr>
        <p:txBody>
          <a:bodyPr wrap="none">
            <a:spAutoFit/>
          </a:bodyPr>
          <a:lstStyle/>
          <a:p>
            <a:pPr>
              <a:defRPr sz="950" b="1">
                <a:solidFill>
                  <a:srgbClr val="003087"/>
                </a:solidFill>
              </a:defRPr>
            </a:pPr>
            <a:r>
              <a:t>05</a:t>
            </a:r>
          </a:p>
        </p:txBody>
      </p:sp>
      <p:sp>
        <p:nvSpPr>
          <p:cNvPr id="15" name="TextBox 14"/>
          <p:cNvSpPr txBox="1"/>
          <p:nvPr/>
        </p:nvSpPr>
        <p:spPr>
          <a:xfrm>
            <a:off x="1143000" y="3246120"/>
            <a:ext cx="9601200" cy="384048"/>
          </a:xfrm>
          <a:prstGeom prst="rect">
            <a:avLst/>
          </a:prstGeom>
          <a:noFill/>
        </p:spPr>
        <p:txBody>
          <a:bodyPr wrap="none">
            <a:spAutoFit/>
          </a:bodyPr>
          <a:lstStyle/>
          <a:p>
            <a:pPr>
              <a:defRPr sz="1260">
                <a:solidFill>
                  <a:srgbClr val="333333"/>
                </a:solidFill>
              </a:defRPr>
            </a:pPr>
            <a:r>
              <a:t>China's Fusion Timeline: What to Expect by 2026</a:t>
            </a:r>
          </a:p>
        </p:txBody>
      </p:sp>
      <p:sp>
        <p:nvSpPr>
          <p:cNvPr id="16" name="TextBox 15"/>
          <p:cNvSpPr txBox="1"/>
          <p:nvPr/>
        </p:nvSpPr>
        <p:spPr>
          <a:xfrm>
            <a:off x="566928" y="3703320"/>
            <a:ext cx="502920" cy="274320"/>
          </a:xfrm>
          <a:prstGeom prst="rect">
            <a:avLst/>
          </a:prstGeom>
          <a:noFill/>
        </p:spPr>
        <p:txBody>
          <a:bodyPr wrap="none">
            <a:spAutoFit/>
          </a:bodyPr>
          <a:lstStyle/>
          <a:p>
            <a:pPr>
              <a:defRPr sz="950" b="1">
                <a:solidFill>
                  <a:srgbClr val="003087"/>
                </a:solidFill>
              </a:defRPr>
            </a:pPr>
            <a:r>
              <a:t>06</a:t>
            </a:r>
          </a:p>
        </p:txBody>
      </p:sp>
      <p:sp>
        <p:nvSpPr>
          <p:cNvPr id="17" name="TextBox 16"/>
          <p:cNvSpPr txBox="1"/>
          <p:nvPr/>
        </p:nvSpPr>
        <p:spPr>
          <a:xfrm>
            <a:off x="1143000" y="3703320"/>
            <a:ext cx="9601200" cy="384048"/>
          </a:xfrm>
          <a:prstGeom prst="rect">
            <a:avLst/>
          </a:prstGeom>
          <a:noFill/>
        </p:spPr>
        <p:txBody>
          <a:bodyPr wrap="none">
            <a:spAutoFit/>
          </a:bodyPr>
          <a:lstStyle/>
          <a:p>
            <a:pPr>
              <a:defRPr sz="1260">
                <a:solidFill>
                  <a:srgbClr val="333333"/>
                </a:solidFill>
              </a:defRPr>
            </a:pPr>
            <a:r>
              <a:t>How China's Fusion Funding Compares Globally</a:t>
            </a:r>
          </a:p>
        </p:txBody>
      </p:sp>
      <p:sp>
        <p:nvSpPr>
          <p:cNvPr id="18" name="TextBox 17"/>
          <p:cNvSpPr txBox="1"/>
          <p:nvPr/>
        </p:nvSpPr>
        <p:spPr>
          <a:xfrm>
            <a:off x="566928" y="4160520"/>
            <a:ext cx="502920" cy="274320"/>
          </a:xfrm>
          <a:prstGeom prst="rect">
            <a:avLst/>
          </a:prstGeom>
          <a:noFill/>
        </p:spPr>
        <p:txBody>
          <a:bodyPr wrap="none">
            <a:spAutoFit/>
          </a:bodyPr>
          <a:lstStyle/>
          <a:p>
            <a:pPr>
              <a:defRPr sz="950" b="1">
                <a:solidFill>
                  <a:srgbClr val="003087"/>
                </a:solidFill>
              </a:defRPr>
            </a:pPr>
            <a:r>
              <a:t>07</a:t>
            </a:r>
          </a:p>
        </p:txBody>
      </p:sp>
      <p:sp>
        <p:nvSpPr>
          <p:cNvPr id="19" name="TextBox 18"/>
          <p:cNvSpPr txBox="1"/>
          <p:nvPr/>
        </p:nvSpPr>
        <p:spPr>
          <a:xfrm>
            <a:off x="1143000" y="4160520"/>
            <a:ext cx="9601200" cy="384048"/>
          </a:xfrm>
          <a:prstGeom prst="rect">
            <a:avLst/>
          </a:prstGeom>
          <a:noFill/>
        </p:spPr>
        <p:txBody>
          <a:bodyPr wrap="none">
            <a:spAutoFit/>
          </a:bodyPr>
          <a:lstStyle/>
          <a:p>
            <a:pPr>
              <a:defRPr sz="1260">
                <a:solidFill>
                  <a:srgbClr val="333333"/>
                </a:solidFill>
              </a:defRPr>
            </a:pPr>
            <a:r>
              <a:t>The Role of EAST and CFETR in China's Fusion Roadmap</a:t>
            </a:r>
          </a:p>
        </p:txBody>
      </p:sp>
      <p:sp>
        <p:nvSpPr>
          <p:cNvPr id="20" name="TextBox 19"/>
          <p:cNvSpPr txBox="1"/>
          <p:nvPr/>
        </p:nvSpPr>
        <p:spPr>
          <a:xfrm>
            <a:off x="566928" y="4617720"/>
            <a:ext cx="502920" cy="274320"/>
          </a:xfrm>
          <a:prstGeom prst="rect">
            <a:avLst/>
          </a:prstGeom>
          <a:noFill/>
        </p:spPr>
        <p:txBody>
          <a:bodyPr wrap="none">
            <a:spAutoFit/>
          </a:bodyPr>
          <a:lstStyle/>
          <a:p>
            <a:pPr>
              <a:defRPr sz="950" b="1">
                <a:solidFill>
                  <a:srgbClr val="003087"/>
                </a:solidFill>
              </a:defRPr>
            </a:pPr>
            <a:r>
              <a:t>08</a:t>
            </a:r>
          </a:p>
        </p:txBody>
      </p:sp>
      <p:sp>
        <p:nvSpPr>
          <p:cNvPr id="21" name="TextBox 20"/>
          <p:cNvSpPr txBox="1"/>
          <p:nvPr/>
        </p:nvSpPr>
        <p:spPr>
          <a:xfrm>
            <a:off x="1143000" y="4617720"/>
            <a:ext cx="9601200" cy="384048"/>
          </a:xfrm>
          <a:prstGeom prst="rect">
            <a:avLst/>
          </a:prstGeom>
          <a:noFill/>
        </p:spPr>
        <p:txBody>
          <a:bodyPr wrap="none">
            <a:spAutoFit/>
          </a:bodyPr>
          <a:lstStyle/>
          <a:p>
            <a:pPr>
              <a:defRPr sz="1260">
                <a:solidFill>
                  <a:srgbClr val="333333"/>
                </a:solidFill>
              </a:defRPr>
            </a:pPr>
            <a:r>
              <a:t>China's Fusion IP Strategy: Lessons from ITER</a:t>
            </a:r>
          </a:p>
        </p:txBody>
      </p:sp>
      <p:sp>
        <p:nvSpPr>
          <p:cNvPr id="22" name="TextBox 21"/>
          <p:cNvSpPr txBox="1"/>
          <p:nvPr/>
        </p:nvSpPr>
        <p:spPr>
          <a:xfrm>
            <a:off x="566928" y="5074920"/>
            <a:ext cx="502920" cy="274320"/>
          </a:xfrm>
          <a:prstGeom prst="rect">
            <a:avLst/>
          </a:prstGeom>
          <a:noFill/>
        </p:spPr>
        <p:txBody>
          <a:bodyPr wrap="none">
            <a:spAutoFit/>
          </a:bodyPr>
          <a:lstStyle/>
          <a:p>
            <a:pPr>
              <a:defRPr sz="950" b="1">
                <a:solidFill>
                  <a:srgbClr val="003087"/>
                </a:solidFill>
              </a:defRPr>
            </a:pPr>
            <a:r>
              <a:t>09</a:t>
            </a:r>
          </a:p>
        </p:txBody>
      </p:sp>
      <p:sp>
        <p:nvSpPr>
          <p:cNvPr id="23" name="TextBox 22"/>
          <p:cNvSpPr txBox="1"/>
          <p:nvPr/>
        </p:nvSpPr>
        <p:spPr>
          <a:xfrm>
            <a:off x="1143000" y="5074920"/>
            <a:ext cx="9601200" cy="384048"/>
          </a:xfrm>
          <a:prstGeom prst="rect">
            <a:avLst/>
          </a:prstGeom>
          <a:noFill/>
        </p:spPr>
        <p:txBody>
          <a:bodyPr wrap="none">
            <a:spAutoFit/>
          </a:bodyPr>
          <a:lstStyle/>
          <a:p>
            <a:pPr>
              <a:defRPr sz="1260">
                <a:solidFill>
                  <a:srgbClr val="333333"/>
                </a:solidFill>
              </a:defRPr>
            </a:pPr>
            <a:r>
              <a:t>Geopolitical Risks of a Chinese Fusion Breakthrough</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10682935" y="164592"/>
            <a:ext cx="1115568" cy="219456"/>
          </a:xfrm>
          <a:prstGeom prst="rect">
            <a:avLst/>
          </a:prstGeom>
          <a:noFill/>
        </p:spPr>
        <p:txBody>
          <a:bodyPr wrap="none">
            <a:spAutoFit/>
          </a:bodyPr>
          <a:lstStyle/>
          <a:p>
            <a:pPr algn="r">
              <a:defRPr sz="800" b="1">
                <a:solidFill>
                  <a:srgbClr val="003087"/>
                </a:solidFill>
              </a:defRPr>
            </a:pPr>
            <a:r>
              <a:t>BlueOcean</a:t>
            </a:r>
          </a:p>
        </p:txBody>
      </p:sp>
      <p:sp>
        <p:nvSpPr>
          <p:cNvPr id="3" name="TextBox 2"/>
          <p:cNvSpPr txBox="1"/>
          <p:nvPr/>
        </p:nvSpPr>
        <p:spPr>
          <a:xfrm>
            <a:off x="566928" y="6601968"/>
            <a:ext cx="11057839" cy="146304"/>
          </a:xfrm>
          <a:prstGeom prst="rect">
            <a:avLst/>
          </a:prstGeom>
          <a:noFill/>
        </p:spPr>
        <p:txBody>
          <a:bodyPr wrap="none">
            <a:spAutoFit/>
          </a:bodyPr>
          <a:lstStyle/>
          <a:p>
            <a:pPr>
              <a:defRPr sz="600">
                <a:solidFill>
                  <a:srgbClr val="A0A6AD"/>
                </a:solidFill>
              </a:defRPr>
            </a:pPr>
            <a:r>
              <a:t>Key highlights</a:t>
            </a:r>
          </a:p>
        </p:txBody>
      </p:sp>
      <p:sp>
        <p:nvSpPr>
          <p:cNvPr id="4" name="TextBox 3"/>
          <p:cNvSpPr txBox="1"/>
          <p:nvPr/>
        </p:nvSpPr>
        <p:spPr>
          <a:xfrm>
            <a:off x="566928" y="347472"/>
            <a:ext cx="9692640" cy="841248"/>
          </a:xfrm>
          <a:prstGeom prst="rect">
            <a:avLst/>
          </a:prstGeom>
          <a:noFill/>
        </p:spPr>
        <p:txBody>
          <a:bodyPr wrap="square">
            <a:spAutoFit/>
          </a:bodyPr>
          <a:lstStyle/>
          <a:p>
            <a:pPr>
              <a:defRPr sz="2000" b="0">
                <a:solidFill>
                  <a:srgbClr val="333333"/>
                </a:solidFill>
              </a:defRPr>
            </a:pPr>
            <a:r>
              <a:t>The analysis narrows the agenda to a focused set of management priorities</a:t>
            </a:r>
          </a:p>
        </p:txBody>
      </p:sp>
      <p:sp>
        <p:nvSpPr>
          <p:cNvPr id="5" name="Rectangle 4"/>
          <p:cNvSpPr/>
          <p:nvPr/>
        </p:nvSpPr>
        <p:spPr>
          <a:xfrm>
            <a:off x="566928" y="1115568"/>
            <a:ext cx="11057839" cy="9144"/>
          </a:xfrm>
          <a:prstGeom prst="rect">
            <a:avLst/>
          </a:prstGeom>
          <a:solidFill>
            <a:srgbClr val="C8C8C8"/>
          </a:solidFill>
          <a:ln>
            <a:solidFill>
              <a:srgbClr val="C8C8C8"/>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ectangle 5"/>
          <p:cNvSpPr/>
          <p:nvPr/>
        </p:nvSpPr>
        <p:spPr>
          <a:xfrm>
            <a:off x="566928" y="1389888"/>
            <a:ext cx="5394960" cy="868680"/>
          </a:xfrm>
          <a:prstGeom prst="rect">
            <a:avLst/>
          </a:prstGeom>
          <a:solidFill>
            <a:srgbClr val="FFFFFF"/>
          </a:solidFill>
          <a:ln>
            <a:solidFill>
              <a:srgbClr val="C8C8C8"/>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566928" y="1389888"/>
            <a:ext cx="54864" cy="868680"/>
          </a:xfrm>
          <a:prstGeom prst="rect">
            <a:avLst/>
          </a:prstGeom>
          <a:solidFill>
            <a:srgbClr val="00308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713232" y="1481328"/>
            <a:ext cx="438912" cy="201168"/>
          </a:xfrm>
          <a:prstGeom prst="rect">
            <a:avLst/>
          </a:prstGeom>
          <a:noFill/>
        </p:spPr>
        <p:txBody>
          <a:bodyPr wrap="none">
            <a:spAutoFit/>
          </a:bodyPr>
          <a:lstStyle/>
          <a:p>
            <a:pPr>
              <a:defRPr sz="900" b="1">
                <a:solidFill>
                  <a:srgbClr val="003087"/>
                </a:solidFill>
              </a:defRPr>
            </a:pPr>
            <a:r>
              <a:t>01</a:t>
            </a:r>
          </a:p>
        </p:txBody>
      </p:sp>
      <p:sp>
        <p:nvSpPr>
          <p:cNvPr id="9" name="TextBox 8"/>
          <p:cNvSpPr txBox="1"/>
          <p:nvPr/>
        </p:nvSpPr>
        <p:spPr>
          <a:xfrm>
            <a:off x="1207008" y="1499616"/>
            <a:ext cx="4590288" cy="704088"/>
          </a:xfrm>
          <a:prstGeom prst="rect">
            <a:avLst/>
          </a:prstGeom>
          <a:noFill/>
        </p:spPr>
        <p:txBody>
          <a:bodyPr wrap="square">
            <a:spAutoFit/>
          </a:bodyPr>
          <a:lstStyle/>
          <a:p>
            <a:pPr>
              <a:defRPr sz="770">
                <a:solidFill>
                  <a:srgbClr val="333333"/>
                </a:solidFill>
              </a:defRPr>
            </a:pPr>
            <a:r>
              <a:t>China's controlled nuclear fusion program is advancing rapidly, with key milestones expected by 2026 including completion of the HL-2M</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10682935" y="164592"/>
            <a:ext cx="1115568" cy="219456"/>
          </a:xfrm>
          <a:prstGeom prst="rect">
            <a:avLst/>
          </a:prstGeom>
          <a:noFill/>
        </p:spPr>
        <p:txBody>
          <a:bodyPr wrap="none">
            <a:spAutoFit/>
          </a:bodyPr>
          <a:lstStyle/>
          <a:p>
            <a:pPr algn="r">
              <a:defRPr sz="800" b="1">
                <a:solidFill>
                  <a:srgbClr val="003087"/>
                </a:solidFill>
              </a:defRPr>
            </a:pPr>
            <a:r>
              <a:t>BlueOcean</a:t>
            </a:r>
          </a:p>
        </p:txBody>
      </p:sp>
      <p:sp>
        <p:nvSpPr>
          <p:cNvPr id="3" name="TextBox 2"/>
          <p:cNvSpPr txBox="1"/>
          <p:nvPr/>
        </p:nvSpPr>
        <p:spPr>
          <a:xfrm>
            <a:off x="566928" y="6601968"/>
            <a:ext cx="11057839" cy="146304"/>
          </a:xfrm>
          <a:prstGeom prst="rect">
            <a:avLst/>
          </a:prstGeom>
          <a:noFill/>
        </p:spPr>
        <p:txBody>
          <a:bodyPr wrap="none">
            <a:spAutoFit/>
          </a:bodyPr>
          <a:lstStyle/>
          <a:p>
            <a:pPr>
              <a:defRPr sz="600">
                <a:solidFill>
                  <a:srgbClr val="A0A6AD"/>
                </a:solidFill>
              </a:defRPr>
            </a:pPr>
            <a:r>
              <a:t>China's Fusion Program Is on Track to Achieve Key Technical Milestones by 2026, but Commercial Viability Remains Distant</a:t>
            </a:r>
          </a:p>
        </p:txBody>
      </p:sp>
      <p:sp>
        <p:nvSpPr>
          <p:cNvPr id="4" name="TextBox 3"/>
          <p:cNvSpPr txBox="1"/>
          <p:nvPr/>
        </p:nvSpPr>
        <p:spPr>
          <a:xfrm>
            <a:off x="566928" y="347472"/>
            <a:ext cx="9692640" cy="841248"/>
          </a:xfrm>
          <a:prstGeom prst="rect">
            <a:avLst/>
          </a:prstGeom>
          <a:noFill/>
        </p:spPr>
        <p:txBody>
          <a:bodyPr wrap="square">
            <a:spAutoFit/>
          </a:bodyPr>
          <a:lstStyle/>
          <a:p>
            <a:pPr>
              <a:defRPr sz="2000" b="0">
                <a:solidFill>
                  <a:srgbClr val="333333"/>
                </a:solidFill>
              </a:defRPr>
            </a:pPr>
            <a:r>
              <a:t>China's Fusion Program Is on Track to Achieve Key Technical Milestones by 2026, but Commercial Viability Remains Dista</a:t>
            </a:r>
          </a:p>
        </p:txBody>
      </p:sp>
      <p:sp>
        <p:nvSpPr>
          <p:cNvPr id="5" name="Rectangle 4"/>
          <p:cNvSpPr/>
          <p:nvPr/>
        </p:nvSpPr>
        <p:spPr>
          <a:xfrm>
            <a:off x="566928" y="1115568"/>
            <a:ext cx="11057839" cy="9144"/>
          </a:xfrm>
          <a:prstGeom prst="rect">
            <a:avLst/>
          </a:prstGeom>
          <a:solidFill>
            <a:srgbClr val="C8C8C8"/>
          </a:solidFill>
          <a:ln>
            <a:solidFill>
              <a:srgbClr val="C8C8C8"/>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566928" y="1353312"/>
            <a:ext cx="4892040" cy="4315968"/>
          </a:xfrm>
          <a:prstGeom prst="rect">
            <a:avLst/>
          </a:prstGeom>
          <a:noFill/>
        </p:spPr>
        <p:txBody>
          <a:bodyPr wrap="square" tIns="0" bIns="0">
            <a:spAutoFit/>
          </a:bodyPr>
          <a:lstStyle/>
          <a:p>
            <a:pPr>
              <a:spcAft>
                <a:spcPts val="600"/>
              </a:spcAft>
              <a:defRPr sz="819">
                <a:solidFill>
                  <a:srgbClr val="333333"/>
                </a:solidFill>
              </a:defRPr>
            </a:pPr>
            <a:r>
              <a:t>China's controlled nuclear fusion program has made significant strides, with the Experimental Advanced Superconducting Tokamak (EAST) achieving sustained plasma temperatures over 100 million degrees Celsius for more than 100 seconds in 2023. By 2026, EAST is e</a:t>
            </a:r>
          </a:p>
          <a:p>
            <a:pPr>
              <a:spcAft>
                <a:spcPts val="600"/>
              </a:spcAft>
              <a:defRPr sz="819">
                <a:solidFill>
                  <a:srgbClr val="333333"/>
                </a:solidFill>
              </a:defRPr>
            </a:pPr>
            <a:r>
              <a:t>The China Fusion Engineering Test Reactor (CFETR), designed to bridge the gap between ITER and a demonstration power plant, is in the detailed design phase. By 2026, CFETR's engineering design is expected to be finalized, with construction potentially starting</a:t>
            </a:r>
          </a:p>
          <a:p>
            <a:pPr>
              <a:spcAft>
                <a:spcPts val="600"/>
              </a:spcAft>
              <a:defRPr sz="819">
                <a:solidFill>
                  <a:srgbClr val="333333"/>
                </a:solidFill>
              </a:defRPr>
            </a:pPr>
            <a:r>
              <a:t>Despite these advances, critical technical challenges remain. Plasma confinement stability, especially for long-pulse operation, requires further development of real-time control systems. Materials capable of withstanding high neutron fluxes and heat loads are</a:t>
            </a:r>
          </a:p>
        </p:txBody>
      </p:sp>
      <p:sp>
        <p:nvSpPr>
          <p:cNvPr id="7" name="Rectangle 6"/>
          <p:cNvSpPr/>
          <p:nvPr/>
        </p:nvSpPr>
        <p:spPr>
          <a:xfrm>
            <a:off x="5989320" y="1481328"/>
            <a:ext cx="5303520" cy="3749039"/>
          </a:xfrm>
          <a:prstGeom prst="rect">
            <a:avLst/>
          </a:prstGeom>
          <a:solidFill>
            <a:srgbClr val="F5F7FA"/>
          </a:solidFill>
          <a:ln>
            <a:solidFill>
              <a:srgbClr val="C8C8C8"/>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10682935" y="164592"/>
            <a:ext cx="1115568" cy="219456"/>
          </a:xfrm>
          <a:prstGeom prst="rect">
            <a:avLst/>
          </a:prstGeom>
          <a:noFill/>
        </p:spPr>
        <p:txBody>
          <a:bodyPr wrap="none">
            <a:spAutoFit/>
          </a:bodyPr>
          <a:lstStyle/>
          <a:p>
            <a:pPr algn="r">
              <a:defRPr sz="800" b="1">
                <a:solidFill>
                  <a:srgbClr val="003087"/>
                </a:solidFill>
              </a:defRPr>
            </a:pPr>
            <a:r>
              <a:t>BlueOcean</a:t>
            </a:r>
          </a:p>
        </p:txBody>
      </p:sp>
      <p:sp>
        <p:nvSpPr>
          <p:cNvPr id="3" name="TextBox 2"/>
          <p:cNvSpPr txBox="1"/>
          <p:nvPr/>
        </p:nvSpPr>
        <p:spPr>
          <a:xfrm>
            <a:off x="566928" y="6601968"/>
            <a:ext cx="11057839" cy="146304"/>
          </a:xfrm>
          <a:prstGeom prst="rect">
            <a:avLst/>
          </a:prstGeom>
          <a:noFill/>
        </p:spPr>
        <p:txBody>
          <a:bodyPr wrap="none">
            <a:spAutoFit/>
          </a:bodyPr>
          <a:lstStyle/>
          <a:p>
            <a:pPr>
              <a:defRPr sz="600">
                <a:solidFill>
                  <a:srgbClr val="A0A6AD"/>
                </a:solidFill>
              </a:defRPr>
            </a:pPr>
            <a:r>
              <a:t>Government Funding and Policy Support for Fusion in China Are Robust and Growing, with a Clear National Roadmap</a:t>
            </a:r>
          </a:p>
        </p:txBody>
      </p:sp>
      <p:sp>
        <p:nvSpPr>
          <p:cNvPr id="4" name="TextBox 3"/>
          <p:cNvSpPr txBox="1"/>
          <p:nvPr/>
        </p:nvSpPr>
        <p:spPr>
          <a:xfrm>
            <a:off x="566928" y="347472"/>
            <a:ext cx="9692640" cy="841248"/>
          </a:xfrm>
          <a:prstGeom prst="rect">
            <a:avLst/>
          </a:prstGeom>
          <a:noFill/>
        </p:spPr>
        <p:txBody>
          <a:bodyPr wrap="square">
            <a:spAutoFit/>
          </a:bodyPr>
          <a:lstStyle/>
          <a:p>
            <a:pPr>
              <a:defRPr sz="2000" b="0">
                <a:solidFill>
                  <a:srgbClr val="333333"/>
                </a:solidFill>
              </a:defRPr>
            </a:pPr>
            <a:r>
              <a:t>Government Funding and Policy Support for Fusion in China Are Robust and Growing, with a Clear National Roadmap</a:t>
            </a:r>
          </a:p>
        </p:txBody>
      </p:sp>
      <p:sp>
        <p:nvSpPr>
          <p:cNvPr id="5" name="Rectangle 4"/>
          <p:cNvSpPr/>
          <p:nvPr/>
        </p:nvSpPr>
        <p:spPr>
          <a:xfrm>
            <a:off x="566928" y="1115568"/>
            <a:ext cx="11057839" cy="9144"/>
          </a:xfrm>
          <a:prstGeom prst="rect">
            <a:avLst/>
          </a:prstGeom>
          <a:solidFill>
            <a:srgbClr val="C8C8C8"/>
          </a:solidFill>
          <a:ln>
            <a:solidFill>
              <a:srgbClr val="C8C8C8"/>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566928" y="1353312"/>
            <a:ext cx="4892040" cy="4315968"/>
          </a:xfrm>
          <a:prstGeom prst="rect">
            <a:avLst/>
          </a:prstGeom>
          <a:noFill/>
        </p:spPr>
        <p:txBody>
          <a:bodyPr wrap="square" tIns="0" bIns="0">
            <a:spAutoFit/>
          </a:bodyPr>
          <a:lstStyle/>
          <a:p>
            <a:pPr>
              <a:spcAft>
                <a:spcPts val="600"/>
              </a:spcAft>
              <a:defRPr sz="819">
                <a:solidFill>
                  <a:srgbClr val="333333"/>
                </a:solidFill>
              </a:defRPr>
            </a:pPr>
            <a:r>
              <a:t>China's fusion program is backed by substantial government investment, estimated at over $1.5 billion annually, including contributions to ITER and domestic projects. This funding is channeled through the Ministry of Science and Technology, the Chinese Academy</a:t>
            </a:r>
          </a:p>
          <a:p>
            <a:pPr>
              <a:spcAft>
                <a:spcPts val="600"/>
              </a:spcAft>
              <a:defRPr sz="819">
                <a:solidFill>
                  <a:srgbClr val="333333"/>
                </a:solidFill>
              </a:defRPr>
            </a:pPr>
            <a:r>
              <a:t>The national fusion roadmap outlines three phases: (1) basic research and technology development (2020-2035), (2) engineering validation and demonstration (2035-2050), and (3) commercial deployment (post-2050). By 2026, China aims to complete the design of CFE</a:t>
            </a:r>
          </a:p>
          <a:p>
            <a:pPr>
              <a:spcAft>
                <a:spcPts val="600"/>
              </a:spcAft>
              <a:defRPr sz="819">
                <a:solidFill>
                  <a:srgbClr val="333333"/>
                </a:solidFill>
              </a:defRPr>
            </a:pPr>
            <a:r>
              <a:t>State-owned enterprises play a key role in fusion development. CNNC leads the design of CFETR and manages China's ITER contributions, while the Institute of Plasma Physics (ASIPP) operates EAST and HL-2M. This centralized approach ensures coordination but may</a:t>
            </a:r>
          </a:p>
        </p:txBody>
      </p:sp>
      <p:pic>
        <p:nvPicPr>
          <p:cNvPr id="7" name="Picture 6" descr="chart-1.png"/>
          <p:cNvPicPr>
            <a:picLocks noChangeAspect="1"/>
          </p:cNvPicPr>
          <p:nvPr/>
        </p:nvPicPr>
        <p:blipFill>
          <a:blip r:embed="rId2"/>
          <a:stretch>
            <a:fillRect/>
          </a:stretch>
        </p:blipFill>
        <p:spPr>
          <a:xfrm>
            <a:off x="5897880" y="1371600"/>
            <a:ext cx="5650992" cy="4187952"/>
          </a:xfrm>
          <a:prstGeom prst="rect">
            <a:avLst/>
          </a:prstGeom>
        </p:spPr>
      </p:pic>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10682935" y="164592"/>
            <a:ext cx="1115568" cy="219456"/>
          </a:xfrm>
          <a:prstGeom prst="rect">
            <a:avLst/>
          </a:prstGeom>
          <a:noFill/>
        </p:spPr>
        <p:txBody>
          <a:bodyPr wrap="none">
            <a:spAutoFit/>
          </a:bodyPr>
          <a:lstStyle/>
          <a:p>
            <a:pPr algn="r">
              <a:defRPr sz="800" b="1">
                <a:solidFill>
                  <a:srgbClr val="003087"/>
                </a:solidFill>
              </a:defRPr>
            </a:pPr>
            <a:r>
              <a:t>BlueOcean</a:t>
            </a:r>
          </a:p>
        </p:txBody>
      </p:sp>
      <p:sp>
        <p:nvSpPr>
          <p:cNvPr id="3" name="TextBox 2"/>
          <p:cNvSpPr txBox="1"/>
          <p:nvPr/>
        </p:nvSpPr>
        <p:spPr>
          <a:xfrm>
            <a:off x="566928" y="6601968"/>
            <a:ext cx="11057839" cy="146304"/>
          </a:xfrm>
          <a:prstGeom prst="rect">
            <a:avLst/>
          </a:prstGeom>
          <a:noFill/>
        </p:spPr>
        <p:txBody>
          <a:bodyPr wrap="none">
            <a:spAutoFit/>
          </a:bodyPr>
          <a:lstStyle/>
          <a:p>
            <a:pPr>
              <a:defRPr sz="600">
                <a:solidFill>
                  <a:srgbClr val="A0A6AD"/>
                </a:solidFill>
              </a:defRPr>
            </a:pPr>
            <a:r>
              <a:t>China Is Both a Key Collaborator and a Competitor in International Fusion Efforts, Leveraging ITER While Advancing Domes</a:t>
            </a:r>
          </a:p>
        </p:txBody>
      </p:sp>
      <p:sp>
        <p:nvSpPr>
          <p:cNvPr id="4" name="TextBox 3"/>
          <p:cNvSpPr txBox="1"/>
          <p:nvPr/>
        </p:nvSpPr>
        <p:spPr>
          <a:xfrm>
            <a:off x="566928" y="347472"/>
            <a:ext cx="9692640" cy="841248"/>
          </a:xfrm>
          <a:prstGeom prst="rect">
            <a:avLst/>
          </a:prstGeom>
          <a:noFill/>
        </p:spPr>
        <p:txBody>
          <a:bodyPr wrap="square">
            <a:spAutoFit/>
          </a:bodyPr>
          <a:lstStyle/>
          <a:p>
            <a:pPr>
              <a:defRPr sz="2000" b="0">
                <a:solidFill>
                  <a:srgbClr val="333333"/>
                </a:solidFill>
              </a:defRPr>
            </a:pPr>
            <a:r>
              <a:t>China Is Both a Key Collaborator and a Competitor in International Fusion Efforts, Leveraging ITER While Advancing Dom</a:t>
            </a:r>
          </a:p>
        </p:txBody>
      </p:sp>
      <p:sp>
        <p:nvSpPr>
          <p:cNvPr id="5" name="Rectangle 4"/>
          <p:cNvSpPr/>
          <p:nvPr/>
        </p:nvSpPr>
        <p:spPr>
          <a:xfrm>
            <a:off x="566928" y="1115568"/>
            <a:ext cx="11057839" cy="9144"/>
          </a:xfrm>
          <a:prstGeom prst="rect">
            <a:avLst/>
          </a:prstGeom>
          <a:solidFill>
            <a:srgbClr val="C8C8C8"/>
          </a:solidFill>
          <a:ln>
            <a:solidFill>
              <a:srgbClr val="C8C8C8"/>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566928" y="1353312"/>
            <a:ext cx="4892040" cy="4315968"/>
          </a:xfrm>
          <a:prstGeom prst="rect">
            <a:avLst/>
          </a:prstGeom>
          <a:noFill/>
        </p:spPr>
        <p:txBody>
          <a:bodyPr wrap="square" tIns="0" bIns="0">
            <a:spAutoFit/>
          </a:bodyPr>
          <a:lstStyle/>
          <a:p>
            <a:pPr>
              <a:spcAft>
                <a:spcPts val="600"/>
              </a:spcAft>
              <a:defRPr sz="819">
                <a:solidFill>
                  <a:srgbClr val="333333"/>
                </a:solidFill>
              </a:defRPr>
            </a:pPr>
            <a:r>
              <a:t>China is a major contributor to ITER, providing 9% of the construction cost and key components such as the first wall panels, toroidal field conductors, and diagnostic systems. This participation gives Chinese scientists access to cutting-edge fusion technolog</a:t>
            </a:r>
          </a:p>
          <a:p>
            <a:pPr>
              <a:spcAft>
                <a:spcPts val="600"/>
              </a:spcAft>
              <a:defRPr sz="819">
                <a:solidFill>
                  <a:srgbClr val="333333"/>
                </a:solidFill>
              </a:defRPr>
            </a:pPr>
            <a:r>
              <a:t>Bilateral agreements with the EU, Russia, and the US facilitate technology exchange, but intellectual property (IP) issues remain sensitive. China has filed numerous fusion-related patents, particularly in plasma control and magnet technology, signaling a stra</a:t>
            </a:r>
          </a:p>
          <a:p>
            <a:pPr>
              <a:spcAft>
                <a:spcPts val="600"/>
              </a:spcAft>
              <a:defRPr sz="819">
                <a:solidFill>
                  <a:srgbClr val="333333"/>
                </a:solidFill>
              </a:defRPr>
            </a:pPr>
            <a:r>
              <a:t>Competitive dynamics are intensifying. The US, through the Department of Energy's Fusion Energy Sciences program and private ventures, aims for a pilot plant by 2035. The EU's EUROfusion consortium is developing the DEMO reactor, targeting 2050. Japan and Sout</a:t>
            </a:r>
          </a:p>
        </p:txBody>
      </p:sp>
      <p:pic>
        <p:nvPicPr>
          <p:cNvPr id="7" name="Picture 6" descr="chart-2.png"/>
          <p:cNvPicPr>
            <a:picLocks noChangeAspect="1"/>
          </p:cNvPicPr>
          <p:nvPr/>
        </p:nvPicPr>
        <p:blipFill>
          <a:blip r:embed="rId2"/>
          <a:stretch>
            <a:fillRect/>
          </a:stretch>
        </p:blipFill>
        <p:spPr>
          <a:xfrm>
            <a:off x="5897880" y="1371600"/>
            <a:ext cx="5650992" cy="4187952"/>
          </a:xfrm>
          <a:prstGeom prst="rect">
            <a:avLst/>
          </a:prstGeom>
        </p:spPr>
      </p:pic>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10682935" y="164592"/>
            <a:ext cx="1115568" cy="219456"/>
          </a:xfrm>
          <a:prstGeom prst="rect">
            <a:avLst/>
          </a:prstGeom>
          <a:noFill/>
        </p:spPr>
        <p:txBody>
          <a:bodyPr wrap="none">
            <a:spAutoFit/>
          </a:bodyPr>
          <a:lstStyle/>
          <a:p>
            <a:pPr algn="r">
              <a:defRPr sz="800" b="1">
                <a:solidFill>
                  <a:srgbClr val="003087"/>
                </a:solidFill>
              </a:defRPr>
            </a:pPr>
            <a:r>
              <a:t>BlueOcean</a:t>
            </a:r>
          </a:p>
        </p:txBody>
      </p:sp>
      <p:sp>
        <p:nvSpPr>
          <p:cNvPr id="3" name="TextBox 2"/>
          <p:cNvSpPr txBox="1"/>
          <p:nvPr/>
        </p:nvSpPr>
        <p:spPr>
          <a:xfrm>
            <a:off x="566928" y="6601968"/>
            <a:ext cx="11057839" cy="146304"/>
          </a:xfrm>
          <a:prstGeom prst="rect">
            <a:avLst/>
          </a:prstGeom>
          <a:noFill/>
        </p:spPr>
        <p:txBody>
          <a:bodyPr wrap="none">
            <a:spAutoFit/>
          </a:bodyPr>
          <a:lstStyle/>
          <a:p>
            <a:pPr>
              <a:defRPr sz="600">
                <a:solidFill>
                  <a:srgbClr val="A0A6AD"/>
                </a:solidFill>
              </a:defRPr>
            </a:pPr>
            <a:r>
              <a:t>Strategic Implications Include Potential Energy Independence for China and Shifts in Global Energy Geopolitics, but Risk</a:t>
            </a:r>
          </a:p>
        </p:txBody>
      </p:sp>
      <p:sp>
        <p:nvSpPr>
          <p:cNvPr id="4" name="TextBox 3"/>
          <p:cNvSpPr txBox="1"/>
          <p:nvPr/>
        </p:nvSpPr>
        <p:spPr>
          <a:xfrm>
            <a:off x="566928" y="347472"/>
            <a:ext cx="9692640" cy="841248"/>
          </a:xfrm>
          <a:prstGeom prst="rect">
            <a:avLst/>
          </a:prstGeom>
          <a:noFill/>
        </p:spPr>
        <p:txBody>
          <a:bodyPr wrap="square">
            <a:spAutoFit/>
          </a:bodyPr>
          <a:lstStyle/>
          <a:p>
            <a:pPr>
              <a:defRPr sz="2000" b="0">
                <a:solidFill>
                  <a:srgbClr val="333333"/>
                </a:solidFill>
              </a:defRPr>
            </a:pPr>
            <a:r>
              <a:t>Strategic Implications Include Potential Energy Independence for China and Shifts in Global Energy Geopolitics, but Ri</a:t>
            </a:r>
          </a:p>
        </p:txBody>
      </p:sp>
      <p:sp>
        <p:nvSpPr>
          <p:cNvPr id="5" name="Rectangle 4"/>
          <p:cNvSpPr/>
          <p:nvPr/>
        </p:nvSpPr>
        <p:spPr>
          <a:xfrm>
            <a:off x="566928" y="1115568"/>
            <a:ext cx="11057839" cy="9144"/>
          </a:xfrm>
          <a:prstGeom prst="rect">
            <a:avLst/>
          </a:prstGeom>
          <a:solidFill>
            <a:srgbClr val="C8C8C8"/>
          </a:solidFill>
          <a:ln>
            <a:solidFill>
              <a:srgbClr val="C8C8C8"/>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566928" y="1353312"/>
            <a:ext cx="4892040" cy="4315968"/>
          </a:xfrm>
          <a:prstGeom prst="rect">
            <a:avLst/>
          </a:prstGeom>
          <a:noFill/>
        </p:spPr>
        <p:txBody>
          <a:bodyPr wrap="square" tIns="0" bIns="0">
            <a:spAutoFit/>
          </a:bodyPr>
          <a:lstStyle/>
          <a:p>
            <a:pPr>
              <a:spcAft>
                <a:spcPts val="600"/>
              </a:spcAft>
              <a:defRPr sz="819">
                <a:solidFill>
                  <a:srgbClr val="333333"/>
                </a:solidFill>
              </a:defRPr>
            </a:pPr>
            <a:r>
              <a:t>If China achieves commercial fusion by 2050, it could drastically reduce its dependence on fossil fuel imports, enhancing energy security. Fusion could also complement renewables by providing baseload power, reducing the need for energy storage. However, the t</a:t>
            </a:r>
          </a:p>
          <a:p>
            <a:pPr>
              <a:spcAft>
                <a:spcPts val="600"/>
              </a:spcAft>
              <a:defRPr sz="819">
                <a:solidFill>
                  <a:srgbClr val="333333"/>
                </a:solidFill>
              </a:defRPr>
            </a:pPr>
            <a:r>
              <a:t>Geopolitically, a Chinese fusion breakthrough could shift global energy dynamics. China could become a net exporter of fusion technology and components, similar to its role in solar and wind energy. This would strengthen its influence in energy-poor regions, s</a:t>
            </a:r>
          </a:p>
          <a:p>
            <a:pPr>
              <a:spcAft>
                <a:spcPts val="600"/>
              </a:spcAft>
              <a:defRPr sz="819">
                <a:solidFill>
                  <a:srgbClr val="333333"/>
                </a:solidFill>
              </a:defRPr>
            </a:pPr>
            <a:r>
              <a:t>Risks include technology gaps in critical areas. China relies on imports for some high-performance magnets (e.g., niobium-tin superconductors) and tritium, which is scarce globally. Domestic production of these components is increasing, but supply chain disrup</a:t>
            </a:r>
          </a:p>
        </p:txBody>
      </p:sp>
      <p:sp>
        <p:nvSpPr>
          <p:cNvPr id="7" name="Rectangle 6"/>
          <p:cNvSpPr/>
          <p:nvPr/>
        </p:nvSpPr>
        <p:spPr>
          <a:xfrm>
            <a:off x="5989320" y="1481328"/>
            <a:ext cx="5303520" cy="3749039"/>
          </a:xfrm>
          <a:prstGeom prst="rect">
            <a:avLst/>
          </a:prstGeom>
          <a:solidFill>
            <a:srgbClr val="F5F7FA"/>
          </a:solidFill>
          <a:ln>
            <a:solidFill>
              <a:srgbClr val="C8C8C8"/>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10682935" y="164592"/>
            <a:ext cx="1115568" cy="219456"/>
          </a:xfrm>
          <a:prstGeom prst="rect">
            <a:avLst/>
          </a:prstGeom>
          <a:noFill/>
        </p:spPr>
        <p:txBody>
          <a:bodyPr wrap="none">
            <a:spAutoFit/>
          </a:bodyPr>
          <a:lstStyle/>
          <a:p>
            <a:pPr algn="r">
              <a:defRPr sz="800" b="1">
                <a:solidFill>
                  <a:srgbClr val="003087"/>
                </a:solidFill>
              </a:defRPr>
            </a:pPr>
            <a:r>
              <a:t>BlueOcean</a:t>
            </a:r>
          </a:p>
        </p:txBody>
      </p:sp>
      <p:sp>
        <p:nvSpPr>
          <p:cNvPr id="3" name="TextBox 2"/>
          <p:cNvSpPr txBox="1"/>
          <p:nvPr/>
        </p:nvSpPr>
        <p:spPr>
          <a:xfrm>
            <a:off x="566928" y="6601968"/>
            <a:ext cx="11057839" cy="146304"/>
          </a:xfrm>
          <a:prstGeom prst="rect">
            <a:avLst/>
          </a:prstGeom>
          <a:noFill/>
        </p:spPr>
        <p:txBody>
          <a:bodyPr wrap="none">
            <a:spAutoFit/>
          </a:bodyPr>
          <a:lstStyle/>
          <a:p>
            <a:pPr>
              <a:defRPr sz="600">
                <a:solidFill>
                  <a:srgbClr val="A0A6AD"/>
                </a:solidFill>
              </a:defRPr>
            </a:pPr>
            <a:r>
              <a:t>China's Fusion Timeline: What to Expect by 2026</a:t>
            </a:r>
          </a:p>
        </p:txBody>
      </p:sp>
      <p:sp>
        <p:nvSpPr>
          <p:cNvPr id="4" name="TextBox 3"/>
          <p:cNvSpPr txBox="1"/>
          <p:nvPr/>
        </p:nvSpPr>
        <p:spPr>
          <a:xfrm>
            <a:off x="566928" y="347472"/>
            <a:ext cx="9692640" cy="841248"/>
          </a:xfrm>
          <a:prstGeom prst="rect">
            <a:avLst/>
          </a:prstGeom>
          <a:noFill/>
        </p:spPr>
        <p:txBody>
          <a:bodyPr wrap="square">
            <a:spAutoFit/>
          </a:bodyPr>
          <a:lstStyle/>
          <a:p>
            <a:pPr>
              <a:defRPr sz="2000" b="0">
                <a:solidFill>
                  <a:srgbClr val="333333"/>
                </a:solidFill>
              </a:defRPr>
            </a:pPr>
            <a:r>
              <a:t>China's Fusion Timeline: What to Expect by 2026</a:t>
            </a:r>
          </a:p>
        </p:txBody>
      </p:sp>
      <p:sp>
        <p:nvSpPr>
          <p:cNvPr id="5" name="Rectangle 4"/>
          <p:cNvSpPr/>
          <p:nvPr/>
        </p:nvSpPr>
        <p:spPr>
          <a:xfrm>
            <a:off x="566928" y="1115568"/>
            <a:ext cx="11057839" cy="9144"/>
          </a:xfrm>
          <a:prstGeom prst="rect">
            <a:avLst/>
          </a:prstGeom>
          <a:solidFill>
            <a:srgbClr val="C8C8C8"/>
          </a:solidFill>
          <a:ln>
            <a:solidFill>
              <a:srgbClr val="C8C8C8"/>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566928" y="1353312"/>
            <a:ext cx="4892040" cy="4315968"/>
          </a:xfrm>
          <a:prstGeom prst="rect">
            <a:avLst/>
          </a:prstGeom>
          <a:noFill/>
        </p:spPr>
        <p:txBody>
          <a:bodyPr wrap="square" tIns="0" bIns="0">
            <a:spAutoFit/>
          </a:bodyPr>
          <a:lstStyle/>
          <a:p>
            <a:pPr>
              <a:spcAft>
                <a:spcPts val="600"/>
              </a:spcAft>
              <a:defRPr sz="819">
                <a:solidFill>
                  <a:srgbClr val="333333"/>
                </a:solidFill>
              </a:defRPr>
            </a:pPr>
            <a:r>
              <a:t>By 2026, China's fusion program is expected to achieve several key milestones. EAST will likely demonstrate 1,000-second plasma pulses with ion temperatures above 100 million degrees, a world record. HL-2M will test advanced divertor configurations to manage h</a:t>
            </a:r>
          </a:p>
          <a:p>
            <a:pPr>
              <a:spcAft>
                <a:spcPts val="600"/>
              </a:spcAft>
              <a:defRPr sz="819">
                <a:solidFill>
                  <a:srgbClr val="333333"/>
                </a:solidFill>
              </a:defRPr>
            </a:pPr>
            <a:r>
              <a:t>China's ITER contributions will continue, with delivery of the first wall panels and toroidal field conductors on schedule. However, ITER's overall timeline slippage may reduce China's reliance on the project, as domestic alternatives become more attractive. B</a:t>
            </a:r>
          </a:p>
          <a:p>
            <a:pPr>
              <a:spcAft>
                <a:spcPts val="600"/>
              </a:spcAft>
              <a:defRPr sz="819">
                <a:solidFill>
                  <a:srgbClr val="333333"/>
                </a:solidFill>
              </a:defRPr>
            </a:pPr>
            <a:r>
              <a:t>Private fusion activity in China is expected to grow, with at least two startups aiming to build small-scale demonstration devices by 2026. These ventures, backed by government-linked funds, will focus on high-temperature superconducting magnets and compact to</a:t>
            </a:r>
          </a:p>
        </p:txBody>
      </p:sp>
      <p:pic>
        <p:nvPicPr>
          <p:cNvPr id="7" name="Picture 6" descr="chart-4.png"/>
          <p:cNvPicPr>
            <a:picLocks noChangeAspect="1"/>
          </p:cNvPicPr>
          <p:nvPr/>
        </p:nvPicPr>
        <p:blipFill>
          <a:blip r:embed="rId2"/>
          <a:stretch>
            <a:fillRect/>
          </a:stretch>
        </p:blipFill>
        <p:spPr>
          <a:xfrm>
            <a:off x="5897880" y="1371600"/>
            <a:ext cx="5650992" cy="4187952"/>
          </a:xfrm>
          <a:prstGeom prst="rect">
            <a:avLst/>
          </a:prstGeom>
        </p:spPr>
      </p:pic>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10682935" y="164592"/>
            <a:ext cx="1115568" cy="219456"/>
          </a:xfrm>
          <a:prstGeom prst="rect">
            <a:avLst/>
          </a:prstGeom>
          <a:noFill/>
        </p:spPr>
        <p:txBody>
          <a:bodyPr wrap="none">
            <a:spAutoFit/>
          </a:bodyPr>
          <a:lstStyle/>
          <a:p>
            <a:pPr algn="r">
              <a:defRPr sz="800" b="1">
                <a:solidFill>
                  <a:srgbClr val="003087"/>
                </a:solidFill>
              </a:defRPr>
            </a:pPr>
            <a:r>
              <a:t>BlueOcean</a:t>
            </a:r>
          </a:p>
        </p:txBody>
      </p:sp>
      <p:sp>
        <p:nvSpPr>
          <p:cNvPr id="3" name="TextBox 2"/>
          <p:cNvSpPr txBox="1"/>
          <p:nvPr/>
        </p:nvSpPr>
        <p:spPr>
          <a:xfrm>
            <a:off x="566928" y="6601968"/>
            <a:ext cx="11057839" cy="146304"/>
          </a:xfrm>
          <a:prstGeom prst="rect">
            <a:avLst/>
          </a:prstGeom>
          <a:noFill/>
        </p:spPr>
        <p:txBody>
          <a:bodyPr wrap="none">
            <a:spAutoFit/>
          </a:bodyPr>
          <a:lstStyle/>
          <a:p>
            <a:pPr>
              <a:defRPr sz="600">
                <a:solidFill>
                  <a:srgbClr val="A0A6AD"/>
                </a:solidFill>
              </a:defRPr>
            </a:pPr>
            <a:r>
              <a:t>How China's Fusion Funding Compares Globally</a:t>
            </a:r>
          </a:p>
        </p:txBody>
      </p:sp>
      <p:sp>
        <p:nvSpPr>
          <p:cNvPr id="4" name="TextBox 3"/>
          <p:cNvSpPr txBox="1"/>
          <p:nvPr/>
        </p:nvSpPr>
        <p:spPr>
          <a:xfrm>
            <a:off x="566928" y="347472"/>
            <a:ext cx="9692640" cy="841248"/>
          </a:xfrm>
          <a:prstGeom prst="rect">
            <a:avLst/>
          </a:prstGeom>
          <a:noFill/>
        </p:spPr>
        <p:txBody>
          <a:bodyPr wrap="square">
            <a:spAutoFit/>
          </a:bodyPr>
          <a:lstStyle/>
          <a:p>
            <a:pPr>
              <a:defRPr sz="2000" b="0">
                <a:solidFill>
                  <a:srgbClr val="333333"/>
                </a:solidFill>
              </a:defRPr>
            </a:pPr>
            <a:r>
              <a:t>How China's Fusion Funding Compares Globally</a:t>
            </a:r>
          </a:p>
        </p:txBody>
      </p:sp>
      <p:sp>
        <p:nvSpPr>
          <p:cNvPr id="5" name="Rectangle 4"/>
          <p:cNvSpPr/>
          <p:nvPr/>
        </p:nvSpPr>
        <p:spPr>
          <a:xfrm>
            <a:off x="566928" y="1115568"/>
            <a:ext cx="11057839" cy="9144"/>
          </a:xfrm>
          <a:prstGeom prst="rect">
            <a:avLst/>
          </a:prstGeom>
          <a:solidFill>
            <a:srgbClr val="C8C8C8"/>
          </a:solidFill>
          <a:ln>
            <a:solidFill>
              <a:srgbClr val="C8C8C8"/>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566928" y="1353312"/>
            <a:ext cx="4892040" cy="4315968"/>
          </a:xfrm>
          <a:prstGeom prst="rect">
            <a:avLst/>
          </a:prstGeom>
          <a:noFill/>
        </p:spPr>
        <p:txBody>
          <a:bodyPr wrap="square" tIns="0" bIns="0">
            <a:spAutoFit/>
          </a:bodyPr>
          <a:lstStyle/>
          <a:p>
            <a:pPr>
              <a:spcAft>
                <a:spcPts val="600"/>
              </a:spcAft>
              <a:defRPr sz="819">
                <a:solidFill>
                  <a:srgbClr val="333333"/>
                </a:solidFill>
              </a:defRPr>
            </a:pPr>
            <a:r>
              <a:t>China's annual fusion funding of over $1.5 billion is comparable to the US Department of Energy's fusion budget (approximately $1.2 billion in 2025) and exceeds the EU's EUR 1 billion (about $1.1 billion). Japan and South Korea each spend around $300-500 milli</a:t>
            </a:r>
          </a:p>
          <a:p>
            <a:pPr>
              <a:spcAft>
                <a:spcPts val="600"/>
              </a:spcAft>
              <a:defRPr sz="819">
                <a:solidFill>
                  <a:srgbClr val="333333"/>
                </a:solidFill>
              </a:defRPr>
            </a:pPr>
            <a:r>
              <a:t>The Chinese government's willingness to fund large-scale projects like CFETR (estimated cost $10-15 billion) provides a long-term advantage. In contrast, US fusion funding is subject to annual appropriations, creating uncertainty for multi-decade projects. Pri</a:t>
            </a:r>
          </a:p>
          <a:p>
            <a:pPr>
              <a:spcAft>
                <a:spcPts val="600"/>
              </a:spcAft>
              <a:defRPr sz="819">
                <a:solidFill>
                  <a:srgbClr val="333333"/>
                </a:solidFill>
              </a:defRPr>
            </a:pPr>
            <a:r>
              <a:t>China's funding model also supports a large workforce: over 5,000 researchers and engineers are directly involved in fusion, compared to about 3,000 in the US and 4,000 in the EU. This human capital advantage, combined with low labor costs, allows China to ach</a:t>
            </a:r>
          </a:p>
        </p:txBody>
      </p:sp>
      <p:pic>
        <p:nvPicPr>
          <p:cNvPr id="7" name="Picture 6" descr="chart-5.png"/>
          <p:cNvPicPr>
            <a:picLocks noChangeAspect="1"/>
          </p:cNvPicPr>
          <p:nvPr/>
        </p:nvPicPr>
        <p:blipFill>
          <a:blip r:embed="rId2"/>
          <a:stretch>
            <a:fillRect/>
          </a:stretch>
        </p:blipFill>
        <p:spPr>
          <a:xfrm>
            <a:off x="5897880" y="1371600"/>
            <a:ext cx="5650992" cy="4187952"/>
          </a:xfrm>
          <a:prstGeom prst="rect">
            <a:avLst/>
          </a:prstGeom>
        </p:spPr>
      </p:pic>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10682935" y="164592"/>
            <a:ext cx="1115568" cy="219456"/>
          </a:xfrm>
          <a:prstGeom prst="rect">
            <a:avLst/>
          </a:prstGeom>
          <a:noFill/>
        </p:spPr>
        <p:txBody>
          <a:bodyPr wrap="none">
            <a:spAutoFit/>
          </a:bodyPr>
          <a:lstStyle/>
          <a:p>
            <a:pPr algn="r">
              <a:defRPr sz="800" b="1">
                <a:solidFill>
                  <a:srgbClr val="003087"/>
                </a:solidFill>
              </a:defRPr>
            </a:pPr>
            <a:r>
              <a:t>BlueOcean</a:t>
            </a:r>
          </a:p>
        </p:txBody>
      </p:sp>
      <p:sp>
        <p:nvSpPr>
          <p:cNvPr id="3" name="TextBox 2"/>
          <p:cNvSpPr txBox="1"/>
          <p:nvPr/>
        </p:nvSpPr>
        <p:spPr>
          <a:xfrm>
            <a:off x="566928" y="6601968"/>
            <a:ext cx="11057839" cy="146304"/>
          </a:xfrm>
          <a:prstGeom prst="rect">
            <a:avLst/>
          </a:prstGeom>
          <a:noFill/>
        </p:spPr>
        <p:txBody>
          <a:bodyPr wrap="none">
            <a:spAutoFit/>
          </a:bodyPr>
          <a:lstStyle/>
          <a:p>
            <a:pPr>
              <a:defRPr sz="600">
                <a:solidFill>
                  <a:srgbClr val="A0A6AD"/>
                </a:solidFill>
              </a:defRPr>
            </a:pPr>
            <a:r>
              <a:t>The Role of EAST and CFETR in China's Fusion Roadmap</a:t>
            </a:r>
          </a:p>
        </p:txBody>
      </p:sp>
      <p:sp>
        <p:nvSpPr>
          <p:cNvPr id="4" name="TextBox 3"/>
          <p:cNvSpPr txBox="1"/>
          <p:nvPr/>
        </p:nvSpPr>
        <p:spPr>
          <a:xfrm>
            <a:off x="566928" y="347472"/>
            <a:ext cx="9692640" cy="841248"/>
          </a:xfrm>
          <a:prstGeom prst="rect">
            <a:avLst/>
          </a:prstGeom>
          <a:noFill/>
        </p:spPr>
        <p:txBody>
          <a:bodyPr wrap="square">
            <a:spAutoFit/>
          </a:bodyPr>
          <a:lstStyle/>
          <a:p>
            <a:pPr>
              <a:defRPr sz="2000" b="0">
                <a:solidFill>
                  <a:srgbClr val="333333"/>
                </a:solidFill>
              </a:defRPr>
            </a:pPr>
            <a:r>
              <a:t>The Role of EAST and CFETR in China's Fusion Roadmap</a:t>
            </a:r>
          </a:p>
        </p:txBody>
      </p:sp>
      <p:sp>
        <p:nvSpPr>
          <p:cNvPr id="5" name="Rectangle 4"/>
          <p:cNvSpPr/>
          <p:nvPr/>
        </p:nvSpPr>
        <p:spPr>
          <a:xfrm>
            <a:off x="566928" y="1115568"/>
            <a:ext cx="11057839" cy="9144"/>
          </a:xfrm>
          <a:prstGeom prst="rect">
            <a:avLst/>
          </a:prstGeom>
          <a:solidFill>
            <a:srgbClr val="C8C8C8"/>
          </a:solidFill>
          <a:ln>
            <a:solidFill>
              <a:srgbClr val="C8C8C8"/>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566928" y="1353312"/>
            <a:ext cx="4892040" cy="4315968"/>
          </a:xfrm>
          <a:prstGeom prst="rect">
            <a:avLst/>
          </a:prstGeom>
          <a:noFill/>
        </p:spPr>
        <p:txBody>
          <a:bodyPr wrap="square" tIns="0" bIns="0">
            <a:spAutoFit/>
          </a:bodyPr>
          <a:lstStyle/>
          <a:p>
            <a:pPr>
              <a:spcAft>
                <a:spcPts val="600"/>
              </a:spcAft>
              <a:defRPr sz="819">
                <a:solidFill>
                  <a:srgbClr val="333333"/>
                </a:solidFill>
              </a:defRPr>
            </a:pPr>
            <a:r>
              <a:t>EAST, operational since 2006, is China's flagship experimental tokamak and a testbed for long-pulse plasma operation. Its achievements in achieving 100-second plasma pulses at high temperatures have provided critical data for plasma control and heating systems</a:t>
            </a:r>
          </a:p>
          <a:p>
            <a:pPr>
              <a:spcAft>
                <a:spcPts val="600"/>
              </a:spcAft>
              <a:defRPr sz="819">
                <a:solidFill>
                  <a:srgbClr val="333333"/>
                </a:solidFill>
              </a:defRPr>
            </a:pPr>
            <a:r>
              <a:t>CFETR is designed to fill the gap between ITER and a demonstration power plant (DEMO). With a major radius of 7.2 meters and a fusion power of 200-500 MW, CFETR will test tritium breeding, long-pulse operation (up to 10,000 seconds), and remote maintenance. It</a:t>
            </a:r>
          </a:p>
          <a:p>
            <a:pPr>
              <a:spcAft>
                <a:spcPts val="600"/>
              </a:spcAft>
              <a:defRPr sz="819">
                <a:solidFill>
                  <a:srgbClr val="333333"/>
                </a:solidFill>
              </a:defRPr>
            </a:pPr>
            <a:r>
              <a:t>The relationship between EAST and CFETR is complementary: EAST provides the physics basis, while CFETR validates engineering solutions. By 2026, EAST's results will directly inform CFETR's design choices, such as the optimal plasma shape and heating mix. This</a:t>
            </a:r>
          </a:p>
        </p:txBody>
      </p:sp>
      <p:sp>
        <p:nvSpPr>
          <p:cNvPr id="7" name="Rectangle 6"/>
          <p:cNvSpPr/>
          <p:nvPr/>
        </p:nvSpPr>
        <p:spPr>
          <a:xfrm>
            <a:off x="5989320" y="1481328"/>
            <a:ext cx="5303520" cy="3749039"/>
          </a:xfrm>
          <a:prstGeom prst="rect">
            <a:avLst/>
          </a:prstGeom>
          <a:solidFill>
            <a:srgbClr val="F5F7FA"/>
          </a:solidFill>
          <a:ln>
            <a:solidFill>
              <a:srgbClr val="C8C8C8"/>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10682935" y="164592"/>
            <a:ext cx="1115568" cy="219456"/>
          </a:xfrm>
          <a:prstGeom prst="rect">
            <a:avLst/>
          </a:prstGeom>
          <a:noFill/>
        </p:spPr>
        <p:txBody>
          <a:bodyPr wrap="none">
            <a:spAutoFit/>
          </a:bodyPr>
          <a:lstStyle/>
          <a:p>
            <a:pPr algn="r">
              <a:defRPr sz="800" b="1">
                <a:solidFill>
                  <a:srgbClr val="003087"/>
                </a:solidFill>
              </a:defRPr>
            </a:pPr>
            <a:r>
              <a:t>BlueOcean</a:t>
            </a:r>
          </a:p>
        </p:txBody>
      </p:sp>
      <p:sp>
        <p:nvSpPr>
          <p:cNvPr id="3" name="TextBox 2"/>
          <p:cNvSpPr txBox="1"/>
          <p:nvPr/>
        </p:nvSpPr>
        <p:spPr>
          <a:xfrm>
            <a:off x="566928" y="6601968"/>
            <a:ext cx="11057839" cy="146304"/>
          </a:xfrm>
          <a:prstGeom prst="rect">
            <a:avLst/>
          </a:prstGeom>
          <a:noFill/>
        </p:spPr>
        <p:txBody>
          <a:bodyPr wrap="none">
            <a:spAutoFit/>
          </a:bodyPr>
          <a:lstStyle/>
          <a:p>
            <a:pPr>
              <a:defRPr sz="600">
                <a:solidFill>
                  <a:srgbClr val="A0A6AD"/>
                </a:solidFill>
              </a:defRPr>
            </a:pPr>
            <a:r>
              <a:t>China's Fusion IP Strategy: Lessons from ITER</a:t>
            </a:r>
          </a:p>
        </p:txBody>
      </p:sp>
      <p:sp>
        <p:nvSpPr>
          <p:cNvPr id="4" name="TextBox 3"/>
          <p:cNvSpPr txBox="1"/>
          <p:nvPr/>
        </p:nvSpPr>
        <p:spPr>
          <a:xfrm>
            <a:off x="566928" y="347472"/>
            <a:ext cx="9692640" cy="841248"/>
          </a:xfrm>
          <a:prstGeom prst="rect">
            <a:avLst/>
          </a:prstGeom>
          <a:noFill/>
        </p:spPr>
        <p:txBody>
          <a:bodyPr wrap="square">
            <a:spAutoFit/>
          </a:bodyPr>
          <a:lstStyle/>
          <a:p>
            <a:pPr>
              <a:defRPr sz="2000" b="0">
                <a:solidFill>
                  <a:srgbClr val="333333"/>
                </a:solidFill>
              </a:defRPr>
            </a:pPr>
            <a:r>
              <a:t>China's Fusion IP Strategy: Lessons from ITER</a:t>
            </a:r>
          </a:p>
        </p:txBody>
      </p:sp>
      <p:sp>
        <p:nvSpPr>
          <p:cNvPr id="5" name="Rectangle 4"/>
          <p:cNvSpPr/>
          <p:nvPr/>
        </p:nvSpPr>
        <p:spPr>
          <a:xfrm>
            <a:off x="566928" y="1115568"/>
            <a:ext cx="11057839" cy="9144"/>
          </a:xfrm>
          <a:prstGeom prst="rect">
            <a:avLst/>
          </a:prstGeom>
          <a:solidFill>
            <a:srgbClr val="C8C8C8"/>
          </a:solidFill>
          <a:ln>
            <a:solidFill>
              <a:srgbClr val="C8C8C8"/>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566928" y="1353312"/>
            <a:ext cx="4892040" cy="4315968"/>
          </a:xfrm>
          <a:prstGeom prst="rect">
            <a:avLst/>
          </a:prstGeom>
          <a:noFill/>
        </p:spPr>
        <p:txBody>
          <a:bodyPr wrap="square" tIns="0" bIns="0">
            <a:spAutoFit/>
          </a:bodyPr>
          <a:lstStyle/>
          <a:p>
            <a:pPr>
              <a:spcAft>
                <a:spcPts val="600"/>
              </a:spcAft>
              <a:defRPr sz="819">
                <a:solidFill>
                  <a:srgbClr val="333333"/>
                </a:solidFill>
              </a:defRPr>
            </a:pPr>
            <a:r>
              <a:t>China's participation in ITER has provided access to a wealth of fusion technology, but the project's IP sharing rules are complex. ITER members retain ownership of their contributed components and associated IP, but have rights to use the overall design for n</a:t>
            </a:r>
          </a:p>
          <a:p>
            <a:pPr>
              <a:spcAft>
                <a:spcPts val="600"/>
              </a:spcAft>
              <a:defRPr sz="819">
                <a:solidFill>
                  <a:srgbClr val="333333"/>
                </a:solidFill>
              </a:defRPr>
            </a:pPr>
            <a:r>
              <a:t>A key lesson from ITER is the importance of protecting core technologies. China has focused on patenting innovations in high-temperature superconductors and advanced materials, areas where it sees strategic advantage. However, some Chinese patents have been cr</a:t>
            </a:r>
          </a:p>
          <a:p>
            <a:pPr>
              <a:spcAft>
                <a:spcPts val="600"/>
              </a:spcAft>
              <a:defRPr sz="819">
                <a:solidFill>
                  <a:srgbClr val="333333"/>
                </a:solidFill>
              </a:defRPr>
            </a:pPr>
            <a:r>
              <a:t>The risk of IP leakage is a concern for international partners. China's state-owned enterprises and research institutes have been accused of reverse-engineering foreign technologies, though no concrete evidence has emerged in fusion. To build trust, China has</a:t>
            </a:r>
          </a:p>
        </p:txBody>
      </p:sp>
      <p:pic>
        <p:nvPicPr>
          <p:cNvPr id="7" name="Picture 6" descr="chart-6.png"/>
          <p:cNvPicPr>
            <a:picLocks noChangeAspect="1"/>
          </p:cNvPicPr>
          <p:nvPr/>
        </p:nvPicPr>
        <p:blipFill>
          <a:blip r:embed="rId2"/>
          <a:stretch>
            <a:fillRect/>
          </a:stretch>
        </p:blipFill>
        <p:spPr>
          <a:xfrm>
            <a:off x="5897880" y="1371600"/>
            <a:ext cx="5650992" cy="4187952"/>
          </a:xfrm>
          <a:prstGeom prst="rect">
            <a:avLst/>
          </a:prstGeom>
        </p:spPr>
      </p:pic>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10682935" y="164592"/>
            <a:ext cx="1115568" cy="219456"/>
          </a:xfrm>
          <a:prstGeom prst="rect">
            <a:avLst/>
          </a:prstGeom>
          <a:noFill/>
        </p:spPr>
        <p:txBody>
          <a:bodyPr wrap="none">
            <a:spAutoFit/>
          </a:bodyPr>
          <a:lstStyle/>
          <a:p>
            <a:pPr algn="r">
              <a:defRPr sz="800" b="1">
                <a:solidFill>
                  <a:srgbClr val="003087"/>
                </a:solidFill>
              </a:defRPr>
            </a:pPr>
            <a:r>
              <a:t>BlueOcean</a:t>
            </a:r>
          </a:p>
        </p:txBody>
      </p:sp>
      <p:sp>
        <p:nvSpPr>
          <p:cNvPr id="3" name="TextBox 2"/>
          <p:cNvSpPr txBox="1"/>
          <p:nvPr/>
        </p:nvSpPr>
        <p:spPr>
          <a:xfrm>
            <a:off x="566928" y="6601968"/>
            <a:ext cx="11057839" cy="146304"/>
          </a:xfrm>
          <a:prstGeom prst="rect">
            <a:avLst/>
          </a:prstGeom>
          <a:noFill/>
        </p:spPr>
        <p:txBody>
          <a:bodyPr wrap="none">
            <a:spAutoFit/>
          </a:bodyPr>
          <a:lstStyle/>
          <a:p>
            <a:pPr>
              <a:defRPr sz="600">
                <a:solidFill>
                  <a:srgbClr val="A0A6AD"/>
                </a:solidFill>
              </a:defRPr>
            </a:pPr>
            <a:r>
              <a:t>Geopolitical Risks of a Chinese Fusion Breakthrough</a:t>
            </a:r>
          </a:p>
        </p:txBody>
      </p:sp>
      <p:sp>
        <p:nvSpPr>
          <p:cNvPr id="4" name="TextBox 3"/>
          <p:cNvSpPr txBox="1"/>
          <p:nvPr/>
        </p:nvSpPr>
        <p:spPr>
          <a:xfrm>
            <a:off x="566928" y="347472"/>
            <a:ext cx="9692640" cy="841248"/>
          </a:xfrm>
          <a:prstGeom prst="rect">
            <a:avLst/>
          </a:prstGeom>
          <a:noFill/>
        </p:spPr>
        <p:txBody>
          <a:bodyPr wrap="square">
            <a:spAutoFit/>
          </a:bodyPr>
          <a:lstStyle/>
          <a:p>
            <a:pPr>
              <a:defRPr sz="2000" b="0">
                <a:solidFill>
                  <a:srgbClr val="333333"/>
                </a:solidFill>
              </a:defRPr>
            </a:pPr>
            <a:r>
              <a:t>Geopolitical Risks of a Chinese Fusion Breakthrough</a:t>
            </a:r>
          </a:p>
        </p:txBody>
      </p:sp>
      <p:sp>
        <p:nvSpPr>
          <p:cNvPr id="5" name="Rectangle 4"/>
          <p:cNvSpPr/>
          <p:nvPr/>
        </p:nvSpPr>
        <p:spPr>
          <a:xfrm>
            <a:off x="566928" y="1115568"/>
            <a:ext cx="11057839" cy="9144"/>
          </a:xfrm>
          <a:prstGeom prst="rect">
            <a:avLst/>
          </a:prstGeom>
          <a:solidFill>
            <a:srgbClr val="C8C8C8"/>
          </a:solidFill>
          <a:ln>
            <a:solidFill>
              <a:srgbClr val="C8C8C8"/>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566928" y="1353312"/>
            <a:ext cx="4892040" cy="4315968"/>
          </a:xfrm>
          <a:prstGeom prst="rect">
            <a:avLst/>
          </a:prstGeom>
          <a:noFill/>
        </p:spPr>
        <p:txBody>
          <a:bodyPr wrap="square" tIns="0" bIns="0">
            <a:spAutoFit/>
          </a:bodyPr>
          <a:lstStyle/>
          <a:p>
            <a:pPr>
              <a:spcAft>
                <a:spcPts val="600"/>
              </a:spcAft>
              <a:defRPr sz="819">
                <a:solidFill>
                  <a:srgbClr val="333333"/>
                </a:solidFill>
              </a:defRPr>
            </a:pPr>
            <a:r>
              <a:t>A Chinese fusion breakthrough could reshape global energy geopolitics. If China becomes the first to demonstrate net-positive fusion power, it could dominate the emerging fusion industry, similar to its dominance in solar panel manufacturing. This would give C</a:t>
            </a:r>
          </a:p>
          <a:p>
            <a:pPr>
              <a:spcAft>
                <a:spcPts val="600"/>
              </a:spcAft>
              <a:defRPr sz="819">
                <a:solidFill>
                  <a:srgbClr val="333333"/>
                </a:solidFill>
              </a:defRPr>
            </a:pPr>
            <a:r>
              <a:t>The US and EU are already taking steps to counter this risk. The US Inflation Reduction Act includes provisions for fusion energy research, and the EU's Horizon Europe program funds fusion projects with a focus on strategic autonomy. Export controls on advance</a:t>
            </a:r>
          </a:p>
          <a:p>
            <a:pPr>
              <a:spcAft>
                <a:spcPts val="600"/>
              </a:spcAft>
              <a:defRPr sz="819">
                <a:solidFill>
                  <a:srgbClr val="333333"/>
                </a:solidFill>
              </a:defRPr>
            </a:pPr>
            <a:r>
              <a:t>China's fusion program is also a source of national pride and a symbol of technological prowess. The government has promoted fusion as a 'green' energy solution, aligning with its carbon neutrality goals by 2060. A breakthrough would enhance the Chinese Commun</a:t>
            </a:r>
          </a:p>
        </p:txBody>
      </p:sp>
      <p:pic>
        <p:nvPicPr>
          <p:cNvPr id="7" name="Picture 6" descr="chart-7.png"/>
          <p:cNvPicPr>
            <a:picLocks noChangeAspect="1"/>
          </p:cNvPicPr>
          <p:nvPr/>
        </p:nvPicPr>
        <p:blipFill>
          <a:blip r:embed="rId2"/>
          <a:stretch>
            <a:fillRect/>
          </a:stretch>
        </p:blipFill>
        <p:spPr>
          <a:xfrm>
            <a:off x="5897880" y="1371600"/>
            <a:ext cx="5650992" cy="4187952"/>
          </a:xfrm>
          <a:prstGeom prst="rect">
            <a:avLst/>
          </a:prstGeom>
        </p:spPr>
      </p:pic>
    </p:spTree>
  </p:cSld>
  <p:clrMapOvr>
    <a:masterClrMapping/>
  </p:clrMapOvr>
</p:sld>
</file>

<file path=ppt/slides/slide13.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10682935" y="164592"/>
            <a:ext cx="1115568" cy="219456"/>
          </a:xfrm>
          <a:prstGeom prst="rect">
            <a:avLst/>
          </a:prstGeom>
          <a:noFill/>
        </p:spPr>
        <p:txBody>
          <a:bodyPr wrap="none">
            <a:spAutoFit/>
          </a:bodyPr>
          <a:lstStyle/>
          <a:p>
            <a:pPr algn="r">
              <a:defRPr sz="800" b="1">
                <a:solidFill>
                  <a:srgbClr val="003087"/>
                </a:solidFill>
              </a:defRPr>
            </a:pPr>
            <a:r>
              <a:t>BlueOcean</a:t>
            </a:r>
          </a:p>
        </p:txBody>
      </p:sp>
      <p:sp>
        <p:nvSpPr>
          <p:cNvPr id="3" name="TextBox 2"/>
          <p:cNvSpPr txBox="1"/>
          <p:nvPr/>
        </p:nvSpPr>
        <p:spPr>
          <a:xfrm>
            <a:off x="566928" y="6601968"/>
            <a:ext cx="11057839" cy="146304"/>
          </a:xfrm>
          <a:prstGeom prst="rect">
            <a:avLst/>
          </a:prstGeom>
          <a:noFill/>
        </p:spPr>
        <p:txBody>
          <a:bodyPr wrap="none">
            <a:spAutoFit/>
          </a:bodyPr>
          <a:lstStyle/>
          <a:p>
            <a:pPr>
              <a:defRPr sz="600">
                <a:solidFill>
                  <a:srgbClr val="A0A6AD"/>
                </a:solidFill>
              </a:defRPr>
            </a:pPr>
            <a:r>
              <a:t>Exhibit 1: evidence clarifies the strategic trade-off</a:t>
            </a:r>
          </a:p>
        </p:txBody>
      </p:sp>
      <p:sp>
        <p:nvSpPr>
          <p:cNvPr id="4" name="TextBox 3"/>
          <p:cNvSpPr txBox="1"/>
          <p:nvPr/>
        </p:nvSpPr>
        <p:spPr>
          <a:xfrm>
            <a:off x="566928" y="347472"/>
            <a:ext cx="9692640" cy="841248"/>
          </a:xfrm>
          <a:prstGeom prst="rect">
            <a:avLst/>
          </a:prstGeom>
          <a:noFill/>
        </p:spPr>
        <p:txBody>
          <a:bodyPr wrap="square">
            <a:spAutoFit/>
          </a:bodyPr>
          <a:lstStyle/>
          <a:p>
            <a:pPr>
              <a:defRPr sz="2000" b="0">
                <a:solidFill>
                  <a:srgbClr val="333333"/>
                </a:solidFill>
              </a:defRPr>
            </a:pPr>
            <a:r>
              <a:t>Exhibit 1: evidence clarifies the strategic trade-off</a:t>
            </a:r>
          </a:p>
        </p:txBody>
      </p:sp>
      <p:sp>
        <p:nvSpPr>
          <p:cNvPr id="5" name="Rectangle 4"/>
          <p:cNvSpPr/>
          <p:nvPr/>
        </p:nvSpPr>
        <p:spPr>
          <a:xfrm>
            <a:off x="566928" y="1115568"/>
            <a:ext cx="11057839" cy="9144"/>
          </a:xfrm>
          <a:prstGeom prst="rect">
            <a:avLst/>
          </a:prstGeom>
          <a:solidFill>
            <a:srgbClr val="C8C8C8"/>
          </a:solidFill>
          <a:ln>
            <a:solidFill>
              <a:srgbClr val="C8C8C8"/>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6" name="Picture 5" descr="chart-1.png"/>
          <p:cNvPicPr>
            <a:picLocks noChangeAspect="1"/>
          </p:cNvPicPr>
          <p:nvPr/>
        </p:nvPicPr>
        <p:blipFill>
          <a:blip r:embed="rId2"/>
          <a:stretch>
            <a:fillRect/>
          </a:stretch>
        </p:blipFill>
        <p:spPr>
          <a:xfrm>
            <a:off x="868680" y="1188720"/>
            <a:ext cx="10378440" cy="4846320"/>
          </a:xfrm>
          <a:prstGeom prst="rect">
            <a:avLst/>
          </a:prstGeom>
        </p:spPr>
      </p:pic>
    </p:spTree>
  </p:cSld>
  <p:clrMapOvr>
    <a:masterClrMapping/>
  </p:clrMapOvr>
</p:sld>
</file>

<file path=ppt/slides/slide14.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10682935" y="164592"/>
            <a:ext cx="1115568" cy="219456"/>
          </a:xfrm>
          <a:prstGeom prst="rect">
            <a:avLst/>
          </a:prstGeom>
          <a:noFill/>
        </p:spPr>
        <p:txBody>
          <a:bodyPr wrap="none">
            <a:spAutoFit/>
          </a:bodyPr>
          <a:lstStyle/>
          <a:p>
            <a:pPr algn="r">
              <a:defRPr sz="800" b="1">
                <a:solidFill>
                  <a:srgbClr val="003087"/>
                </a:solidFill>
              </a:defRPr>
            </a:pPr>
            <a:r>
              <a:t>BlueOcean</a:t>
            </a:r>
          </a:p>
        </p:txBody>
      </p:sp>
      <p:sp>
        <p:nvSpPr>
          <p:cNvPr id="3" name="TextBox 2"/>
          <p:cNvSpPr txBox="1"/>
          <p:nvPr/>
        </p:nvSpPr>
        <p:spPr>
          <a:xfrm>
            <a:off x="566928" y="6601968"/>
            <a:ext cx="11057839" cy="146304"/>
          </a:xfrm>
          <a:prstGeom prst="rect">
            <a:avLst/>
          </a:prstGeom>
          <a:noFill/>
        </p:spPr>
        <p:txBody>
          <a:bodyPr wrap="none">
            <a:spAutoFit/>
          </a:bodyPr>
          <a:lstStyle/>
          <a:p>
            <a:pPr>
              <a:defRPr sz="600">
                <a:solidFill>
                  <a:srgbClr val="A0A6AD"/>
                </a:solidFill>
              </a:defRPr>
            </a:pPr>
            <a:r>
              <a:t>Exhibit 2: evidence clarifies the strategic trade-off</a:t>
            </a:r>
          </a:p>
        </p:txBody>
      </p:sp>
      <p:sp>
        <p:nvSpPr>
          <p:cNvPr id="4" name="TextBox 3"/>
          <p:cNvSpPr txBox="1"/>
          <p:nvPr/>
        </p:nvSpPr>
        <p:spPr>
          <a:xfrm>
            <a:off x="566928" y="347472"/>
            <a:ext cx="9692640" cy="841248"/>
          </a:xfrm>
          <a:prstGeom prst="rect">
            <a:avLst/>
          </a:prstGeom>
          <a:noFill/>
        </p:spPr>
        <p:txBody>
          <a:bodyPr wrap="square">
            <a:spAutoFit/>
          </a:bodyPr>
          <a:lstStyle/>
          <a:p>
            <a:pPr>
              <a:defRPr sz="2000" b="0">
                <a:solidFill>
                  <a:srgbClr val="333333"/>
                </a:solidFill>
              </a:defRPr>
            </a:pPr>
            <a:r>
              <a:t>Exhibit 2: evidence clarifies the strategic trade-off</a:t>
            </a:r>
          </a:p>
        </p:txBody>
      </p:sp>
      <p:sp>
        <p:nvSpPr>
          <p:cNvPr id="5" name="Rectangle 4"/>
          <p:cNvSpPr/>
          <p:nvPr/>
        </p:nvSpPr>
        <p:spPr>
          <a:xfrm>
            <a:off x="566928" y="1115568"/>
            <a:ext cx="11057839" cy="9144"/>
          </a:xfrm>
          <a:prstGeom prst="rect">
            <a:avLst/>
          </a:prstGeom>
          <a:solidFill>
            <a:srgbClr val="C8C8C8"/>
          </a:solidFill>
          <a:ln>
            <a:solidFill>
              <a:srgbClr val="C8C8C8"/>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6" name="Picture 5" descr="chart-2.png"/>
          <p:cNvPicPr>
            <a:picLocks noChangeAspect="1"/>
          </p:cNvPicPr>
          <p:nvPr/>
        </p:nvPicPr>
        <p:blipFill>
          <a:blip r:embed="rId2"/>
          <a:stretch>
            <a:fillRect/>
          </a:stretch>
        </p:blipFill>
        <p:spPr>
          <a:xfrm>
            <a:off x="868680" y="1188720"/>
            <a:ext cx="10378440" cy="4846320"/>
          </a:xfrm>
          <a:prstGeom prst="rect">
            <a:avLst/>
          </a:prstGeom>
        </p:spPr>
      </p:pic>
    </p:spTree>
  </p:cSld>
  <p:clrMapOvr>
    <a:masterClrMapping/>
  </p:clrMapOvr>
</p:sld>
</file>

<file path=ppt/slides/slide15.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10682935" y="164592"/>
            <a:ext cx="1115568" cy="219456"/>
          </a:xfrm>
          <a:prstGeom prst="rect">
            <a:avLst/>
          </a:prstGeom>
          <a:noFill/>
        </p:spPr>
        <p:txBody>
          <a:bodyPr wrap="none">
            <a:spAutoFit/>
          </a:bodyPr>
          <a:lstStyle/>
          <a:p>
            <a:pPr algn="r">
              <a:defRPr sz="800" b="1">
                <a:solidFill>
                  <a:srgbClr val="003087"/>
                </a:solidFill>
              </a:defRPr>
            </a:pPr>
            <a:r>
              <a:t>BlueOcean</a:t>
            </a:r>
          </a:p>
        </p:txBody>
      </p:sp>
      <p:sp>
        <p:nvSpPr>
          <p:cNvPr id="3" name="TextBox 2"/>
          <p:cNvSpPr txBox="1"/>
          <p:nvPr/>
        </p:nvSpPr>
        <p:spPr>
          <a:xfrm>
            <a:off x="566928" y="6601968"/>
            <a:ext cx="11057839" cy="146304"/>
          </a:xfrm>
          <a:prstGeom prst="rect">
            <a:avLst/>
          </a:prstGeom>
          <a:noFill/>
        </p:spPr>
        <p:txBody>
          <a:bodyPr wrap="none">
            <a:spAutoFit/>
          </a:bodyPr>
          <a:lstStyle/>
          <a:p>
            <a:pPr>
              <a:defRPr sz="600">
                <a:solidFill>
                  <a:srgbClr val="A0A6AD"/>
                </a:solidFill>
              </a:defRPr>
            </a:pPr>
            <a:r>
              <a:t>Exhibit 3: evidence clarifies the strategic trade-off</a:t>
            </a:r>
          </a:p>
        </p:txBody>
      </p:sp>
      <p:sp>
        <p:nvSpPr>
          <p:cNvPr id="4" name="TextBox 3"/>
          <p:cNvSpPr txBox="1"/>
          <p:nvPr/>
        </p:nvSpPr>
        <p:spPr>
          <a:xfrm>
            <a:off x="566928" y="347472"/>
            <a:ext cx="9692640" cy="841248"/>
          </a:xfrm>
          <a:prstGeom prst="rect">
            <a:avLst/>
          </a:prstGeom>
          <a:noFill/>
        </p:spPr>
        <p:txBody>
          <a:bodyPr wrap="square">
            <a:spAutoFit/>
          </a:bodyPr>
          <a:lstStyle/>
          <a:p>
            <a:pPr>
              <a:defRPr sz="2000" b="0">
                <a:solidFill>
                  <a:srgbClr val="333333"/>
                </a:solidFill>
              </a:defRPr>
            </a:pPr>
            <a:r>
              <a:t>Exhibit 3: evidence clarifies the strategic trade-off</a:t>
            </a:r>
          </a:p>
        </p:txBody>
      </p:sp>
      <p:sp>
        <p:nvSpPr>
          <p:cNvPr id="5" name="Rectangle 4"/>
          <p:cNvSpPr/>
          <p:nvPr/>
        </p:nvSpPr>
        <p:spPr>
          <a:xfrm>
            <a:off x="566928" y="1115568"/>
            <a:ext cx="11057839" cy="9144"/>
          </a:xfrm>
          <a:prstGeom prst="rect">
            <a:avLst/>
          </a:prstGeom>
          <a:solidFill>
            <a:srgbClr val="C8C8C8"/>
          </a:solidFill>
          <a:ln>
            <a:solidFill>
              <a:srgbClr val="C8C8C8"/>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6" name="Picture 5" descr="chart-3.png"/>
          <p:cNvPicPr>
            <a:picLocks noChangeAspect="1"/>
          </p:cNvPicPr>
          <p:nvPr/>
        </p:nvPicPr>
        <p:blipFill>
          <a:blip r:embed="rId2"/>
          <a:stretch>
            <a:fillRect/>
          </a:stretch>
        </p:blipFill>
        <p:spPr>
          <a:xfrm>
            <a:off x="868680" y="1188720"/>
            <a:ext cx="10378440" cy="4846320"/>
          </a:xfrm>
          <a:prstGeom prst="rect">
            <a:avLst/>
          </a:prstGeom>
        </p:spPr>
      </p:pic>
    </p:spTree>
  </p:cSld>
  <p:clrMapOvr>
    <a:masterClrMapping/>
  </p:clrMapOvr>
</p:sld>
</file>

<file path=ppt/slides/slide16.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10682935" y="164592"/>
            <a:ext cx="1115568" cy="219456"/>
          </a:xfrm>
          <a:prstGeom prst="rect">
            <a:avLst/>
          </a:prstGeom>
          <a:noFill/>
        </p:spPr>
        <p:txBody>
          <a:bodyPr wrap="none">
            <a:spAutoFit/>
          </a:bodyPr>
          <a:lstStyle/>
          <a:p>
            <a:pPr algn="r">
              <a:defRPr sz="800" b="1">
                <a:solidFill>
                  <a:srgbClr val="003087"/>
                </a:solidFill>
              </a:defRPr>
            </a:pPr>
            <a:r>
              <a:t>BlueOcean</a:t>
            </a:r>
          </a:p>
        </p:txBody>
      </p:sp>
      <p:sp>
        <p:nvSpPr>
          <p:cNvPr id="3" name="TextBox 2"/>
          <p:cNvSpPr txBox="1"/>
          <p:nvPr/>
        </p:nvSpPr>
        <p:spPr>
          <a:xfrm>
            <a:off x="566928" y="6601968"/>
            <a:ext cx="11057839" cy="146304"/>
          </a:xfrm>
          <a:prstGeom prst="rect">
            <a:avLst/>
          </a:prstGeom>
          <a:noFill/>
        </p:spPr>
        <p:txBody>
          <a:bodyPr wrap="none">
            <a:spAutoFit/>
          </a:bodyPr>
          <a:lstStyle/>
          <a:p>
            <a:pPr>
              <a:defRPr sz="600">
                <a:solidFill>
                  <a:srgbClr val="A0A6AD"/>
                </a:solidFill>
              </a:defRPr>
            </a:pPr>
            <a:r>
              <a:t>Exhibit 4: evidence clarifies the strategic trade-off</a:t>
            </a:r>
          </a:p>
        </p:txBody>
      </p:sp>
      <p:sp>
        <p:nvSpPr>
          <p:cNvPr id="4" name="TextBox 3"/>
          <p:cNvSpPr txBox="1"/>
          <p:nvPr/>
        </p:nvSpPr>
        <p:spPr>
          <a:xfrm>
            <a:off x="566928" y="347472"/>
            <a:ext cx="9692640" cy="841248"/>
          </a:xfrm>
          <a:prstGeom prst="rect">
            <a:avLst/>
          </a:prstGeom>
          <a:noFill/>
        </p:spPr>
        <p:txBody>
          <a:bodyPr wrap="square">
            <a:spAutoFit/>
          </a:bodyPr>
          <a:lstStyle/>
          <a:p>
            <a:pPr>
              <a:defRPr sz="2000" b="0">
                <a:solidFill>
                  <a:srgbClr val="333333"/>
                </a:solidFill>
              </a:defRPr>
            </a:pPr>
            <a:r>
              <a:t>Exhibit 4: evidence clarifies the strategic trade-off</a:t>
            </a:r>
          </a:p>
        </p:txBody>
      </p:sp>
      <p:sp>
        <p:nvSpPr>
          <p:cNvPr id="5" name="Rectangle 4"/>
          <p:cNvSpPr/>
          <p:nvPr/>
        </p:nvSpPr>
        <p:spPr>
          <a:xfrm>
            <a:off x="566928" y="1115568"/>
            <a:ext cx="11057839" cy="9144"/>
          </a:xfrm>
          <a:prstGeom prst="rect">
            <a:avLst/>
          </a:prstGeom>
          <a:solidFill>
            <a:srgbClr val="C8C8C8"/>
          </a:solidFill>
          <a:ln>
            <a:solidFill>
              <a:srgbClr val="C8C8C8"/>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6" name="Picture 5" descr="chart-4.png"/>
          <p:cNvPicPr>
            <a:picLocks noChangeAspect="1"/>
          </p:cNvPicPr>
          <p:nvPr/>
        </p:nvPicPr>
        <p:blipFill>
          <a:blip r:embed="rId2"/>
          <a:stretch>
            <a:fillRect/>
          </a:stretch>
        </p:blipFill>
        <p:spPr>
          <a:xfrm>
            <a:off x="868680" y="1188720"/>
            <a:ext cx="10378440" cy="4846320"/>
          </a:xfrm>
          <a:prstGeom prst="rect">
            <a:avLst/>
          </a:prstGeom>
        </p:spPr>
      </p:pic>
    </p:spTree>
  </p:cSld>
  <p:clrMapOvr>
    <a:masterClrMapping/>
  </p:clrMapOvr>
</p:sld>
</file>

<file path=ppt/slides/slide17.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10682935" y="164592"/>
            <a:ext cx="1115568" cy="219456"/>
          </a:xfrm>
          <a:prstGeom prst="rect">
            <a:avLst/>
          </a:prstGeom>
          <a:noFill/>
        </p:spPr>
        <p:txBody>
          <a:bodyPr wrap="none">
            <a:spAutoFit/>
          </a:bodyPr>
          <a:lstStyle/>
          <a:p>
            <a:pPr algn="r">
              <a:defRPr sz="800" b="1">
                <a:solidFill>
                  <a:srgbClr val="003087"/>
                </a:solidFill>
              </a:defRPr>
            </a:pPr>
            <a:r>
              <a:t>BlueOcean</a:t>
            </a:r>
          </a:p>
        </p:txBody>
      </p:sp>
      <p:sp>
        <p:nvSpPr>
          <p:cNvPr id="3" name="TextBox 2"/>
          <p:cNvSpPr txBox="1"/>
          <p:nvPr/>
        </p:nvSpPr>
        <p:spPr>
          <a:xfrm>
            <a:off x="566928" y="6601968"/>
            <a:ext cx="11057839" cy="146304"/>
          </a:xfrm>
          <a:prstGeom prst="rect">
            <a:avLst/>
          </a:prstGeom>
          <a:noFill/>
        </p:spPr>
        <p:txBody>
          <a:bodyPr wrap="none">
            <a:spAutoFit/>
          </a:bodyPr>
          <a:lstStyle/>
          <a:p>
            <a:pPr>
              <a:defRPr sz="600">
                <a:solidFill>
                  <a:srgbClr val="A0A6AD"/>
                </a:solidFill>
              </a:defRPr>
            </a:pPr>
            <a:r>
              <a:t>Exhibit 5: evidence clarifies the strategic trade-off</a:t>
            </a:r>
          </a:p>
        </p:txBody>
      </p:sp>
      <p:sp>
        <p:nvSpPr>
          <p:cNvPr id="4" name="TextBox 3"/>
          <p:cNvSpPr txBox="1"/>
          <p:nvPr/>
        </p:nvSpPr>
        <p:spPr>
          <a:xfrm>
            <a:off x="566928" y="347472"/>
            <a:ext cx="9692640" cy="841248"/>
          </a:xfrm>
          <a:prstGeom prst="rect">
            <a:avLst/>
          </a:prstGeom>
          <a:noFill/>
        </p:spPr>
        <p:txBody>
          <a:bodyPr wrap="square">
            <a:spAutoFit/>
          </a:bodyPr>
          <a:lstStyle/>
          <a:p>
            <a:pPr>
              <a:defRPr sz="2000" b="0">
                <a:solidFill>
                  <a:srgbClr val="333333"/>
                </a:solidFill>
              </a:defRPr>
            </a:pPr>
            <a:r>
              <a:t>Exhibit 5: evidence clarifies the strategic trade-off</a:t>
            </a:r>
          </a:p>
        </p:txBody>
      </p:sp>
      <p:sp>
        <p:nvSpPr>
          <p:cNvPr id="5" name="Rectangle 4"/>
          <p:cNvSpPr/>
          <p:nvPr/>
        </p:nvSpPr>
        <p:spPr>
          <a:xfrm>
            <a:off x="566928" y="1115568"/>
            <a:ext cx="11057839" cy="9144"/>
          </a:xfrm>
          <a:prstGeom prst="rect">
            <a:avLst/>
          </a:prstGeom>
          <a:solidFill>
            <a:srgbClr val="C8C8C8"/>
          </a:solidFill>
          <a:ln>
            <a:solidFill>
              <a:srgbClr val="C8C8C8"/>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6" name="Picture 5" descr="chart-5.png"/>
          <p:cNvPicPr>
            <a:picLocks noChangeAspect="1"/>
          </p:cNvPicPr>
          <p:nvPr/>
        </p:nvPicPr>
        <p:blipFill>
          <a:blip r:embed="rId2"/>
          <a:stretch>
            <a:fillRect/>
          </a:stretch>
        </p:blipFill>
        <p:spPr>
          <a:xfrm>
            <a:off x="868680" y="1188720"/>
            <a:ext cx="10378440" cy="4846320"/>
          </a:xfrm>
          <a:prstGeom prst="rect">
            <a:avLst/>
          </a:prstGeom>
        </p:spPr>
      </p:pic>
    </p:spTree>
  </p:cSld>
  <p:clrMapOvr>
    <a:masterClrMapping/>
  </p:clrMapOvr>
</p:sld>
</file>

<file path=ppt/slides/slide18.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10682935" y="164592"/>
            <a:ext cx="1115568" cy="219456"/>
          </a:xfrm>
          <a:prstGeom prst="rect">
            <a:avLst/>
          </a:prstGeom>
          <a:noFill/>
        </p:spPr>
        <p:txBody>
          <a:bodyPr wrap="none">
            <a:spAutoFit/>
          </a:bodyPr>
          <a:lstStyle/>
          <a:p>
            <a:pPr algn="r">
              <a:defRPr sz="800" b="1">
                <a:solidFill>
                  <a:srgbClr val="003087"/>
                </a:solidFill>
              </a:defRPr>
            </a:pPr>
            <a:r>
              <a:t>BlueOcean</a:t>
            </a:r>
          </a:p>
        </p:txBody>
      </p:sp>
      <p:sp>
        <p:nvSpPr>
          <p:cNvPr id="3" name="TextBox 2"/>
          <p:cNvSpPr txBox="1"/>
          <p:nvPr/>
        </p:nvSpPr>
        <p:spPr>
          <a:xfrm>
            <a:off x="566928" y="6601968"/>
            <a:ext cx="11057839" cy="146304"/>
          </a:xfrm>
          <a:prstGeom prst="rect">
            <a:avLst/>
          </a:prstGeom>
          <a:noFill/>
        </p:spPr>
        <p:txBody>
          <a:bodyPr wrap="none">
            <a:spAutoFit/>
          </a:bodyPr>
          <a:lstStyle/>
          <a:p>
            <a:pPr>
              <a:defRPr sz="600">
                <a:solidFill>
                  <a:srgbClr val="A0A6AD"/>
                </a:solidFill>
              </a:defRPr>
            </a:pPr>
            <a:r>
              <a:t>Exhibit 6: evidence clarifies the strategic trade-off</a:t>
            </a:r>
          </a:p>
        </p:txBody>
      </p:sp>
      <p:sp>
        <p:nvSpPr>
          <p:cNvPr id="4" name="TextBox 3"/>
          <p:cNvSpPr txBox="1"/>
          <p:nvPr/>
        </p:nvSpPr>
        <p:spPr>
          <a:xfrm>
            <a:off x="566928" y="347472"/>
            <a:ext cx="9692640" cy="841248"/>
          </a:xfrm>
          <a:prstGeom prst="rect">
            <a:avLst/>
          </a:prstGeom>
          <a:noFill/>
        </p:spPr>
        <p:txBody>
          <a:bodyPr wrap="square">
            <a:spAutoFit/>
          </a:bodyPr>
          <a:lstStyle/>
          <a:p>
            <a:pPr>
              <a:defRPr sz="2000" b="0">
                <a:solidFill>
                  <a:srgbClr val="333333"/>
                </a:solidFill>
              </a:defRPr>
            </a:pPr>
            <a:r>
              <a:t>Exhibit 6: evidence clarifies the strategic trade-off</a:t>
            </a:r>
          </a:p>
        </p:txBody>
      </p:sp>
      <p:sp>
        <p:nvSpPr>
          <p:cNvPr id="5" name="Rectangle 4"/>
          <p:cNvSpPr/>
          <p:nvPr/>
        </p:nvSpPr>
        <p:spPr>
          <a:xfrm>
            <a:off x="566928" y="1115568"/>
            <a:ext cx="11057839" cy="9144"/>
          </a:xfrm>
          <a:prstGeom prst="rect">
            <a:avLst/>
          </a:prstGeom>
          <a:solidFill>
            <a:srgbClr val="C8C8C8"/>
          </a:solidFill>
          <a:ln>
            <a:solidFill>
              <a:srgbClr val="C8C8C8"/>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6" name="Picture 5" descr="chart-6.png"/>
          <p:cNvPicPr>
            <a:picLocks noChangeAspect="1"/>
          </p:cNvPicPr>
          <p:nvPr/>
        </p:nvPicPr>
        <p:blipFill>
          <a:blip r:embed="rId2"/>
          <a:stretch>
            <a:fillRect/>
          </a:stretch>
        </p:blipFill>
        <p:spPr>
          <a:xfrm>
            <a:off x="868680" y="1188720"/>
            <a:ext cx="10378440" cy="4846320"/>
          </a:xfrm>
          <a:prstGeom prst="rect">
            <a:avLst/>
          </a:prstGeom>
        </p:spPr>
      </p:pic>
    </p:spTree>
  </p:cSld>
  <p:clrMapOvr>
    <a:masterClrMapping/>
  </p:clrMapOvr>
</p:sld>
</file>

<file path=ppt/slides/slide19.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10682935" y="164592"/>
            <a:ext cx="1115568" cy="219456"/>
          </a:xfrm>
          <a:prstGeom prst="rect">
            <a:avLst/>
          </a:prstGeom>
          <a:noFill/>
        </p:spPr>
        <p:txBody>
          <a:bodyPr wrap="none">
            <a:spAutoFit/>
          </a:bodyPr>
          <a:lstStyle/>
          <a:p>
            <a:pPr algn="r">
              <a:defRPr sz="800" b="1">
                <a:solidFill>
                  <a:srgbClr val="003087"/>
                </a:solidFill>
              </a:defRPr>
            </a:pPr>
            <a:r>
              <a:t>BlueOcean</a:t>
            </a:r>
          </a:p>
        </p:txBody>
      </p:sp>
      <p:sp>
        <p:nvSpPr>
          <p:cNvPr id="3" name="TextBox 2"/>
          <p:cNvSpPr txBox="1"/>
          <p:nvPr/>
        </p:nvSpPr>
        <p:spPr>
          <a:xfrm>
            <a:off x="566928" y="6601968"/>
            <a:ext cx="11057839" cy="146304"/>
          </a:xfrm>
          <a:prstGeom prst="rect">
            <a:avLst/>
          </a:prstGeom>
          <a:noFill/>
        </p:spPr>
        <p:txBody>
          <a:bodyPr wrap="none">
            <a:spAutoFit/>
          </a:bodyPr>
          <a:lstStyle/>
          <a:p>
            <a:pPr>
              <a:defRPr sz="600">
                <a:solidFill>
                  <a:srgbClr val="A0A6AD"/>
                </a:solidFill>
              </a:defRPr>
            </a:pPr>
            <a:r>
              <a:t>Exhibit 7: evidence clarifies the strategic trade-off</a:t>
            </a:r>
          </a:p>
        </p:txBody>
      </p:sp>
      <p:sp>
        <p:nvSpPr>
          <p:cNvPr id="4" name="TextBox 3"/>
          <p:cNvSpPr txBox="1"/>
          <p:nvPr/>
        </p:nvSpPr>
        <p:spPr>
          <a:xfrm>
            <a:off x="566928" y="347472"/>
            <a:ext cx="9692640" cy="841248"/>
          </a:xfrm>
          <a:prstGeom prst="rect">
            <a:avLst/>
          </a:prstGeom>
          <a:noFill/>
        </p:spPr>
        <p:txBody>
          <a:bodyPr wrap="square">
            <a:spAutoFit/>
          </a:bodyPr>
          <a:lstStyle/>
          <a:p>
            <a:pPr>
              <a:defRPr sz="2000" b="0">
                <a:solidFill>
                  <a:srgbClr val="333333"/>
                </a:solidFill>
              </a:defRPr>
            </a:pPr>
            <a:r>
              <a:t>Exhibit 7: evidence clarifies the strategic trade-off</a:t>
            </a:r>
          </a:p>
        </p:txBody>
      </p:sp>
      <p:sp>
        <p:nvSpPr>
          <p:cNvPr id="5" name="Rectangle 4"/>
          <p:cNvSpPr/>
          <p:nvPr/>
        </p:nvSpPr>
        <p:spPr>
          <a:xfrm>
            <a:off x="566928" y="1115568"/>
            <a:ext cx="11057839" cy="9144"/>
          </a:xfrm>
          <a:prstGeom prst="rect">
            <a:avLst/>
          </a:prstGeom>
          <a:solidFill>
            <a:srgbClr val="C8C8C8"/>
          </a:solidFill>
          <a:ln>
            <a:solidFill>
              <a:srgbClr val="C8C8C8"/>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6" name="Picture 5" descr="chart-7.png"/>
          <p:cNvPicPr>
            <a:picLocks noChangeAspect="1"/>
          </p:cNvPicPr>
          <p:nvPr/>
        </p:nvPicPr>
        <p:blipFill>
          <a:blip r:embed="rId2"/>
          <a:stretch>
            <a:fillRect/>
          </a:stretch>
        </p:blipFill>
        <p:spPr>
          <a:xfrm>
            <a:off x="868680" y="1188720"/>
            <a:ext cx="10378440" cy="4846320"/>
          </a:xfrm>
          <a:prstGeom prst="rect">
            <a:avLst/>
          </a:prstGeom>
        </p:spPr>
      </p:pic>
    </p:spTree>
  </p:cSld>
  <p:clrMapOvr>
    <a:masterClrMapping/>
  </p:clrMapOvr>
</p:sld>
</file>

<file path=ppt/slides/slide20.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10682935" y="164592"/>
            <a:ext cx="1115568" cy="219456"/>
          </a:xfrm>
          <a:prstGeom prst="rect">
            <a:avLst/>
          </a:prstGeom>
          <a:noFill/>
        </p:spPr>
        <p:txBody>
          <a:bodyPr wrap="none">
            <a:spAutoFit/>
          </a:bodyPr>
          <a:lstStyle/>
          <a:p>
            <a:pPr algn="r">
              <a:defRPr sz="800" b="1">
                <a:solidFill>
                  <a:srgbClr val="003087"/>
                </a:solidFill>
              </a:defRPr>
            </a:pPr>
            <a:r>
              <a:t>BlueOcean</a:t>
            </a:r>
          </a:p>
        </p:txBody>
      </p:sp>
      <p:sp>
        <p:nvSpPr>
          <p:cNvPr id="3" name="TextBox 2"/>
          <p:cNvSpPr txBox="1"/>
          <p:nvPr/>
        </p:nvSpPr>
        <p:spPr>
          <a:xfrm>
            <a:off x="566928" y="6601968"/>
            <a:ext cx="11057839" cy="146304"/>
          </a:xfrm>
          <a:prstGeom prst="rect">
            <a:avLst/>
          </a:prstGeom>
          <a:noFill/>
        </p:spPr>
        <p:txBody>
          <a:bodyPr wrap="none">
            <a:spAutoFit/>
          </a:bodyPr>
          <a:lstStyle/>
          <a:p>
            <a:pPr>
              <a:defRPr sz="600">
                <a:solidFill>
                  <a:srgbClr val="A0A6AD"/>
                </a:solidFill>
              </a:defRPr>
            </a:pPr>
            <a:r>
              <a:t>Closing</a:t>
            </a:r>
          </a:p>
        </p:txBody>
      </p:sp>
      <p:sp>
        <p:nvSpPr>
          <p:cNvPr id="4" name="TextBox 3"/>
          <p:cNvSpPr txBox="1"/>
          <p:nvPr/>
        </p:nvSpPr>
        <p:spPr>
          <a:xfrm>
            <a:off x="566928" y="347472"/>
            <a:ext cx="9692640" cy="841248"/>
          </a:xfrm>
          <a:prstGeom prst="rect">
            <a:avLst/>
          </a:prstGeom>
          <a:noFill/>
        </p:spPr>
        <p:txBody>
          <a:bodyPr wrap="square">
            <a:spAutoFit/>
          </a:bodyPr>
          <a:lstStyle/>
          <a:p>
            <a:pPr>
              <a:defRPr sz="2000" b="0">
                <a:solidFill>
                  <a:srgbClr val="333333"/>
                </a:solidFill>
              </a:defRPr>
            </a:pPr>
            <a:r>
              <a:t>The next step is to convert the research into a short list of decisions</a:t>
            </a:r>
          </a:p>
        </p:txBody>
      </p:sp>
      <p:sp>
        <p:nvSpPr>
          <p:cNvPr id="5" name="Rectangle 4"/>
          <p:cNvSpPr/>
          <p:nvPr/>
        </p:nvSpPr>
        <p:spPr>
          <a:xfrm>
            <a:off x="566928" y="1115568"/>
            <a:ext cx="11057839" cy="9144"/>
          </a:xfrm>
          <a:prstGeom prst="rect">
            <a:avLst/>
          </a:prstGeom>
          <a:solidFill>
            <a:srgbClr val="C8C8C8"/>
          </a:solidFill>
          <a:ln>
            <a:solidFill>
              <a:srgbClr val="C8C8C8"/>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566928" y="1463040"/>
            <a:ext cx="9875520" cy="2926080"/>
          </a:xfrm>
          <a:prstGeom prst="rect">
            <a:avLst/>
          </a:prstGeom>
          <a:noFill/>
        </p:spPr>
        <p:txBody>
          <a:bodyPr wrap="square">
            <a:spAutoFit/>
          </a:bodyPr>
          <a:lstStyle/>
          <a:p>
            <a:pPr>
              <a:defRPr sz="1500">
                <a:solidFill>
                  <a:srgbClr val="003087"/>
                </a:solidFill>
              </a:defRPr>
            </a:pPr>
            <a:r>
              <a:t>A BlueOcean Research Report for Senior Executives and Strategic Planners</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
  <cp:keywords/>
  <dc:description>generated using python-pptx</dc:description>
  <cp:lastModifiedBy>Steve Canny</cp:lastModifiedBy>
  <cp:revision>1</cp:revision>
  <dcterms:created xsi:type="dcterms:W3CDTF">2013-01-27T09:14:16Z</dcterms:created>
  <dcterms:modified xsi:type="dcterms:W3CDTF">2013-01-27T09:15:58Z</dcterms:modified>
  <cp:category/>
</cp:coreProperties>
</file>