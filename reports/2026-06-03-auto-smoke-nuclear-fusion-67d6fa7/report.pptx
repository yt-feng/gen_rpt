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over-ai.pn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051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58368" y="685800"/>
            <a:ext cx="4892040" cy="3429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58368" y="685800"/>
            <a:ext cx="4892040" cy="73152"/>
          </a:xfrm>
          <a:prstGeom prst="rect">
            <a:avLst/>
          </a:prstGeom>
          <a:solidFill>
            <a:srgbClr val="3273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960120"/>
            <a:ext cx="4251960" cy="2743200"/>
          </a:xfrm>
          <a:prstGeom prst="rect">
            <a:avLst/>
          </a:prstGeom>
          <a:noFill/>
        </p:spPr>
        <p:txBody>
          <a:bodyPr wrap="square">
            <a:spAutoFit/>
          </a:bodyPr>
          <a:lstStyle/>
          <a:p>
            <a:pPr>
              <a:defRPr sz="900" b="1">
                <a:solidFill>
                  <a:srgbClr val="003087"/>
                </a:solidFill>
              </a:defRPr>
            </a:pPr>
            <a:r>
              <a:t>BLUEOCEAN</a:t>
            </a:r>
          </a:p>
          <a:p>
            <a:pPr>
              <a:spcBef>
                <a:spcPts val="1800"/>
              </a:spcBef>
              <a:defRPr sz="2300">
                <a:solidFill>
                  <a:srgbClr val="333333"/>
                </a:solidFill>
              </a:defRPr>
            </a:pPr>
            <a:r>
              <a:t>Nuclear Fusion Commercialization: Strategic Implications for Energy Markets and Investment</a:t>
            </a:r>
          </a:p>
          <a:p>
            <a:pPr>
              <a:spcBef>
                <a:spcPts val="1400"/>
              </a:spcBef>
              <a:defRPr sz="950">
                <a:solidFill>
                  <a:srgbClr val="64696E"/>
                </a:solidFill>
              </a:defRPr>
            </a:pPr>
            <a:r>
              <a:t>A Decision-Ready Analysis for Senior Executives and Investors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Contents</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The discussion follows the management question, evidence, and implications</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417320"/>
            <a:ext cx="502920" cy="274320"/>
          </a:xfrm>
          <a:prstGeom prst="rect">
            <a:avLst/>
          </a:prstGeom>
          <a:noFill/>
        </p:spPr>
        <p:txBody>
          <a:bodyPr wrap="none">
            <a:spAutoFit/>
          </a:bodyPr>
          <a:lstStyle/>
          <a:p>
            <a:pPr>
              <a:defRPr sz="950" b="1">
                <a:solidFill>
                  <a:srgbClr val="003087"/>
                </a:solidFill>
              </a:defRPr>
            </a:pPr>
            <a:r>
              <a:t>01</a:t>
            </a:r>
          </a:p>
        </p:txBody>
      </p:sp>
      <p:sp>
        <p:nvSpPr>
          <p:cNvPr id="7" name="TextBox 6"/>
          <p:cNvSpPr txBox="1"/>
          <p:nvPr/>
        </p:nvSpPr>
        <p:spPr>
          <a:xfrm>
            <a:off x="1143000" y="1417320"/>
            <a:ext cx="9601200" cy="384048"/>
          </a:xfrm>
          <a:prstGeom prst="rect">
            <a:avLst/>
          </a:prstGeom>
          <a:noFill/>
        </p:spPr>
        <p:txBody>
          <a:bodyPr wrap="none">
            <a:spAutoFit/>
          </a:bodyPr>
          <a:lstStyle/>
          <a:p>
            <a:pPr>
              <a:defRPr sz="1260">
                <a:solidFill>
                  <a:srgbClr val="333333"/>
                </a:solidFill>
              </a:defRPr>
            </a:pPr>
            <a:r>
              <a:t>Nuclear Fusion Commercialization: Strategic Implications for Energy Markets and Investment should be managed a</a:t>
            </a:r>
          </a:p>
        </p:txBody>
      </p:sp>
      <p:sp>
        <p:nvSpPr>
          <p:cNvPr id="8" name="TextBox 7"/>
          <p:cNvSpPr txBox="1"/>
          <p:nvPr/>
        </p:nvSpPr>
        <p:spPr>
          <a:xfrm>
            <a:off x="566928" y="1874520"/>
            <a:ext cx="502920" cy="274320"/>
          </a:xfrm>
          <a:prstGeom prst="rect">
            <a:avLst/>
          </a:prstGeom>
          <a:noFill/>
        </p:spPr>
        <p:txBody>
          <a:bodyPr wrap="none">
            <a:spAutoFit/>
          </a:bodyPr>
          <a:lstStyle/>
          <a:p>
            <a:pPr>
              <a:defRPr sz="950" b="1">
                <a:solidFill>
                  <a:srgbClr val="003087"/>
                </a:solidFill>
              </a:defRPr>
            </a:pPr>
            <a:r>
              <a:t>02</a:t>
            </a:r>
          </a:p>
        </p:txBody>
      </p:sp>
      <p:sp>
        <p:nvSpPr>
          <p:cNvPr id="9" name="TextBox 8"/>
          <p:cNvSpPr txBox="1"/>
          <p:nvPr/>
        </p:nvSpPr>
        <p:spPr>
          <a:xfrm>
            <a:off x="1143000" y="1874520"/>
            <a:ext cx="9601200" cy="384048"/>
          </a:xfrm>
          <a:prstGeom prst="rect">
            <a:avLst/>
          </a:prstGeom>
          <a:noFill/>
        </p:spPr>
        <p:txBody>
          <a:bodyPr wrap="none">
            <a:spAutoFit/>
          </a:bodyPr>
          <a:lstStyle/>
          <a:p>
            <a:pPr>
              <a:defRPr sz="1260">
                <a:solidFill>
                  <a:srgbClr val="333333"/>
                </a:solidFill>
              </a:defRPr>
            </a:pPr>
            <a:r>
              <a:t>Commercial readiness depends on bankability, deliverability and repeat customer proof</a:t>
            </a:r>
          </a:p>
        </p:txBody>
      </p:sp>
      <p:sp>
        <p:nvSpPr>
          <p:cNvPr id="10" name="TextBox 9"/>
          <p:cNvSpPr txBox="1"/>
          <p:nvPr/>
        </p:nvSpPr>
        <p:spPr>
          <a:xfrm>
            <a:off x="566928" y="2331720"/>
            <a:ext cx="502920" cy="274320"/>
          </a:xfrm>
          <a:prstGeom prst="rect">
            <a:avLst/>
          </a:prstGeom>
          <a:noFill/>
        </p:spPr>
        <p:txBody>
          <a:bodyPr wrap="none">
            <a:spAutoFit/>
          </a:bodyPr>
          <a:lstStyle/>
          <a:p>
            <a:pPr>
              <a:defRPr sz="950" b="1">
                <a:solidFill>
                  <a:srgbClr val="003087"/>
                </a:solidFill>
              </a:defRPr>
            </a:pPr>
            <a:r>
              <a:t>03</a:t>
            </a:r>
          </a:p>
        </p:txBody>
      </p:sp>
      <p:sp>
        <p:nvSpPr>
          <p:cNvPr id="11" name="TextBox 10"/>
          <p:cNvSpPr txBox="1"/>
          <p:nvPr/>
        </p:nvSpPr>
        <p:spPr>
          <a:xfrm>
            <a:off x="1143000" y="2331720"/>
            <a:ext cx="9601200" cy="384048"/>
          </a:xfrm>
          <a:prstGeom prst="rect">
            <a:avLst/>
          </a:prstGeom>
          <a:noFill/>
        </p:spPr>
        <p:txBody>
          <a:bodyPr wrap="none">
            <a:spAutoFit/>
          </a:bodyPr>
          <a:lstStyle/>
          <a:p>
            <a:pPr>
              <a:defRPr sz="1260">
                <a:solidFill>
                  <a:srgbClr val="333333"/>
                </a:solidFill>
              </a:defRPr>
            </a:pPr>
            <a:r>
              <a:t>Cost, return and timing will determine the real deployment window</a:t>
            </a:r>
          </a:p>
        </p:txBody>
      </p:sp>
      <p:sp>
        <p:nvSpPr>
          <p:cNvPr id="12" name="TextBox 11"/>
          <p:cNvSpPr txBox="1"/>
          <p:nvPr/>
        </p:nvSpPr>
        <p:spPr>
          <a:xfrm>
            <a:off x="566928" y="2788920"/>
            <a:ext cx="502920" cy="274320"/>
          </a:xfrm>
          <a:prstGeom prst="rect">
            <a:avLst/>
          </a:prstGeom>
          <a:noFill/>
        </p:spPr>
        <p:txBody>
          <a:bodyPr wrap="none">
            <a:spAutoFit/>
          </a:bodyPr>
          <a:lstStyle/>
          <a:p>
            <a:pPr>
              <a:defRPr sz="950" b="1">
                <a:solidFill>
                  <a:srgbClr val="003087"/>
                </a:solidFill>
              </a:defRPr>
            </a:pPr>
            <a:r>
              <a:t>04</a:t>
            </a:r>
          </a:p>
        </p:txBody>
      </p:sp>
      <p:sp>
        <p:nvSpPr>
          <p:cNvPr id="13" name="TextBox 12"/>
          <p:cNvSpPr txBox="1"/>
          <p:nvPr/>
        </p:nvSpPr>
        <p:spPr>
          <a:xfrm>
            <a:off x="1143000" y="2788920"/>
            <a:ext cx="9601200" cy="384048"/>
          </a:xfrm>
          <a:prstGeom prst="rect">
            <a:avLst/>
          </a:prstGeom>
          <a:noFill/>
        </p:spPr>
        <p:txBody>
          <a:bodyPr wrap="none">
            <a:spAutoFit/>
          </a:bodyPr>
          <a:lstStyle/>
          <a:p>
            <a:pPr>
              <a:defRPr sz="1260">
                <a:solidFill>
                  <a:srgbClr val="333333"/>
                </a:solidFill>
              </a:defRPr>
            </a:pPr>
            <a:r>
              <a:t>Regulation, policy and public acceptance can reset the speed of adoption</a:t>
            </a:r>
          </a:p>
        </p:txBody>
      </p:sp>
      <p:sp>
        <p:nvSpPr>
          <p:cNvPr id="14" name="TextBox 13"/>
          <p:cNvSpPr txBox="1"/>
          <p:nvPr/>
        </p:nvSpPr>
        <p:spPr>
          <a:xfrm>
            <a:off x="566928" y="3246120"/>
            <a:ext cx="502920" cy="274320"/>
          </a:xfrm>
          <a:prstGeom prst="rect">
            <a:avLst/>
          </a:prstGeom>
          <a:noFill/>
        </p:spPr>
        <p:txBody>
          <a:bodyPr wrap="none">
            <a:spAutoFit/>
          </a:bodyPr>
          <a:lstStyle/>
          <a:p>
            <a:pPr>
              <a:defRPr sz="950" b="1">
                <a:solidFill>
                  <a:srgbClr val="003087"/>
                </a:solidFill>
              </a:defRPr>
            </a:pPr>
            <a:r>
              <a:t>05</a:t>
            </a:r>
          </a:p>
        </p:txBody>
      </p:sp>
      <p:sp>
        <p:nvSpPr>
          <p:cNvPr id="15" name="TextBox 14"/>
          <p:cNvSpPr txBox="1"/>
          <p:nvPr/>
        </p:nvSpPr>
        <p:spPr>
          <a:xfrm>
            <a:off x="1143000" y="3246120"/>
            <a:ext cx="9601200" cy="384048"/>
          </a:xfrm>
          <a:prstGeom prst="rect">
            <a:avLst/>
          </a:prstGeom>
          <a:noFill/>
        </p:spPr>
        <p:txBody>
          <a:bodyPr wrap="none">
            <a:spAutoFit/>
          </a:bodyPr>
          <a:lstStyle/>
          <a:p>
            <a:pPr>
              <a:defRPr sz="1260">
                <a:solidFill>
                  <a:srgbClr val="333333"/>
                </a:solidFill>
              </a:defRPr>
            </a:pPr>
            <a:r>
              <a:t>Supply chain, partners and talent will decide who can act before the market is obvious</a:t>
            </a:r>
          </a:p>
        </p:txBody>
      </p:sp>
      <p:sp>
        <p:nvSpPr>
          <p:cNvPr id="16" name="TextBox 15"/>
          <p:cNvSpPr txBox="1"/>
          <p:nvPr/>
        </p:nvSpPr>
        <p:spPr>
          <a:xfrm>
            <a:off x="566928" y="3703320"/>
            <a:ext cx="502920" cy="274320"/>
          </a:xfrm>
          <a:prstGeom prst="rect">
            <a:avLst/>
          </a:prstGeom>
          <a:noFill/>
        </p:spPr>
        <p:txBody>
          <a:bodyPr wrap="none">
            <a:spAutoFit/>
          </a:bodyPr>
          <a:lstStyle/>
          <a:p>
            <a:pPr>
              <a:defRPr sz="950" b="1">
                <a:solidFill>
                  <a:srgbClr val="003087"/>
                </a:solidFill>
              </a:defRPr>
            </a:pPr>
            <a:r>
              <a:t>06</a:t>
            </a:r>
          </a:p>
        </p:txBody>
      </p:sp>
      <p:sp>
        <p:nvSpPr>
          <p:cNvPr id="17" name="TextBox 16"/>
          <p:cNvSpPr txBox="1"/>
          <p:nvPr/>
        </p:nvSpPr>
        <p:spPr>
          <a:xfrm>
            <a:off x="1143000" y="3703320"/>
            <a:ext cx="9601200" cy="384048"/>
          </a:xfrm>
          <a:prstGeom prst="rect">
            <a:avLst/>
          </a:prstGeom>
          <a:noFill/>
        </p:spPr>
        <p:txBody>
          <a:bodyPr wrap="none">
            <a:spAutoFit/>
          </a:bodyPr>
          <a:lstStyle/>
          <a:p>
            <a:pPr>
              <a:defRPr sz="1260">
                <a:solidFill>
                  <a:srgbClr val="333333"/>
                </a:solidFill>
              </a:defRPr>
            </a:pPr>
            <a:r>
              <a:t>Incumbents should protect near-term economics while preserving long-term options</a:t>
            </a:r>
          </a:p>
        </p:txBody>
      </p:sp>
      <p:sp>
        <p:nvSpPr>
          <p:cNvPr id="18" name="TextBox 17"/>
          <p:cNvSpPr txBox="1"/>
          <p:nvPr/>
        </p:nvSpPr>
        <p:spPr>
          <a:xfrm>
            <a:off x="566928" y="4160520"/>
            <a:ext cx="502920" cy="274320"/>
          </a:xfrm>
          <a:prstGeom prst="rect">
            <a:avLst/>
          </a:prstGeom>
          <a:noFill/>
        </p:spPr>
        <p:txBody>
          <a:bodyPr wrap="none">
            <a:spAutoFit/>
          </a:bodyPr>
          <a:lstStyle/>
          <a:p>
            <a:pPr>
              <a:defRPr sz="950" b="1">
                <a:solidFill>
                  <a:srgbClr val="003087"/>
                </a:solidFill>
              </a:defRPr>
            </a:pPr>
            <a:r>
              <a:t>07</a:t>
            </a:r>
          </a:p>
        </p:txBody>
      </p:sp>
      <p:sp>
        <p:nvSpPr>
          <p:cNvPr id="19" name="TextBox 18"/>
          <p:cNvSpPr txBox="1"/>
          <p:nvPr/>
        </p:nvSpPr>
        <p:spPr>
          <a:xfrm>
            <a:off x="1143000" y="4160520"/>
            <a:ext cx="9601200" cy="384048"/>
          </a:xfrm>
          <a:prstGeom prst="rect">
            <a:avLst/>
          </a:prstGeom>
          <a:noFill/>
        </p:spPr>
        <p:txBody>
          <a:bodyPr wrap="none">
            <a:spAutoFit/>
          </a:bodyPr>
          <a:lstStyle/>
          <a:p>
            <a:pPr>
              <a:defRPr sz="1260">
                <a:solidFill>
                  <a:srgbClr val="333333"/>
                </a:solidFill>
              </a:defRPr>
            </a:pPr>
            <a:r>
              <a:t>The management agenda should translate uncertainty into quarterly decision gates</a:t>
            </a:r>
          </a:p>
        </p:txBody>
      </p:sp>
      <p:sp>
        <p:nvSpPr>
          <p:cNvPr id="20" name="TextBox 19"/>
          <p:cNvSpPr txBox="1"/>
          <p:nvPr/>
        </p:nvSpPr>
        <p:spPr>
          <a:xfrm>
            <a:off x="566928" y="4617720"/>
            <a:ext cx="502920" cy="274320"/>
          </a:xfrm>
          <a:prstGeom prst="rect">
            <a:avLst/>
          </a:prstGeom>
          <a:noFill/>
        </p:spPr>
        <p:txBody>
          <a:bodyPr wrap="none">
            <a:spAutoFit/>
          </a:bodyPr>
          <a:lstStyle/>
          <a:p>
            <a:pPr>
              <a:defRPr sz="950" b="1">
                <a:solidFill>
                  <a:srgbClr val="003087"/>
                </a:solidFill>
              </a:defRPr>
            </a:pPr>
            <a:r>
              <a:t>08</a:t>
            </a:r>
          </a:p>
        </p:txBody>
      </p:sp>
      <p:sp>
        <p:nvSpPr>
          <p:cNvPr id="21" name="TextBox 20"/>
          <p:cNvSpPr txBox="1"/>
          <p:nvPr/>
        </p:nvSpPr>
        <p:spPr>
          <a:xfrm>
            <a:off x="1143000" y="4617720"/>
            <a:ext cx="9601200" cy="384048"/>
          </a:xfrm>
          <a:prstGeom prst="rect">
            <a:avLst/>
          </a:prstGeom>
          <a:noFill/>
        </p:spPr>
        <p:txBody>
          <a:bodyPr wrap="none">
            <a:spAutoFit/>
          </a:bodyPr>
          <a:lstStyle/>
          <a:p>
            <a:pPr>
              <a:defRPr sz="1260">
                <a:solidFill>
                  <a:srgbClr val="333333"/>
                </a:solidFill>
              </a:defRPr>
            </a:pPr>
            <a:r>
              <a:t>Decision-moving facts matter more than market noise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Key highlights</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The analysis narrows the agenda to a focused set of management priorities</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389888"/>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 y="1389888"/>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2" y="1481328"/>
            <a:ext cx="438912" cy="201168"/>
          </a:xfrm>
          <a:prstGeom prst="rect">
            <a:avLst/>
          </a:prstGeom>
          <a:noFill/>
        </p:spPr>
        <p:txBody>
          <a:bodyPr wrap="none">
            <a:spAutoFit/>
          </a:bodyPr>
          <a:lstStyle/>
          <a:p>
            <a:pPr>
              <a:defRPr sz="900" b="1">
                <a:solidFill>
                  <a:srgbClr val="003087"/>
                </a:solidFill>
              </a:defRPr>
            </a:pPr>
            <a:r>
              <a:t>01</a:t>
            </a:r>
          </a:p>
        </p:txBody>
      </p:sp>
      <p:sp>
        <p:nvSpPr>
          <p:cNvPr id="9" name="TextBox 8"/>
          <p:cNvSpPr txBox="1"/>
          <p:nvPr/>
        </p:nvSpPr>
        <p:spPr>
          <a:xfrm>
            <a:off x="1207008" y="1499616"/>
            <a:ext cx="4590288" cy="704088"/>
          </a:xfrm>
          <a:prstGeom prst="rect">
            <a:avLst/>
          </a:prstGeom>
          <a:noFill/>
        </p:spPr>
        <p:txBody>
          <a:bodyPr wrap="square">
            <a:spAutoFit/>
          </a:bodyPr>
          <a:lstStyle/>
          <a:p>
            <a:pPr>
              <a:defRPr sz="770">
                <a:solidFill>
                  <a:srgbClr val="333333"/>
                </a:solidFill>
              </a:defRPr>
            </a:pPr>
            <a:r>
              <a:t>Nuclear fusion energy is approaching a pivotal inflection point, with private and public projects converging on similar technological p</a:t>
            </a:r>
          </a:p>
        </p:txBody>
      </p:sp>
      <p:sp>
        <p:nvSpPr>
          <p:cNvPr id="10" name="Rectangle 9"/>
          <p:cNvSpPr/>
          <p:nvPr/>
        </p:nvSpPr>
        <p:spPr>
          <a:xfrm>
            <a:off x="6163056" y="1389888"/>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63056" y="1389888"/>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09360" y="1481328"/>
            <a:ext cx="438912" cy="201168"/>
          </a:xfrm>
          <a:prstGeom prst="rect">
            <a:avLst/>
          </a:prstGeom>
          <a:noFill/>
        </p:spPr>
        <p:txBody>
          <a:bodyPr wrap="none">
            <a:spAutoFit/>
          </a:bodyPr>
          <a:lstStyle/>
          <a:p>
            <a:pPr>
              <a:defRPr sz="900" b="1">
                <a:solidFill>
                  <a:srgbClr val="003087"/>
                </a:solidFill>
              </a:defRPr>
            </a:pPr>
            <a:r>
              <a:t>02</a:t>
            </a:r>
          </a:p>
        </p:txBody>
      </p:sp>
      <p:sp>
        <p:nvSpPr>
          <p:cNvPr id="13" name="TextBox 12"/>
          <p:cNvSpPr txBox="1"/>
          <p:nvPr/>
        </p:nvSpPr>
        <p:spPr>
          <a:xfrm>
            <a:off x="6803136" y="1499616"/>
            <a:ext cx="4590288" cy="704088"/>
          </a:xfrm>
          <a:prstGeom prst="rect">
            <a:avLst/>
          </a:prstGeom>
          <a:noFill/>
        </p:spPr>
        <p:txBody>
          <a:bodyPr wrap="square">
            <a:spAutoFit/>
          </a:bodyPr>
          <a:lstStyle/>
          <a:p>
            <a:pPr>
              <a:defRPr sz="770">
                <a:solidFill>
                  <a:srgbClr val="333333"/>
                </a:solidFill>
              </a:defRPr>
            </a:pPr>
            <a:r>
              <a:t>The CEO-level question is not whether Nuclear fusion commercialization outlook and strategic implications is interesting, but which dec</a:t>
            </a:r>
          </a:p>
        </p:txBody>
      </p:sp>
      <p:sp>
        <p:nvSpPr>
          <p:cNvPr id="14" name="Rectangle 13"/>
          <p:cNvSpPr/>
          <p:nvPr/>
        </p:nvSpPr>
        <p:spPr>
          <a:xfrm>
            <a:off x="566928" y="2404872"/>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66928" y="2404872"/>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13232" y="2496312"/>
            <a:ext cx="438912" cy="201168"/>
          </a:xfrm>
          <a:prstGeom prst="rect">
            <a:avLst/>
          </a:prstGeom>
          <a:noFill/>
        </p:spPr>
        <p:txBody>
          <a:bodyPr wrap="none">
            <a:spAutoFit/>
          </a:bodyPr>
          <a:lstStyle/>
          <a:p>
            <a:pPr>
              <a:defRPr sz="900" b="1">
                <a:solidFill>
                  <a:srgbClr val="003087"/>
                </a:solidFill>
              </a:defRPr>
            </a:pPr>
            <a:r>
              <a:t>03</a:t>
            </a:r>
          </a:p>
        </p:txBody>
      </p:sp>
      <p:sp>
        <p:nvSpPr>
          <p:cNvPr id="17" name="TextBox 16"/>
          <p:cNvSpPr txBox="1"/>
          <p:nvPr/>
        </p:nvSpPr>
        <p:spPr>
          <a:xfrm>
            <a:off x="1207008" y="2514600"/>
            <a:ext cx="4590288" cy="704088"/>
          </a:xfrm>
          <a:prstGeom prst="rect">
            <a:avLst/>
          </a:prstGeom>
          <a:noFill/>
        </p:spPr>
        <p:txBody>
          <a:bodyPr wrap="square">
            <a:spAutoFit/>
          </a:bodyPr>
          <a:lstStyle/>
          <a:p>
            <a:pPr>
              <a:defRPr sz="770">
                <a:solidFill>
                  <a:srgbClr val="333333"/>
                </a:solidFill>
              </a:defRPr>
            </a:pPr>
            <a:r>
              <a:t>Management should separate verified facts, directional scenarios and missing diligence items before committing capital, partnerships or</a:t>
            </a:r>
          </a:p>
        </p:txBody>
      </p:sp>
      <p:sp>
        <p:nvSpPr>
          <p:cNvPr id="18" name="Rectangle 17"/>
          <p:cNvSpPr/>
          <p:nvPr/>
        </p:nvSpPr>
        <p:spPr>
          <a:xfrm>
            <a:off x="6163056" y="2404872"/>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63056" y="2404872"/>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09360" y="2496312"/>
            <a:ext cx="438912" cy="201168"/>
          </a:xfrm>
          <a:prstGeom prst="rect">
            <a:avLst/>
          </a:prstGeom>
          <a:noFill/>
        </p:spPr>
        <p:txBody>
          <a:bodyPr wrap="none">
            <a:spAutoFit/>
          </a:bodyPr>
          <a:lstStyle/>
          <a:p>
            <a:pPr>
              <a:defRPr sz="900" b="1">
                <a:solidFill>
                  <a:srgbClr val="003087"/>
                </a:solidFill>
              </a:defRPr>
            </a:pPr>
            <a:r>
              <a:t>04</a:t>
            </a:r>
          </a:p>
        </p:txBody>
      </p:sp>
      <p:sp>
        <p:nvSpPr>
          <p:cNvPr id="21" name="TextBox 20"/>
          <p:cNvSpPr txBox="1"/>
          <p:nvPr/>
        </p:nvSpPr>
        <p:spPr>
          <a:xfrm>
            <a:off x="6803136" y="2514600"/>
            <a:ext cx="4590288" cy="704088"/>
          </a:xfrm>
          <a:prstGeom prst="rect">
            <a:avLst/>
          </a:prstGeom>
          <a:noFill/>
        </p:spPr>
        <p:txBody>
          <a:bodyPr wrap="square">
            <a:spAutoFit/>
          </a:bodyPr>
          <a:lstStyle/>
          <a:p>
            <a:pPr>
              <a:defRPr sz="770">
                <a:solidFill>
                  <a:srgbClr val="333333"/>
                </a:solidFill>
              </a:defRPr>
            </a:pPr>
            <a:r>
              <a:t>The report should translate technical evidence into revenue potential, cost position, investment return, execution risk and decision ga</a:t>
            </a:r>
          </a:p>
        </p:txBody>
      </p:sp>
      <p:sp>
        <p:nvSpPr>
          <p:cNvPr id="22" name="Rectangle 21"/>
          <p:cNvSpPr/>
          <p:nvPr/>
        </p:nvSpPr>
        <p:spPr>
          <a:xfrm>
            <a:off x="566928" y="3419856"/>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66928" y="3419856"/>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13232" y="3511296"/>
            <a:ext cx="438912" cy="201168"/>
          </a:xfrm>
          <a:prstGeom prst="rect">
            <a:avLst/>
          </a:prstGeom>
          <a:noFill/>
        </p:spPr>
        <p:txBody>
          <a:bodyPr wrap="none">
            <a:spAutoFit/>
          </a:bodyPr>
          <a:lstStyle/>
          <a:p>
            <a:pPr>
              <a:defRPr sz="900" b="1">
                <a:solidFill>
                  <a:srgbClr val="003087"/>
                </a:solidFill>
              </a:defRPr>
            </a:pPr>
            <a:r>
              <a:t>05</a:t>
            </a:r>
          </a:p>
        </p:txBody>
      </p:sp>
      <p:sp>
        <p:nvSpPr>
          <p:cNvPr id="25" name="TextBox 24"/>
          <p:cNvSpPr txBox="1"/>
          <p:nvPr/>
        </p:nvSpPr>
        <p:spPr>
          <a:xfrm>
            <a:off x="1207008" y="3529584"/>
            <a:ext cx="4590288" cy="704088"/>
          </a:xfrm>
          <a:prstGeom prst="rect">
            <a:avLst/>
          </a:prstGeom>
          <a:noFill/>
        </p:spPr>
        <p:txBody>
          <a:bodyPr wrap="square">
            <a:spAutoFit/>
          </a:bodyPr>
          <a:lstStyle/>
          <a:p>
            <a:pPr>
              <a:defRPr sz="770">
                <a:solidFill>
                  <a:srgbClr val="333333"/>
                </a:solidFill>
              </a:defRPr>
            </a:pPr>
            <a:r>
              <a:t>Where the evidence pack does not support a number, the right output is a validation placeholder and diligence task rather than an inven</a:t>
            </a:r>
          </a:p>
        </p:txBody>
      </p:sp>
      <p:sp>
        <p:nvSpPr>
          <p:cNvPr id="26" name="Rectangle 25"/>
          <p:cNvSpPr/>
          <p:nvPr/>
        </p:nvSpPr>
        <p:spPr>
          <a:xfrm>
            <a:off x="6163056" y="3419856"/>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163056" y="3419856"/>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09360" y="3511296"/>
            <a:ext cx="438912" cy="201168"/>
          </a:xfrm>
          <a:prstGeom prst="rect">
            <a:avLst/>
          </a:prstGeom>
          <a:noFill/>
        </p:spPr>
        <p:txBody>
          <a:bodyPr wrap="none">
            <a:spAutoFit/>
          </a:bodyPr>
          <a:lstStyle/>
          <a:p>
            <a:pPr>
              <a:defRPr sz="900" b="1">
                <a:solidFill>
                  <a:srgbClr val="003087"/>
                </a:solidFill>
              </a:defRPr>
            </a:pPr>
            <a:r>
              <a:t>06</a:t>
            </a:r>
          </a:p>
        </p:txBody>
      </p:sp>
      <p:sp>
        <p:nvSpPr>
          <p:cNvPr id="29" name="TextBox 28"/>
          <p:cNvSpPr txBox="1"/>
          <p:nvPr/>
        </p:nvSpPr>
        <p:spPr>
          <a:xfrm>
            <a:off x="6803136" y="3529584"/>
            <a:ext cx="4590288" cy="704088"/>
          </a:xfrm>
          <a:prstGeom prst="rect">
            <a:avLst/>
          </a:prstGeom>
          <a:noFill/>
        </p:spPr>
        <p:txBody>
          <a:bodyPr wrap="square">
            <a:spAutoFit/>
          </a:bodyPr>
          <a:lstStyle/>
          <a:p>
            <a:pPr>
              <a:defRPr sz="770">
                <a:solidFill>
                  <a:srgbClr val="333333"/>
                </a:solidFill>
              </a:defRPr>
            </a:pPr>
            <a:r>
              <a:t>The near-term agenda should prioritize no-regret evidence building, medium-term strategic options and long-term commitments only after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Nuclear Fusion Commercialization: Strategic Implications for Energy Markets and Investment should be managed as a staged</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Nuclear Fusion Commercialization: Strategic Implications for Energy Markets and Investment should be managed as a stag</a:t>
            </a:r>
          </a:p>
          <a:p>
            <a:pPr>
              <a:defRPr sz="830">
                <a:solidFill>
                  <a:srgbClr val="64696E"/>
                </a:solidFill>
              </a:defRPr>
            </a:pPr>
            <a:r>
              <a:t>Nuclear fusion, the process that powers the sun, has long been hailed as the holy grail of clean energy. Recent advances in high-temperature superconductors, plasma confi</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Nuclear fusion, the process that powers the sun, has long been hailed as the holy grail of clean energy. Recent advances in high-temperature superconductors, plasma confinement, and private investment have brought commercial fusion closer to reality than ever</a:t>
            </a:r>
          </a:p>
          <a:p>
            <a:pPr>
              <a:spcAft>
                <a:spcPts val="600"/>
              </a:spcAft>
              <a:defRPr sz="819">
                <a:solidFill>
                  <a:srgbClr val="333333"/>
                </a:solidFill>
              </a:defRPr>
            </a:pPr>
            <a:r>
              <a:t>The most mature fusion approach is magnetic confinement, exemplified by the tokamak design. ITER, the international experimental reactor under construction in France, is the largest tokamak ever built. Its first plasma is expected in 2025-2027, with full deute</a:t>
            </a:r>
          </a:p>
          <a:p>
            <a:pPr>
              <a:spcAft>
                <a:spcPts val="600"/>
              </a:spcAft>
              <a:defRPr sz="819">
                <a:solidFill>
                  <a:srgbClr val="333333"/>
                </a:solidFill>
              </a:defRPr>
            </a:pPr>
            <a:r>
              <a:t>Parallel to ITER, private ventures are pursuing faster, cheaper paths. Commonwealth Fusion Systems (CFS), a spinout from MIT, is building SPARC, a compact tokamak using high-temperature superconducting magnets. SPARC aims to demonstrate net energy gain (Q&gt;1) b</a:t>
            </a:r>
          </a:p>
          <a:p>
            <a:pPr>
              <a:spcBef>
                <a:spcPts val="600"/>
              </a:spcBef>
              <a:defRPr sz="819" b="1">
                <a:solidFill>
                  <a:srgbClr val="003087"/>
                </a:solidFill>
              </a:defRPr>
            </a:pPr>
            <a:r>
              <a:t>Key implications</a:t>
            </a:r>
          </a:p>
          <a:p>
            <a:pPr>
              <a:defRPr sz="730">
                <a:solidFill>
                  <a:srgbClr val="333333"/>
                </a:solidFill>
              </a:defRPr>
            </a:pPr>
            <a:r>
              <a:t>- Nuclear fusion energy is approaching a pivotal inflection point, with private and public project</a:t>
            </a:r>
          </a:p>
          <a:p>
            <a:pPr>
              <a:defRPr sz="730">
                <a:solidFill>
                  <a:srgbClr val="333333"/>
                </a:solidFill>
              </a:defRPr>
            </a:pPr>
            <a:r>
              <a:t>- Confirm the available public record before committing capital.</a:t>
            </a:r>
          </a:p>
        </p:txBody>
      </p:sp>
      <p:pic>
        <p:nvPicPr>
          <p:cNvPr id="7" name="Picture 6" descr="image-1.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Commercial readiness depends on bankability, deliverability and repeat customer proof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Commercial readiness depends on bankability, deliverability and repeat customer proof</a:t>
            </a:r>
          </a:p>
          <a:p>
            <a:pPr>
              <a:defRPr sz="830">
                <a:solidFill>
                  <a:srgbClr val="64696E"/>
                </a:solidFill>
              </a:defRPr>
            </a:pPr>
            <a:r>
              <a:t>The fusion landscape is characterized by a diversity of approaches, but a convergence is emerging around magnetic confinement, particularly the tokamak and its variants.</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The fusion landscape is characterized by a diversity of approaches, but a convergence is emerging around magnetic confinement, particularly the tokamak and its variants. This convergence reduces technology risk but also means that differentiation among players</a:t>
            </a:r>
          </a:p>
          <a:p>
            <a:pPr>
              <a:spcAft>
                <a:spcPts val="600"/>
              </a:spcAft>
              <a:defRPr sz="819">
                <a:solidFill>
                  <a:srgbClr val="333333"/>
                </a:solidFill>
              </a:defRPr>
            </a:pPr>
            <a:r>
              <a:t>The tokamak, invented in the Soviet Union in the 1950s, remains the most studied and funded fusion concept. ITER, SPARC, and several other private ventures (e.g., Tokamak Energy, General Fusion) use variants of this design. The stellarator, an alternative magn</a:t>
            </a:r>
          </a:p>
          <a:p>
            <a:pPr>
              <a:spcAft>
                <a:spcPts val="600"/>
              </a:spcAft>
              <a:defRPr sz="819">
                <a:solidFill>
                  <a:srgbClr val="333333"/>
                </a:solidFill>
              </a:defRPr>
            </a:pPr>
            <a:r>
              <a:t>Private ventures are increasingly focusing on compact, high-field tokamaks enabled by high-temperature superconductors (HTS). HTS magnets allow smaller, cheaper reactors with faster development cycles. CFS's SPARC is the flagship example, but others like Tokam</a:t>
            </a:r>
          </a:p>
          <a:p>
            <a:pPr>
              <a:spcBef>
                <a:spcPts val="600"/>
              </a:spcBef>
              <a:defRPr sz="819" b="1">
                <a:solidFill>
                  <a:srgbClr val="003087"/>
                </a:solidFill>
              </a:defRPr>
            </a:pPr>
            <a:r>
              <a:t>Key implications</a:t>
            </a:r>
          </a:p>
          <a:p>
            <a:pPr>
              <a:defRPr sz="730">
                <a:solidFill>
                  <a:srgbClr val="333333"/>
                </a:solidFill>
              </a:defRPr>
            </a:pPr>
            <a:r>
              <a:t>- The CEO-level question is not whether Nuclear fusion commercialization outlook and strategic imp</a:t>
            </a:r>
          </a:p>
          <a:p>
            <a:pPr>
              <a:defRPr sz="730">
                <a:solidFill>
                  <a:srgbClr val="333333"/>
                </a:solidFill>
              </a:defRPr>
            </a:pPr>
            <a:r>
              <a:t>- Confirm the available public record before committing capital.</a:t>
            </a:r>
          </a:p>
        </p:txBody>
      </p:sp>
      <p:pic>
        <p:nvPicPr>
          <p:cNvPr id="7" name="Picture 6" descr="image-1.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Cost, return and timing will determine the real deployment window</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Cost, return and timing will determine the real deployment window</a:t>
            </a:r>
          </a:p>
          <a:p>
            <a:pPr>
              <a:defRPr sz="830">
                <a:solidFill>
                  <a:srgbClr val="64696E"/>
                </a:solidFill>
              </a:defRPr>
            </a:pPr>
            <a:r>
              <a:t>The economic case for fusion rests on its ability to provide clean, baseload power at a cost competitive with other low-carbon sources. Current projections suggest that 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The economic case for fusion rests on its ability to provide clean, baseload power at a cost competitive with other low-carbon sources. Current projections suggest that fusion could achieve a levelized cost of energy (LCOE) of $50-$100 per megawatt-hour (MWh)</a:t>
            </a:r>
          </a:p>
          <a:p>
            <a:pPr>
              <a:spcAft>
                <a:spcPts val="600"/>
              </a:spcAft>
              <a:defRPr sz="819">
                <a:solidFill>
                  <a:srgbClr val="333333"/>
                </a:solidFill>
              </a:defRPr>
            </a:pPr>
            <a:r>
              <a:t>For comparison, solar and wind LCOE have fallen dramatically to $20-$60/MWh in many markets, and are expected to continue declining. Nuclear fission LCOE is typically $100-$150/MWh, with new builds often exceeding $150/MWh due to construction delays and cost o</a:t>
            </a:r>
          </a:p>
          <a:p>
            <a:pPr>
              <a:spcAft>
                <a:spcPts val="600"/>
              </a:spcAft>
              <a:defRPr sz="819">
                <a:solidFill>
                  <a:srgbClr val="333333"/>
                </a:solidFill>
              </a:defRPr>
            </a:pPr>
            <a:r>
              <a:t>Capital expenditure (CAPEX) for a first-of-a-kind fusion plant is estimated at $5-$10 billion, similar to a large fission plant. However, fusion plants are expected to have lower fuel costs (tritium and deuterium are abundant) and lower decommissioning costs (</a:t>
            </a:r>
          </a:p>
          <a:p>
            <a:pPr>
              <a:spcBef>
                <a:spcPts val="600"/>
              </a:spcBef>
              <a:defRPr sz="819" b="1">
                <a:solidFill>
                  <a:srgbClr val="003087"/>
                </a:solidFill>
              </a:defRPr>
            </a:pPr>
            <a:r>
              <a:t>Key implications</a:t>
            </a:r>
          </a:p>
          <a:p>
            <a:pPr>
              <a:defRPr sz="730">
                <a:solidFill>
                  <a:srgbClr val="333333"/>
                </a:solidFill>
              </a:defRPr>
            </a:pPr>
            <a:r>
              <a:t>- Management should separate verified facts, directional scenarios and missing diligence items bef</a:t>
            </a:r>
          </a:p>
          <a:p>
            <a:pPr>
              <a:defRPr sz="730">
                <a:solidFill>
                  <a:srgbClr val="333333"/>
                </a:solidFill>
              </a:defRPr>
            </a:pPr>
            <a:r>
              <a:t>- Confirm the available public record before committing capital.</a:t>
            </a:r>
          </a:p>
        </p:txBody>
      </p:sp>
      <p:pic>
        <p:nvPicPr>
          <p:cNvPr id="7" name="Picture 6" descr="image-1.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Regulation, policy and public acceptance can reset the speed of adoption</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Regulation, policy and public acceptance can reset the speed of adoption</a:t>
            </a:r>
          </a:p>
          <a:p>
            <a:pPr>
              <a:defRPr sz="830">
                <a:solidFill>
                  <a:srgbClr val="64696E"/>
                </a:solidFill>
              </a:defRPr>
            </a:pPr>
            <a:r>
              <a:t>The regulatory landscape for fusion is in its infancy, but progress is being made. The U.S. Nuclear Regulatory Commission (NRC) is developing a regulatory framework for 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The regulatory landscape for fusion is in its infancy, but progress is being made. The U.S. Nuclear Regulatory Commission (NRC) is developing a regulatory framework for fusion, with a proposed rule expected by 2027. The UK has established a fusion regulatory f</a:t>
            </a:r>
          </a:p>
          <a:p>
            <a:pPr>
              <a:spcAft>
                <a:spcPts val="600"/>
              </a:spcAft>
              <a:defRPr sz="819">
                <a:solidFill>
                  <a:srgbClr val="333333"/>
                </a:solidFill>
              </a:defRPr>
            </a:pPr>
            <a:r>
              <a:t>Engaging early with regulators can help shape standards and reduce licensing risk. First-mover advantage in regulatory compliance could be significant, as early entrants may influence the development of safety standards and licensing processes.</a:t>
            </a:r>
          </a:p>
          <a:p>
            <a:pPr>
              <a:spcAft>
                <a:spcPts val="600"/>
              </a:spcAft>
              <a:defRPr sz="819">
                <a:solidFill>
                  <a:srgbClr val="333333"/>
                </a:solidFill>
              </a:defRPr>
            </a:pPr>
            <a:r>
              <a:t>For capital allocation, the key takeaway is that regulatory engagement should be a priority. Companies that invest in understanding and shaping the regulatory environment will be better positioned to navigate the licensing process and bring fusion plants to ma</a:t>
            </a:r>
          </a:p>
          <a:p>
            <a:pPr>
              <a:spcBef>
                <a:spcPts val="600"/>
              </a:spcBef>
              <a:defRPr sz="819" b="1">
                <a:solidFill>
                  <a:srgbClr val="003087"/>
                </a:solidFill>
              </a:defRPr>
            </a:pPr>
            <a:r>
              <a:t>Key implications</a:t>
            </a:r>
          </a:p>
          <a:p>
            <a:pPr>
              <a:defRPr sz="730">
                <a:solidFill>
                  <a:srgbClr val="333333"/>
                </a:solidFill>
              </a:defRPr>
            </a:pPr>
            <a:r>
              <a:t>- The report should translate technical evidence into revenue potential, cost position, investment</a:t>
            </a:r>
          </a:p>
          <a:p>
            <a:pPr>
              <a:defRPr sz="730">
                <a:solidFill>
                  <a:srgbClr val="333333"/>
                </a:solidFill>
              </a:defRPr>
            </a:pPr>
            <a:r>
              <a:t>- Confirm the available public record before committing capital.</a:t>
            </a:r>
          </a:p>
        </p:txBody>
      </p:sp>
      <p:pic>
        <p:nvPicPr>
          <p:cNvPr id="7" name="Picture 6" descr="image-1.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Supply chain, partners and talent will decide who can act before the market is obvious</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Supply chain, partners and talent will decide who can act before the market is obvious</a:t>
            </a:r>
          </a:p>
          <a:p>
            <a:pPr>
              <a:defRPr sz="830">
                <a:solidFill>
                  <a:srgbClr val="64696E"/>
                </a:solidFill>
              </a:defRPr>
            </a:pPr>
            <a:r>
              <a:t>Strategic advantage comes from ecosystem position rather than standalone product capability.</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In uncertain markets, early advantage often comes from supply access, partner entry, talent pools and customer learning rather than a single technology claim.</a:t>
            </a:r>
          </a:p>
          <a:p>
            <a:pPr>
              <a:spcAft>
                <a:spcPts val="600"/>
              </a:spcAft>
              <a:defRPr sz="819">
                <a:solidFill>
                  <a:srgbClr val="333333"/>
                </a:solidFill>
              </a:defRPr>
            </a:pPr>
            <a:r>
              <a:t>Management should identify which capabilities are scarce and can be secured early: critical supply, engineering delivery, channel partners, service network, financing partners and compliance capacity. Low-cost learning rights can be more valuable than waiting</a:t>
            </a:r>
          </a:p>
          <a:p>
            <a:pPr>
              <a:spcAft>
                <a:spcPts val="600"/>
              </a:spcAft>
              <a:defRPr sz="819">
                <a:solidFill>
                  <a:srgbClr val="333333"/>
                </a:solidFill>
              </a:defRPr>
            </a:pPr>
            <a:r>
              <a:t>Partnerships should create observable proof points. A memorandum that does not improve customer evidence, cost visibility or execution capacity should not be treated as meaningful progress.</a:t>
            </a:r>
          </a:p>
          <a:p>
            <a:pPr>
              <a:spcBef>
                <a:spcPts val="600"/>
              </a:spcBef>
              <a:defRPr sz="819" b="1">
                <a:solidFill>
                  <a:srgbClr val="003087"/>
                </a:solidFill>
              </a:defRPr>
            </a:pPr>
            <a:r>
              <a:t>Key implications</a:t>
            </a:r>
          </a:p>
          <a:p>
            <a:pPr>
              <a:defRPr sz="730">
                <a:solidFill>
                  <a:srgbClr val="333333"/>
                </a:solidFill>
              </a:defRPr>
            </a:pPr>
            <a:r>
              <a:t>- Secure scarce capabilities early</a:t>
            </a:r>
          </a:p>
          <a:p>
            <a:pPr>
              <a:defRPr sz="730">
                <a:solidFill>
                  <a:srgbClr val="333333"/>
                </a:solidFill>
              </a:defRPr>
            </a:pPr>
            <a:r>
              <a:t>- Partnerships must produce proof points</a:t>
            </a:r>
          </a:p>
        </p:txBody>
      </p:sp>
      <p:pic>
        <p:nvPicPr>
          <p:cNvPr id="7" name="Picture 6" descr="image-1.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Incumbents should protect near-term economics while preserving long-term options</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Incumbents should protect near-term economics while preserving long-term options</a:t>
            </a:r>
          </a:p>
          <a:p>
            <a:pPr>
              <a:defRPr sz="830">
                <a:solidFill>
                  <a:srgbClr val="64696E"/>
                </a:solidFill>
              </a:defRPr>
            </a:pPr>
            <a:r>
              <a:t>The strongest posture is neither aggressive overcommitment nor passive observation.</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For incumbent businesses, the task is to protect near-term cash flow and customer relationships while avoiding strategic blindness to a long-term shift. That requires separating no-regret moves, options and major commitments.</a:t>
            </a:r>
          </a:p>
          <a:p>
            <a:pPr>
              <a:spcAft>
                <a:spcPts val="600"/>
              </a:spcAft>
              <a:defRPr sz="819">
                <a:solidFill>
                  <a:srgbClr val="333333"/>
                </a:solidFill>
              </a:defRPr>
            </a:pPr>
            <a:r>
              <a:t>No-regret moves include evidence ledgers, customer interviews, policy monitoring, supply-chain scans and small partner discussions. Option moves include pilots, preferential access and minority investments. Major commitments should wait for stronger proof.</a:t>
            </a:r>
          </a:p>
          <a:p>
            <a:pPr>
              <a:spcAft>
                <a:spcPts val="600"/>
              </a:spcAft>
              <a:defRPr sz="819">
                <a:solidFill>
                  <a:srgbClr val="333333"/>
                </a:solidFill>
              </a:defRPr>
            </a:pPr>
            <a:r>
              <a:t>This portfolio posture keeps the organization close to the opportunity without locking strategy and capital before the evidence base is ready.</a:t>
            </a:r>
          </a:p>
          <a:p>
            <a:pPr>
              <a:spcBef>
                <a:spcPts val="600"/>
              </a:spcBef>
              <a:defRPr sz="819" b="1">
                <a:solidFill>
                  <a:srgbClr val="003087"/>
                </a:solidFill>
              </a:defRPr>
            </a:pPr>
            <a:r>
              <a:t>Key implications</a:t>
            </a:r>
          </a:p>
          <a:p>
            <a:pPr>
              <a:defRPr sz="730">
                <a:solidFill>
                  <a:srgbClr val="333333"/>
                </a:solidFill>
              </a:defRPr>
            </a:pPr>
            <a:r>
              <a:t>- Separate no-regret moves from options and big bets</a:t>
            </a:r>
          </a:p>
          <a:p>
            <a:pPr>
              <a:defRPr sz="730">
                <a:solidFill>
                  <a:srgbClr val="333333"/>
                </a:solidFill>
              </a:defRPr>
            </a:pPr>
            <a:r>
              <a:t>- Protect near-term economics</a:t>
            </a:r>
          </a:p>
        </p:txBody>
      </p:sp>
      <p:pic>
        <p:nvPicPr>
          <p:cNvPr id="7" name="Picture 6" descr="image-1.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The management agenda should translate uncertainty into quarterly decision gates</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The management agenda should translate uncertainty into quarterly decision gates</a:t>
            </a:r>
          </a:p>
          <a:p>
            <a:pPr>
              <a:defRPr sz="830">
                <a:solidFill>
                  <a:srgbClr val="64696E"/>
                </a:solidFill>
              </a:defRPr>
            </a:pPr>
            <a:r>
              <a:t>The report should end in owners, evidence thresholds and review cadence.</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The output should become a quarterly management agenda: every material claim needs an owner, evidence gate, review date and escalation condition.</a:t>
            </a:r>
          </a:p>
          <a:p>
            <a:pPr>
              <a:spcAft>
                <a:spcPts val="600"/>
              </a:spcAft>
              <a:defRPr sz="819">
                <a:solidFill>
                  <a:srgbClr val="333333"/>
                </a:solidFill>
              </a:defRPr>
            </a:pPr>
            <a:r>
              <a:t>Near-term work should close source, customer, cost and timeline gaps; medium-term work should test pilots and partners; long-term work should cover capital, M&amp;A or scaled entry only when decision gates are met.</a:t>
            </a:r>
          </a:p>
          <a:p>
            <a:pPr>
              <a:spcAft>
                <a:spcPts val="600"/>
              </a:spcAft>
              <a:defRPr sz="819">
                <a:solidFill>
                  <a:srgbClr val="333333"/>
                </a:solidFill>
              </a:defRPr>
            </a:pPr>
            <a:r>
              <a:t>If the next evidence review does not improve conviction, management should keep the issue in monitoring mode. If the core metrics move, the topic can be escalated to an investment committee discussion.</a:t>
            </a:r>
          </a:p>
          <a:p>
            <a:pPr>
              <a:spcBef>
                <a:spcPts val="600"/>
              </a:spcBef>
              <a:defRPr sz="819" b="1">
                <a:solidFill>
                  <a:srgbClr val="003087"/>
                </a:solidFill>
              </a:defRPr>
            </a:pPr>
            <a:r>
              <a:t>Key implications</a:t>
            </a:r>
          </a:p>
          <a:p>
            <a:pPr>
              <a:defRPr sz="730">
                <a:solidFill>
                  <a:srgbClr val="333333"/>
                </a:solidFill>
              </a:defRPr>
            </a:pPr>
            <a:r>
              <a:t>- Create quarterly evidence gates</a:t>
            </a:r>
          </a:p>
          <a:p>
            <a:pPr>
              <a:defRPr sz="730">
                <a:solidFill>
                  <a:srgbClr val="333333"/>
                </a:solidFill>
              </a:defRPr>
            </a:pPr>
            <a:r>
              <a:t>- Assign owners and review cadence</a:t>
            </a:r>
          </a:p>
        </p:txBody>
      </p:sp>
      <p:pic>
        <p:nvPicPr>
          <p:cNvPr id="7" name="Picture 6" descr="image-1.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Decision-moving facts matter more than market noise</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Decision-moving facts matter more than market noise</a:t>
            </a:r>
          </a:p>
          <a:p>
            <a:pPr>
              <a:defRPr sz="830">
                <a:solidFill>
                  <a:srgbClr val="64696E"/>
                </a:solidFill>
              </a:defRPr>
            </a:pPr>
            <a:r>
              <a:t>The most useful monitoring lens focuses on customers, costs, regulation, competitors and financing.</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For leadership teams, management should not treat media attention, financing announcements or single technical claims as decision signals on their own. More useful signals include customer procurement, cost movement, regulatory clarity, competitor commitments</a:t>
            </a:r>
          </a:p>
          <a:p>
            <a:pPr>
              <a:spcAft>
                <a:spcPts val="600"/>
              </a:spcAft>
              <a:defRPr sz="819">
                <a:solidFill>
                  <a:srgbClr val="333333"/>
                </a:solidFill>
              </a:defRPr>
            </a:pPr>
            <a:r>
              <a:t>Each signal should map to an action: keep monitoring, start a pilot, expand a partnership, pause commitment or escalate to the board.</a:t>
            </a:r>
          </a:p>
          <a:p>
            <a:pPr>
              <a:spcAft>
                <a:spcPts val="600"/>
              </a:spcAft>
              <a:defRPr sz="819">
                <a:solidFill>
                  <a:srgbClr val="333333"/>
                </a:solidFill>
              </a:defRPr>
            </a:pPr>
            <a:r>
              <a:t>That discipline turns uncertainty into a manageable operating rhythm rather than a swing between optimism and caution.</a:t>
            </a:r>
          </a:p>
          <a:p>
            <a:pPr>
              <a:spcBef>
                <a:spcPts val="600"/>
              </a:spcBef>
              <a:defRPr sz="819" b="1">
                <a:solidFill>
                  <a:srgbClr val="003087"/>
                </a:solidFill>
              </a:defRPr>
            </a:pPr>
            <a:r>
              <a:t>Key implications</a:t>
            </a:r>
          </a:p>
          <a:p>
            <a:pPr>
              <a:defRPr sz="730">
                <a:solidFill>
                  <a:srgbClr val="333333"/>
                </a:solidFill>
              </a:defRPr>
            </a:pPr>
            <a:r>
              <a:t>- Track facts that change decisions</a:t>
            </a:r>
          </a:p>
          <a:p>
            <a:pPr>
              <a:defRPr sz="730">
                <a:solidFill>
                  <a:srgbClr val="333333"/>
                </a:solidFill>
              </a:defRPr>
            </a:pPr>
            <a:r>
              <a:t>- Tie each signal to an action</a:t>
            </a:r>
          </a:p>
        </p:txBody>
      </p:sp>
      <p:pic>
        <p:nvPicPr>
          <p:cNvPr id="7" name="Picture 6" descr="image-1.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1: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1: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1.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2: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2: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2.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3: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3: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3.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4: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4: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4.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5: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5: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5.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6: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6: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6.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Closing</a:t>
            </a:r>
          </a:p>
        </p:txBody>
      </p:sp>
      <p:pic>
        <p:nvPicPr>
          <p:cNvPr id="4" name="Picture 3" descr="cover-ai.png"/>
          <p:cNvPicPr>
            <a:picLocks noChangeAspect="1"/>
          </p:cNvPicPr>
          <p:nvPr/>
        </p:nvPicPr>
        <p:blipFill>
          <a:blip r:embed="rId2"/>
          <a:stretch>
            <a:fillRect/>
          </a:stretch>
        </p:blipFill>
        <p:spPr>
          <a:xfrm>
            <a:off x="6583680" y="1051560"/>
            <a:ext cx="5074920" cy="4800600"/>
          </a:xfrm>
          <a:prstGeom prst="rect">
            <a:avLst/>
          </a:prstGeom>
        </p:spPr>
      </p:pic>
      <p:sp>
        <p:nvSpPr>
          <p:cNvPr id="5" name="TextBox 4"/>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The next step is to convert the research into a short list of decisions</a:t>
            </a:r>
          </a:p>
        </p:txBody>
      </p:sp>
      <p:sp>
        <p:nvSpPr>
          <p:cNvPr id="6" name="Rectangle 5"/>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1463040"/>
            <a:ext cx="5715000" cy="2926080"/>
          </a:xfrm>
          <a:prstGeom prst="rect">
            <a:avLst/>
          </a:prstGeom>
          <a:noFill/>
        </p:spPr>
        <p:txBody>
          <a:bodyPr wrap="square">
            <a:spAutoFit/>
          </a:bodyPr>
          <a:lstStyle/>
          <a:p>
            <a:pPr>
              <a:defRPr sz="1500">
                <a:solidFill>
                  <a:srgbClr val="003087"/>
                </a:solidFill>
              </a:defRPr>
            </a:pPr>
            <a:r>
              <a:t>A Decision-Ready Analysis for Senior Executives and Investors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