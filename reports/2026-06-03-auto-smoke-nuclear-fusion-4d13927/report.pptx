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Implications for Energy Markets, Geopolitics, and Investment</a:t>
            </a:r>
          </a:p>
          <a:p>
            <a:pPr>
              <a:spcBef>
                <a:spcPts val="1400"/>
              </a:spcBef>
              <a:defRPr sz="950">
                <a:solidFill>
                  <a:srgbClr val="64696E"/>
                </a:solidFill>
              </a:defRPr>
            </a:pPr>
            <a:r>
              <a:t>A Decision-Ready Assessment for Senior Executives and Policy Advisors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Accelerating but Remains at Least a Decade Away from Grid-Scale Power</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Magnetic Confinement, Led by Tokamaks, Is the Most Mature Approach with Private Ventures Pushing Timelines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Levelized Cost of Fusion Will Likely Be Competitive with Fission and Gas Only After Multiple Deployments</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Public-Private Partnerships Are Critical to De-Risk Technology and Share Capital Burden</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China and the US Are the Dominant Players, with Europe and Japan Also Investing Heavily</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Fusion Offers Transformative Energy Security Benefits but Faces Significant Regulatory and Supply Chain Hurdle</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Investors Should Focus on Enabling Technologies and Diversified Portfolios</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Nuclear Fusion Commercialization: Strategic Implications for Energy Markets, Geopolitics, and Investment shoul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commercialization is accelerating but remains at least a decade away from grid-scale power; magnetic confinement via tokamaks is</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Levelized cost of fusion will likely be competitive with fission and gas only after multiple deployments; first-of-a-kind costs may exc</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Public-private partnerships are critical to de-risk technology and share capital burden; over $5 billion in private investment since 20</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China and the US are the dominant players, with Europe and Japan also investing heavily; geopolitical tensions could slow international</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Fusion offers transformative energy security benefits but faces significant regulatory and supply chain hurdles, including tritium scar</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Accelerating but Remains at Least a Decade Away from Grid-Scale Power</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Accelerating but Remains at Least a Decade Away from Grid-Scale Power</a:t>
            </a:r>
          </a:p>
          <a:p>
            <a:pPr>
              <a:defRPr sz="830">
                <a:solidFill>
                  <a:srgbClr val="64696E"/>
                </a:solidFill>
              </a:defRPr>
            </a:pPr>
            <a:r>
              <a:t>This section establishes that while fusion technology has moved from pure science to engineering demonstration, no plant has yet produced sustained net electricity, meani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moved from pure science to engineering demonstration, with over 30 private companies and major public projects targeting net-energy gain. The most advanced approach, magnetic confinement via tokamaks, is led by ITER (international) and Commo</a:t>
            </a:r>
          </a:p>
          <a:p>
            <a:pPr>
              <a:spcAft>
                <a:spcPts val="600"/>
              </a:spcAft>
              <a:defRPr sz="819">
                <a:solidFill>
                  <a:srgbClr val="333333"/>
                </a:solidFill>
              </a:defRPr>
            </a:pPr>
            <a:r>
              <a:t>However, the gap between net-energy gain and commercial electricity generation is wide: engineering challenges in materials, tritium breeding, and continuous operation remain unsolved. Evidence boundary: no fusion plant has yet produced sustained net electrici</a:t>
            </a:r>
          </a:p>
          <a:p>
            <a:pPr>
              <a:spcAft>
                <a:spcPts val="600"/>
              </a:spcAft>
              <a:defRPr sz="819">
                <a:solidFill>
                  <a:srgbClr val="333333"/>
                </a:solidFill>
              </a:defRPr>
            </a:pPr>
            <a:r>
              <a:t>For decision-makers, this means that fusion is not a near-term solution for decarbonization or energy security. The commercial implication is that investments should be staged and milestone-based, with a clear understanding that grid-scale power is unlikely be</a:t>
            </a:r>
          </a:p>
          <a:p>
            <a:pPr>
              <a:spcBef>
                <a:spcPts val="600"/>
              </a:spcBef>
              <a:defRPr sz="819" b="1">
                <a:solidFill>
                  <a:srgbClr val="003087"/>
                </a:solidFill>
              </a:defRPr>
            </a:pPr>
            <a:r>
              <a:t>Key implications</a:t>
            </a:r>
          </a:p>
          <a:p>
            <a:pPr>
              <a:defRPr sz="730">
                <a:solidFill>
                  <a:srgbClr val="333333"/>
                </a:solidFill>
              </a:defRPr>
            </a:pPr>
            <a:r>
              <a:t>- No fusion plant has produced sustained net electricity; timelines are projections.</a:t>
            </a:r>
          </a:p>
          <a:p>
            <a:pPr>
              <a:defRPr sz="730">
                <a:solidFill>
                  <a:srgbClr val="333333"/>
                </a:solidFill>
              </a:defRPr>
            </a:pPr>
            <a:r>
              <a:t>- Grid-scale power is unlikely before 2040.</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Magnetic Confinement, Led by Tokamaks, Is the Most Mature Approach with Private Ventures Pushing Timelines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Magnetic Confinement, Led by Tokamaks, Is the Most Mature Approach with Private Ventures Pushing Timelines</a:t>
            </a:r>
          </a:p>
          <a:p>
            <a:pPr>
              <a:defRPr sz="830">
                <a:solidFill>
                  <a:srgbClr val="64696E"/>
                </a:solidFill>
              </a:defRPr>
            </a:pPr>
            <a:r>
              <a:t>This section explains that tokamaks are the leading technology, with private ventures like CFS using high-temperature superconductors to accelerate timelines, but no appr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Tokamaks use powerful magnetic fields to confine plasma in a toroidal shape. ITER, the world's largest tokamak, is designed to achieve Q=10 (10 times more power out than in). Private companies like CFS are using high-temperature superconductors (HTS) to build</a:t>
            </a:r>
          </a:p>
          <a:p>
            <a:pPr>
              <a:spcAft>
                <a:spcPts val="600"/>
              </a:spcAft>
              <a:defRPr sz="819">
                <a:solidFill>
                  <a:srgbClr val="333333"/>
                </a:solidFill>
              </a:defRPr>
            </a:pPr>
            <a:r>
              <a:t>Stellarators, like Germany's Wendelstein 7-X, offer steady-state operation but are more complex. Inertial confinement, using lasers to compress fuel pellets, achieved a milestone at NIF in 2022 with Q~1.5, but is not yet scalable for power generation. Alternat</a:t>
            </a:r>
          </a:p>
          <a:p>
            <a:pPr>
              <a:spcAft>
                <a:spcPts val="600"/>
              </a:spcAft>
              <a:defRPr sz="819">
                <a:solidFill>
                  <a:srgbClr val="333333"/>
                </a:solidFill>
              </a:defRPr>
            </a:pPr>
            <a:r>
              <a:t>Evidence boundary: only NIF has demonstrated scientific breakeven (Q&gt;1); no approach has achieved engineering breakeven (Q&gt;10) or continuous operation. For investors, this means that while tokamaks are the most mature, diversification across approaches is prud</a:t>
            </a:r>
          </a:p>
          <a:p>
            <a:pPr>
              <a:spcBef>
                <a:spcPts val="600"/>
              </a:spcBef>
              <a:defRPr sz="819" b="1">
                <a:solidFill>
                  <a:srgbClr val="003087"/>
                </a:solidFill>
              </a:defRPr>
            </a:pPr>
            <a:r>
              <a:t>Key implications</a:t>
            </a:r>
          </a:p>
          <a:p>
            <a:pPr>
              <a:defRPr sz="730">
                <a:solidFill>
                  <a:srgbClr val="333333"/>
                </a:solidFill>
              </a:defRPr>
            </a:pPr>
            <a:r>
              <a:t>- Tokamaks are the most mature approach, but no engineering breakeven has been achieved.</a:t>
            </a:r>
          </a:p>
          <a:p>
            <a:pPr>
              <a:defRPr sz="730">
                <a:solidFill>
                  <a:srgbClr val="333333"/>
                </a:solidFill>
              </a:defRPr>
            </a:pPr>
            <a:r>
              <a:t>- Private ventures like CFS are accelerating timelines with HTS magnets.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Levelized Cost of Fusion Will Likely Be Competitive with Fission and Gas Only After Multiple Deployments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Levelized Cost of Fusion Will Likely Be Competitive with Fission and Gas Only After Multiple Deployments</a:t>
            </a:r>
          </a:p>
          <a:p>
            <a:pPr>
              <a:defRPr sz="830">
                <a:solidFill>
                  <a:srgbClr val="64696E"/>
                </a:solidFill>
              </a:defRPr>
            </a:pPr>
            <a:r>
              <a:t>This section concludes that first-of-a-kind fusion plants will be uncompetitive without subsidies, but nth-of-a-kind costs could reach parity with fission and gas after m</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First-of-a-kind fusion plants are projected to have LCOE of $100-200/MWh, making them uncompetitive with solar ($20-40/MWh) and wind ($30-60/MWh) but potentially competitive with nuclear fission ($100-150/MWh) and gas ($40-80/MWh with carbon pricing). Nth-of-a</a:t>
            </a:r>
          </a:p>
          <a:p>
            <a:pPr>
              <a:spcAft>
                <a:spcPts val="600"/>
              </a:spcAft>
              <a:defRPr sz="819">
                <a:solidFill>
                  <a:srgbClr val="333333"/>
                </a:solidFill>
              </a:defRPr>
            </a:pPr>
            <a:r>
              <a:t>Key cost drivers include capital expenditure (reactor, magnets, buildings), fuel (tritium, lithium), and operations (maintenance, remote handling). Sensitivity analysis shows that HTS magnet costs and tritium breeding efficiency are the largest uncertainties.</a:t>
            </a:r>
          </a:p>
          <a:p>
            <a:pPr>
              <a:spcAft>
                <a:spcPts val="600"/>
              </a:spcAft>
              <a:defRPr sz="819">
                <a:solidFill>
                  <a:srgbClr val="333333"/>
                </a:solidFill>
              </a:defRPr>
            </a:pPr>
            <a:r>
              <a:t>Evidence boundary: no commercial fusion plant exists; cost projections are based on engineering models and expert elicitation. Placeholder: [insert verified cost data from pilot plant studies when available]. For CEOs, this means that early investments should</a:t>
            </a:r>
          </a:p>
          <a:p>
            <a:pPr>
              <a:spcBef>
                <a:spcPts val="600"/>
              </a:spcBef>
              <a:defRPr sz="819" b="1">
                <a:solidFill>
                  <a:srgbClr val="003087"/>
                </a:solidFill>
              </a:defRPr>
            </a:pPr>
            <a:r>
              <a:t>Key implications</a:t>
            </a:r>
          </a:p>
          <a:p>
            <a:pPr>
              <a:defRPr sz="730">
                <a:solidFill>
                  <a:srgbClr val="333333"/>
                </a:solidFill>
              </a:defRPr>
            </a:pPr>
            <a:r>
              <a:t>- First-of-a-kind LCOE may exceed $150/MWh, requiring subsidies.</a:t>
            </a:r>
          </a:p>
          <a:p>
            <a:pPr>
              <a:defRPr sz="730">
                <a:solidFill>
                  <a:srgbClr val="333333"/>
                </a:solidFill>
              </a:defRPr>
            </a:pPr>
            <a:r>
              <a:t>- Nth-of-a-kind costs could drop to $50-100/MWh.</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Public-Private Partnerships Are Critical to De-Risk Technology and Share Capital Burden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Public-Private Partnerships Are Critical to De-Risk Technology and Share Capital Burden</a:t>
            </a:r>
          </a:p>
          <a:p>
            <a:pPr>
              <a:defRPr sz="830">
                <a:solidFill>
                  <a:srgbClr val="64696E"/>
                </a:solidFill>
              </a:defRPr>
            </a:pPr>
            <a:r>
              <a:t>This section highlights that government funding remains dominant, but private investment has surged, and public-private partnerships are essential to share capital burden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Government funding for fusion has historically been the backbone, with ITER costing over $20 billion. However, private investment has surged, reaching $5.6 billion cumulatively by 2024. The US DOE's Fusion Energy Strategy includes public-private partnerships (</a:t>
            </a:r>
          </a:p>
          <a:p>
            <a:pPr>
              <a:spcAft>
                <a:spcPts val="600"/>
              </a:spcAft>
              <a:defRPr sz="819">
                <a:solidFill>
                  <a:srgbClr val="333333"/>
                </a:solidFill>
              </a:defRPr>
            </a:pPr>
            <a:r>
              <a:t>Similar programs exist in the UK (STEP), Japan, and China. These partnerships reduce private risk and accelerate timelines. For example, CFS has raised $2 billion from private investors and partnered with MIT and the DOE.</a:t>
            </a:r>
          </a:p>
          <a:p>
            <a:pPr>
              <a:spcAft>
                <a:spcPts val="600"/>
              </a:spcAft>
              <a:defRPr sz="819">
                <a:solidFill>
                  <a:srgbClr val="333333"/>
                </a:solidFill>
              </a:defRPr>
            </a:pPr>
            <a:r>
              <a:t>The next management move is clear: evidence boundary: exact cost-share ratios and milestone definitions vary by program; no public source provides a comprehensive comparison of all partnerships. For corporate investors, engaging with these programs can provide</a:t>
            </a:r>
          </a:p>
          <a:p>
            <a:pPr>
              <a:spcBef>
                <a:spcPts val="600"/>
              </a:spcBef>
              <a:defRPr sz="819" b="1">
                <a:solidFill>
                  <a:srgbClr val="003087"/>
                </a:solidFill>
              </a:defRPr>
            </a:pPr>
            <a:r>
              <a:t>Key implications</a:t>
            </a:r>
          </a:p>
          <a:p>
            <a:pPr>
              <a:defRPr sz="730">
                <a:solidFill>
                  <a:srgbClr val="333333"/>
                </a:solidFill>
              </a:defRPr>
            </a:pPr>
            <a:r>
              <a:t>- Private investment has surged to $5.6 billion, but government funding remains dominant.</a:t>
            </a:r>
          </a:p>
          <a:p>
            <a:pPr>
              <a:defRPr sz="730">
                <a:solidFill>
                  <a:srgbClr val="333333"/>
                </a:solidFill>
              </a:defRPr>
            </a:pPr>
            <a:r>
              <a:t>- Public-private partnerships reduce risk and accelerate timelines.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 and the US Are the Dominant Players, with Europe and Japan Also Investing Heavily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 and the US Are the Dominant Players, with Europe and Japan Also Investing Heavily</a:t>
            </a:r>
          </a:p>
          <a:p>
            <a:pPr>
              <a:defRPr sz="830">
                <a:solidFill>
                  <a:srgbClr val="64696E"/>
                </a:solidFill>
              </a:defRPr>
            </a:pPr>
            <a:r>
              <a:t>This section concludes that China and the US lead in fusion development, but geopolitical tensions could disrupt collaboration, requiring diversified geographic exposure.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 operates the EAST tokamak, which achieved 120-second plasma in 2023, and plans the CFETR demonstration reactor by 2035. The US hosts ITER contributions, a vibrant private sector (CFS, TAE, Helion), and DOE-funded research. Europe, through EUROfusion, ope</a:t>
            </a:r>
          </a:p>
          <a:p>
            <a:pPr>
              <a:spcAft>
                <a:spcPts val="600"/>
              </a:spcAft>
              <a:defRPr sz="819">
                <a:solidFill>
                  <a:srgbClr val="333333"/>
                </a:solidFill>
              </a:defRPr>
            </a:pPr>
            <a:r>
              <a:t>Japan operates JT-60SA and collaborates on ITER. The UK has its own STEP program aiming for a prototype plant by 2040. This geographic diversity creates both opportunities and risks: collaboration accelerates progress, but geopolitical tensions could disrupt t</a:t>
            </a:r>
          </a:p>
          <a:p>
            <a:pPr>
              <a:spcAft>
                <a:spcPts val="600"/>
              </a:spcAft>
              <a:defRPr sz="819">
                <a:solidFill>
                  <a:srgbClr val="333333"/>
                </a:solidFill>
              </a:defRPr>
            </a:pPr>
            <a:r>
              <a:t>For leadership teams, evidence boundary: comparative analysis is based on public project status and investment data; no single source ranks countries definitively. For investors, diversifying geographic exposure and monitoring export controls are key actions.</a:t>
            </a:r>
          </a:p>
          <a:p>
            <a:pPr>
              <a:spcBef>
                <a:spcPts val="600"/>
              </a:spcBef>
              <a:defRPr sz="819" b="1">
                <a:solidFill>
                  <a:srgbClr val="003087"/>
                </a:solidFill>
              </a:defRPr>
            </a:pPr>
            <a:r>
              <a:t>Key implications</a:t>
            </a:r>
          </a:p>
          <a:p>
            <a:pPr>
              <a:defRPr sz="730">
                <a:solidFill>
                  <a:srgbClr val="333333"/>
                </a:solidFill>
              </a:defRPr>
            </a:pPr>
            <a:r>
              <a:t>- China and the US are the leading fusion nations.</a:t>
            </a:r>
          </a:p>
          <a:p>
            <a:pPr>
              <a:defRPr sz="730">
                <a:solidFill>
                  <a:srgbClr val="333333"/>
                </a:solidFill>
              </a:defRPr>
            </a:pPr>
            <a:r>
              <a:t>- Geopolitical tensions could disrupt collaboration.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Offers Transformative Energy Security Benefits but Faces Significant Regulatory and Supply Chain Hurdles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Offers Transformative Energy Security Benefits but Faces Significant Regulatory and Supply Chain Hurdles</a:t>
            </a:r>
          </a:p>
          <a:p>
            <a:pPr>
              <a:defRPr sz="830">
                <a:solidFill>
                  <a:srgbClr val="64696E"/>
                </a:solidFill>
              </a:defRPr>
            </a:pPr>
            <a:r>
              <a:t>This section explains that fusion fuel is abundant and clean, but regulatory frameworks are nascent and supply chain bottlenecks (tritium, HTS magnets) pose significant 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fuel (deuterium and lithium) is abundant and widely distributed, reducing dependence on fossil fuel imports. A single fusion plant could power a city of 1 million people with zero carbon emissions and no long-lived radioactive waste.</a:t>
            </a:r>
          </a:p>
          <a:p>
            <a:pPr>
              <a:spcAft>
                <a:spcPts val="600"/>
              </a:spcAft>
              <a:defRPr sz="819">
                <a:solidFill>
                  <a:srgbClr val="333333"/>
                </a:solidFill>
              </a:defRPr>
            </a:pPr>
            <a:r>
              <a:t>However, regulatory frameworks are nascent: the US NRC has only begun pre-application activities for fusion licensing, and the IAEA is developing safety standards. Supply chain hurdles include tritium breeding (current global inventory ~20 kg, insufficient for</a:t>
            </a:r>
          </a:p>
          <a:p>
            <a:pPr>
              <a:spcAft>
                <a:spcPts val="600"/>
              </a:spcAft>
              <a:defRPr sz="819">
                <a:solidFill>
                  <a:srgbClr val="333333"/>
                </a:solidFill>
              </a:defRPr>
            </a:pPr>
            <a:r>
              <a:t>The management implication is clear: evidence boundary: tritium inventory data from IAEA; HTS production capacity is proprietary. For CEOs, this means that early engagement with regulators and investment in supply chains are critical to mitigate delays.</a:t>
            </a:r>
          </a:p>
          <a:p>
            <a:pPr>
              <a:spcBef>
                <a:spcPts val="600"/>
              </a:spcBef>
              <a:defRPr sz="819" b="1">
                <a:solidFill>
                  <a:srgbClr val="003087"/>
                </a:solidFill>
              </a:defRPr>
            </a:pPr>
            <a:r>
              <a:t>Key implications</a:t>
            </a:r>
          </a:p>
          <a:p>
            <a:pPr>
              <a:defRPr sz="730">
                <a:solidFill>
                  <a:srgbClr val="333333"/>
                </a:solidFill>
              </a:defRPr>
            </a:pPr>
            <a:r>
              <a:t>- Fusion fuel is abundant and clean, but regulatory frameworks are nascent.</a:t>
            </a:r>
          </a:p>
          <a:p>
            <a:pPr>
              <a:defRPr sz="730">
                <a:solidFill>
                  <a:srgbClr val="333333"/>
                </a:solidFill>
              </a:defRPr>
            </a:pPr>
            <a:r>
              <a:t>- Tritium inventory (~20 kg) is insufficient for one commercial plant.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Investors Should Focus on Enabling Technologies and Diversified Portfolios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Investors Should Focus on Enabling Technologies and Diversified Portfolios</a:t>
            </a:r>
          </a:p>
          <a:p>
            <a:pPr>
              <a:defRPr sz="830">
                <a:solidFill>
                  <a:srgbClr val="64696E"/>
                </a:solidFill>
              </a:defRPr>
            </a:pPr>
            <a:r>
              <a:t>This section concludes that direct investment in fusion developers is high-risk, but enabling technologies (HTS, tritium breeding) offer lower-risk exposure with dual-use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Direct investment in fusion developers carries high risk but potentially high reward. A more balanced approach includes investing in enabling technologies: high-temperature superconductors (e.g., for magnets), tritium breeding systems, advanced materials, and</a:t>
            </a:r>
          </a:p>
          <a:p>
            <a:pPr>
              <a:spcAft>
                <a:spcPts val="600"/>
              </a:spcAft>
              <a:defRPr sz="819">
                <a:solidFill>
                  <a:srgbClr val="333333"/>
                </a:solidFill>
              </a:defRPr>
            </a:pPr>
            <a:r>
              <a:t>Venture capital has flowed heavily to fusion startups, but corporate venture arms and strategic investors should consider co-investment with government programs to reduce risk. Diversified portfolios across multiple fusion approaches and enabling technologies</a:t>
            </a:r>
          </a:p>
          <a:p>
            <a:pPr>
              <a:spcAft>
                <a:spcPts val="600"/>
              </a:spcAft>
              <a:defRPr sz="819">
                <a:solidFill>
                  <a:srgbClr val="333333"/>
                </a:solidFill>
              </a:defRPr>
            </a:pPr>
            <a:r>
              <a:t>A practical reading is that evidence boundary: no public source provides a comprehensive risk-return analysis of fusion investments. For CEOs, a phased capital allocation strategy with clear decision gates is recommended.</a:t>
            </a:r>
          </a:p>
          <a:p>
            <a:pPr>
              <a:spcBef>
                <a:spcPts val="600"/>
              </a:spcBef>
              <a:defRPr sz="819" b="1">
                <a:solidFill>
                  <a:srgbClr val="003087"/>
                </a:solidFill>
              </a:defRPr>
            </a:pPr>
            <a:r>
              <a:t>Key implications</a:t>
            </a:r>
          </a:p>
          <a:p>
            <a:pPr>
              <a:defRPr sz="730">
                <a:solidFill>
                  <a:srgbClr val="333333"/>
                </a:solidFill>
              </a:defRPr>
            </a:pPr>
            <a:r>
              <a:t>- Direct fusion investment is high-risk; enabling technologies offer lower-risk exposure.</a:t>
            </a:r>
          </a:p>
          <a:p>
            <a:pPr>
              <a:defRPr sz="730">
                <a:solidFill>
                  <a:srgbClr val="333333"/>
                </a:solidFill>
              </a:defRPr>
            </a:pPr>
            <a:r>
              <a:t>- Diversified portfolios across approaches and technologies are prudent.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Implications for Energy Markets, Geopolitics, and Investment should be manag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Implications for Energy Markets, Geopolitics, and Investment should be man</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Nuclear Fusion Commercialization: Strategic Implications for Energy Markets, Geopolitics, and Investment should be separated into verified facts, directional scenarios and open diligence items. That boundary keeps the report from turning market</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Aft>
                <a:spcPts val="600"/>
              </a:spcAft>
              <a:defRPr sz="819">
                <a:solidFill>
                  <a:srgbClr val="333333"/>
                </a:solidFill>
              </a:defRPr>
            </a:pPr>
            <a:r>
              <a:t>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for Senior Executives and Policy Advisors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