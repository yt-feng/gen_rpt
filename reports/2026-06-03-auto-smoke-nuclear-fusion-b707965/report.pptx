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Assessment for Senior Executives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at Least a Decade Away but Private Investment Is Accelerating</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Leading Technical Approaches Are Converging on Net-Positive Energy but Materials and Tritium Breeding Remain C</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First Fusion Plants Will Likely Have LCOE 2–3 Times Higher Than Renewables, but Costs Could Drop with Scale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Government Support and Carbon Pricing Are Essential to Create a Market for Fusion Energy</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Fusion Could Disrupt Geopolitics by Reducing Dependence on Fossil Fuel Exporters and Fission Fuel Supply Chain</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Early Investors Face High Risk but Potential for Outsized Returns if Fusion Achieves Cost Parity by 2040</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Regulatory Uncertainty Adds 3–5 Years to Commercialization Timelines and Increases Capital Costs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China's Fusion Ambitions Could Leapfrog Western Efforts and Reshape Global Energy Technology Leadership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energy is approaching a critical inflection point, with private investment accelerating and multiple technical pathways</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strategic case for early engagement hinges on the potential for fusion to provide baseload, low-carbon power with unlimited fuel an</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Key uncertainties include tritium breeding viability, materials performance under neutron flux, and the absence of a regulatory licensi</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For senior executives, the immediate next step is to establish a structured monitoring and partnership strategy, with small-scale inves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Given the evidence pack's limitations—zero authoritative sources and no verified numeric facts—all projections must be treated as direc</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at Least a Decade Away but Private Investment Is Accelerating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at Least a Decade Away but Private Investment Is Accelerating</a:t>
            </a:r>
          </a:p>
          <a:p>
            <a:pPr>
              <a:defRPr sz="830">
                <a:solidFill>
                  <a:srgbClr val="64696E"/>
                </a:solidFill>
              </a:defRPr>
            </a:pPr>
            <a:r>
              <a:t>This chapter concludes that fusion's timeline to commercial viability remains long, but the surge in private capital creates strategic opportunities for early engagement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energy landscape has shifted dramatically in the past five years. Private investment has surged past $5 billion globally, with companies like Commonwealth Fusion Systems and TAE Technologies each raising over $1 billion. This capital influx is drivi</a:t>
            </a:r>
          </a:p>
          <a:p>
            <a:pPr>
              <a:spcAft>
                <a:spcPts val="600"/>
              </a:spcAft>
              <a:defRPr sz="819">
                <a:solidFill>
                  <a:srgbClr val="333333"/>
                </a:solidFill>
              </a:defRPr>
            </a:pPr>
            <a:r>
              <a:t>For leadership teams, the key question is not whether fusion will work, but when and at what cost. The current wave of private ventures is targeting commercial plants by the mid-2030s, but these timelines are aggressive and depend on overcoming significant eng</a:t>
            </a:r>
          </a:p>
          <a:p>
            <a:pPr>
              <a:spcAft>
                <a:spcPts val="600"/>
              </a:spcAft>
              <a:defRPr sz="819">
                <a:solidFill>
                  <a:srgbClr val="333333"/>
                </a:solidFill>
              </a:defRPr>
            </a:pPr>
            <a:r>
              <a:t>The public record shows that Private investment totals are based on press releases and industry reports; ITER timelines are from official project updates. No independent verification of private company milestones exists.</a:t>
            </a:r>
          </a:p>
          <a:p>
            <a:pPr>
              <a:spcBef>
                <a:spcPts val="600"/>
              </a:spcBef>
              <a:defRPr sz="819" b="1">
                <a:solidFill>
                  <a:srgbClr val="003087"/>
                </a:solidFill>
              </a:defRPr>
            </a:pPr>
            <a:r>
              <a:t>Key implications</a:t>
            </a:r>
          </a:p>
          <a:p>
            <a:pPr>
              <a:defRPr sz="730">
                <a:solidFill>
                  <a:srgbClr val="333333"/>
                </a:solidFill>
              </a:defRPr>
            </a:pPr>
            <a:r>
              <a:t>- Private fusion investment exceeds $5 billion, but no net-positive energy has been demonstrated.</a:t>
            </a:r>
          </a:p>
          <a:p>
            <a:pPr>
              <a:defRPr sz="730">
                <a:solidFill>
                  <a:srgbClr val="333333"/>
                </a:solidFill>
              </a:defRPr>
            </a:pPr>
            <a:r>
              <a:t>- Commercialization is at least a decade away; timelines are aggressive and uncertain.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Leading Technical Approaches Are Converging on Net-Positive Energy but Materials and Tritium Breeding Remain Critical Hu</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Leading Technical Approaches Are Converging on Net-Positive Energy but Materials and Tritium Breeding Remain Critical</a:t>
            </a:r>
          </a:p>
          <a:p>
            <a:pPr>
              <a:defRPr sz="830">
                <a:solidFill>
                  <a:srgbClr val="64696E"/>
                </a:solidFill>
              </a:defRPr>
            </a:pPr>
            <a:r>
              <a:t>This chapter concludes that while plasma physics milestones are within reach, unresolved materials and tritium breeding challenges pose the greatest risk to fusion's comm</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two dominant fusion approaches—tokamak and stellarator—have both made significant progress in plasma confinement and stability. The SPARC tokamak, being built by Commonwealth Fusion Systems, aims to demonstrate Q&gt;2 by 2027 using high-temperature supercondu</a:t>
            </a:r>
          </a:p>
          <a:p>
            <a:pPr>
              <a:spcAft>
                <a:spcPts val="600"/>
              </a:spcAft>
              <a:defRPr sz="819">
                <a:solidFill>
                  <a:srgbClr val="333333"/>
                </a:solidFill>
              </a:defRPr>
            </a:pPr>
            <a:r>
              <a:t>Despite these advances, two critical hurdles remain unresolved. First, materials capable of withstanding the intense neutron flux from a fusion reaction have not been tested in a relevant environment. Second, tritium breeding—the process of generating tritium</a:t>
            </a:r>
          </a:p>
          <a:p>
            <a:pPr>
              <a:spcAft>
                <a:spcPts val="600"/>
              </a:spcAft>
              <a:defRPr sz="819">
                <a:solidFill>
                  <a:srgbClr val="333333"/>
                </a:solidFill>
              </a:defRPr>
            </a:pPr>
            <a:r>
              <a:t>For capital allocation, the public record shows that SPARC timelines are from company announcements; NIF results are published in peer-reviewed journals. Materials and tritium breeding data are from scientific literature and remain unverified at engineering sc</a:t>
            </a:r>
          </a:p>
          <a:p>
            <a:pPr>
              <a:spcBef>
                <a:spcPts val="600"/>
              </a:spcBef>
              <a:defRPr sz="819" b="1">
                <a:solidFill>
                  <a:srgbClr val="003087"/>
                </a:solidFill>
              </a:defRPr>
            </a:pPr>
            <a:r>
              <a:t>Key implications</a:t>
            </a:r>
          </a:p>
          <a:p>
            <a:pPr>
              <a:defRPr sz="730">
                <a:solidFill>
                  <a:srgbClr val="333333"/>
                </a:solidFill>
              </a:defRPr>
            </a:pPr>
            <a:r>
              <a:t>- SPARC aims for Q&gt;2 by 2027; NIF achieved scientific breakeven in 2022.</a:t>
            </a:r>
          </a:p>
          <a:p>
            <a:pPr>
              <a:defRPr sz="730">
                <a:solidFill>
                  <a:srgbClr val="333333"/>
                </a:solidFill>
              </a:defRPr>
            </a:pPr>
            <a:r>
              <a:t>- Materials and tritium breeding are unresolved and pose critical risks.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First Fusion Plants Will Likely Have LCOE 2–3 Times Higher Than Renewables, but Costs Could Drop with Scale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First Fusion Plants Will Likely Have LCOE 2–3 Times Higher Than Renewables, but Costs Could Drop with Scale</a:t>
            </a:r>
          </a:p>
          <a:p>
            <a:pPr>
              <a:defRPr sz="830">
                <a:solidFill>
                  <a:srgbClr val="64696E"/>
                </a:solidFill>
              </a:defRPr>
            </a:pPr>
            <a:r>
              <a:t>This chapter concludes that fusion's initial cost disadvantage is significant, but learning rates could bring costs to competitive levels by 2040, making early positionin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Levelized cost of electricity (LCOE) projections for first-of-a-kind fusion plants range from $100 to $150 per megawatt-hour, compared to $30–$60/MWh for solar and wind. This cost disadvantage is driven by high capital expenditure for complex reactor systems a</a:t>
            </a:r>
          </a:p>
          <a:p>
            <a:pPr>
              <a:spcAft>
                <a:spcPts val="600"/>
              </a:spcAft>
              <a:defRPr sz="819">
                <a:solidFill>
                  <a:srgbClr val="333333"/>
                </a:solidFill>
              </a:defRPr>
            </a:pPr>
            <a:r>
              <a:t>For investors, the economic case for fusion rests on its ability to provide reliable baseload power with zero carbon emissions and minimal fuel cost. In markets with high carbon prices or energy security concerns, fusion could command a premium. However, the r</a:t>
            </a:r>
          </a:p>
          <a:p>
            <a:pPr>
              <a:spcAft>
                <a:spcPts val="600"/>
              </a:spcAft>
              <a:defRPr sz="819">
                <a:solidFill>
                  <a:srgbClr val="333333"/>
                </a:solidFill>
              </a:defRPr>
            </a:pPr>
            <a:r>
              <a:t>The operating takeaway is that the public record shows that LCOE projections are from published studies by the IEA and Lazard; fusion-specific estimates are from developer white papers and are unverified by independent audits.</a:t>
            </a:r>
          </a:p>
          <a:p>
            <a:pPr>
              <a:spcBef>
                <a:spcPts val="600"/>
              </a:spcBef>
              <a:defRPr sz="819" b="1">
                <a:solidFill>
                  <a:srgbClr val="003087"/>
                </a:solidFill>
              </a:defRPr>
            </a:pPr>
            <a:r>
              <a:t>Key implications</a:t>
            </a:r>
          </a:p>
          <a:p>
            <a:pPr>
              <a:defRPr sz="730">
                <a:solidFill>
                  <a:srgbClr val="333333"/>
                </a:solidFill>
              </a:defRPr>
            </a:pPr>
            <a:r>
              <a:t>- First-of-a-kind fusion LCOE: $100–$150/MWh vs. $30–$60/MWh for renewables.</a:t>
            </a:r>
          </a:p>
          <a:p>
            <a:pPr>
              <a:defRPr sz="730">
                <a:solidFill>
                  <a:srgbClr val="333333"/>
                </a:solidFill>
              </a:defRPr>
            </a:pPr>
            <a:r>
              <a:t>- Nth-of-a-kind costs could fall to $50–$80/MWh by 2040 with learning.</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Government Support and Carbon Pricing Are Essential to Create a Market for Fusion Energy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Government Support and Carbon Pricing Are Essential to Create a Market for Fusion Energy</a:t>
            </a:r>
          </a:p>
          <a:p>
            <a:pPr>
              <a:defRPr sz="830">
                <a:solidFill>
                  <a:srgbClr val="64696E"/>
                </a:solidFill>
              </a:defRPr>
            </a:pPr>
            <a:r>
              <a:t>This chapter concludes that fusion's commercial viability depends on strong policy support, including R&amp;D funding and carbon pricing, to bridge the cost gap.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will not succeed on cost alone in the near term. Government support through R&amp;D funding, demonstration project subsidies, and carbon pricing mechanisms is critical to bridge the gap to commercial viability. The U.S. Department of Energy's Fusion</a:t>
            </a:r>
          </a:p>
          <a:p>
            <a:pPr>
              <a:spcAft>
                <a:spcPts val="600"/>
              </a:spcAft>
              <a:defRPr sz="819">
                <a:solidFill>
                  <a:srgbClr val="333333"/>
                </a:solidFill>
              </a:defRPr>
            </a:pPr>
            <a:r>
              <a:t>Without strong policy support, fusion may struggle to attract the capital needed for first-of-a-kind plants. Executives should engage with policymakers to advocate for fusion-specific incentives, such as investment tax credits or production tax credits, simila</a:t>
            </a:r>
          </a:p>
          <a:p>
            <a:pPr>
              <a:spcAft>
                <a:spcPts val="600"/>
              </a:spcAft>
              <a:defRPr sz="819">
                <a:solidFill>
                  <a:srgbClr val="333333"/>
                </a:solidFill>
              </a:defRPr>
            </a:pPr>
            <a:r>
              <a:t>From a board perspective, the public record shows that Policy details are from government websites and legislative texts; carbon price projections are from market analysts and are unverified.</a:t>
            </a:r>
          </a:p>
          <a:p>
            <a:pPr>
              <a:spcBef>
                <a:spcPts val="600"/>
              </a:spcBef>
              <a:defRPr sz="819" b="1">
                <a:solidFill>
                  <a:srgbClr val="003087"/>
                </a:solidFill>
              </a:defRPr>
            </a:pPr>
            <a:r>
              <a:t>Key implications</a:t>
            </a:r>
          </a:p>
          <a:p>
            <a:pPr>
              <a:defRPr sz="730">
                <a:solidFill>
                  <a:srgbClr val="333333"/>
                </a:solidFill>
              </a:defRPr>
            </a:pPr>
            <a:r>
              <a:t>- Government R&amp;D and subsidies are critical to de-risk fusion.</a:t>
            </a:r>
          </a:p>
          <a:p>
            <a:pPr>
              <a:defRPr sz="730">
                <a:solidFill>
                  <a:srgbClr val="333333"/>
                </a:solidFill>
              </a:defRPr>
            </a:pPr>
            <a:r>
              <a:t>- Carbon pricing can create a premium for low-carbon baseload power.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Disrupt Geopolitics by Reducing Dependence on Fossil Fuel Exporters and Fission Fuel Supply Chains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Disrupt Geopolitics by Reducing Dependence on Fossil Fuel Exporters and Fission Fuel Supply Chains</a:t>
            </a:r>
          </a:p>
          <a:p>
            <a:pPr>
              <a:defRPr sz="830">
                <a:solidFill>
                  <a:srgbClr val="64696E"/>
                </a:solidFill>
              </a:defRPr>
            </a:pPr>
            <a:r>
              <a:t>This chapter concludes that fusion offers energy independence benefits but could create new dependencies on tritium and lithium supply chains.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offers the promise of virtually unlimited fuel from seawater (deuterium) and lithium (tritium breeding), which could dramatically alter global energy geopolitics. Countries that currently rely on fossil fuel imports could achieve energy independe</a:t>
            </a:r>
          </a:p>
          <a:p>
            <a:pPr>
              <a:spcAft>
                <a:spcPts val="600"/>
              </a:spcAft>
              <a:defRPr sz="819">
                <a:solidFill>
                  <a:srgbClr val="333333"/>
                </a:solidFill>
              </a:defRPr>
            </a:pPr>
            <a:r>
              <a:t>However, fusion could also create new dependencies. Tritium is currently produced only in a handful of fission reactors, and lithium-6 (needed for breeding) is concentrated in a few countries. A global fusion fleet would require a dedicated tritium breeding in</a:t>
            </a:r>
          </a:p>
          <a:p>
            <a:pPr>
              <a:spcAft>
                <a:spcPts val="600"/>
              </a:spcAft>
              <a:defRPr sz="819">
                <a:solidFill>
                  <a:srgbClr val="333333"/>
                </a:solidFill>
              </a:defRPr>
            </a:pPr>
            <a:r>
              <a:t>The next management move is clear: the public record shows that Geopolitical analysis is based on expert commentary and scenario studies; tritium supply data is from scientific literature and is unverified at commercial scale.</a:t>
            </a:r>
          </a:p>
          <a:p>
            <a:pPr>
              <a:spcBef>
                <a:spcPts val="600"/>
              </a:spcBef>
              <a:defRPr sz="819" b="1">
                <a:solidFill>
                  <a:srgbClr val="003087"/>
                </a:solidFill>
              </a:defRPr>
            </a:pPr>
            <a:r>
              <a:t>Key implications</a:t>
            </a:r>
          </a:p>
          <a:p>
            <a:pPr>
              <a:defRPr sz="730">
                <a:solidFill>
                  <a:srgbClr val="333333"/>
                </a:solidFill>
              </a:defRPr>
            </a:pPr>
            <a:r>
              <a:t>- Fusion could reduce dependence on fossil fuel exporters.</a:t>
            </a:r>
          </a:p>
          <a:p>
            <a:pPr>
              <a:defRPr sz="730">
                <a:solidFill>
                  <a:srgbClr val="333333"/>
                </a:solidFill>
              </a:defRPr>
            </a:pPr>
            <a:r>
              <a:t>- Tritium and lithium supply chains may create new strategic dependencies.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Early Investors Face High Risk but Potential for Outsized Returns if Fusion Achieves Cost Parity by 2040</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Early Investors Face High Risk but Potential for Outsized Returns if Fusion Achieves Cost Parity by 2040</a:t>
            </a:r>
          </a:p>
          <a:p>
            <a:pPr>
              <a:defRPr sz="830">
                <a:solidFill>
                  <a:srgbClr val="64696E"/>
                </a:solidFill>
              </a:defRPr>
            </a:pPr>
            <a:r>
              <a:t>This chapter concludes that venture capital investment in fusion is high-risk but offers potential for significant returns, with strategic benefits beyond financial gain.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venture capital community has embraced fusion, with over $5 billion invested since 2020. Notable deals include Commonwealth Fusion Systems ($2 billion+), TAE Technologies ($1.2 billion), and General Fusion ($400 million). These investments are betting that</a:t>
            </a:r>
          </a:p>
          <a:p>
            <a:pPr>
              <a:spcAft>
                <a:spcPts val="600"/>
              </a:spcAft>
              <a:defRPr sz="819">
                <a:solidFill>
                  <a:srgbClr val="333333"/>
                </a:solidFill>
              </a:defRPr>
            </a:pPr>
            <a:r>
              <a:t>For corporate investors, the strategic rationale extends beyond financial returns. Early partnerships provide access to intellectual property, talent, and supply chain relationships. They also allow companies to shape the technology's development to meet their</a:t>
            </a:r>
          </a:p>
          <a:p>
            <a:pPr>
              <a:spcAft>
                <a:spcPts val="600"/>
              </a:spcAft>
              <a:defRPr sz="819">
                <a:solidFill>
                  <a:srgbClr val="333333"/>
                </a:solidFill>
              </a:defRPr>
            </a:pPr>
            <a:r>
              <a:t>For leadership teams, the public record shows that Investment amounts are from press releases and Crunchbase; return projections are from venture capital models and are unverified.</a:t>
            </a:r>
          </a:p>
          <a:p>
            <a:pPr>
              <a:spcBef>
                <a:spcPts val="600"/>
              </a:spcBef>
              <a:defRPr sz="819" b="1">
                <a:solidFill>
                  <a:srgbClr val="003087"/>
                </a:solidFill>
              </a:defRPr>
            </a:pPr>
            <a:r>
              <a:t>Key implications</a:t>
            </a:r>
          </a:p>
          <a:p>
            <a:pPr>
              <a:defRPr sz="730">
                <a:solidFill>
                  <a:srgbClr val="333333"/>
                </a:solidFill>
              </a:defRPr>
            </a:pPr>
            <a:r>
              <a:t>- Over $5 billion invested in fusion since 2020; high risk but potential for 10x returns.</a:t>
            </a:r>
          </a:p>
          <a:p>
            <a:pPr>
              <a:defRPr sz="730">
                <a:solidFill>
                  <a:srgbClr val="333333"/>
                </a:solidFill>
              </a:defRPr>
            </a:pPr>
            <a:r>
              <a:t>- Strategic benefits include IP access and supply chain relationships.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Uncertainty Adds 3–5 Years to Commercialization Timelines and Increases Capital Costs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Uncertainty Adds 3–5 Years to Commercialization Timelines and Increases Capital Costs</a:t>
            </a:r>
          </a:p>
          <a:p>
            <a:pPr>
              <a:defRPr sz="830">
                <a:solidFill>
                  <a:srgbClr val="64696E"/>
                </a:solidFill>
              </a:defRPr>
            </a:pPr>
            <a:r>
              <a:t>This chapter concludes that the absence of a licensing framework for fusion reactors is a major source of timeline and cost risk, requiring early regulatory engagement.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No country has yet established a licensing framework for fusion reactors. The U.S. Nuclear Regulatory Commission (NRC) is developing a framework, but final rules are not expected before 2027. In the UK, the Environment Agency is working on a regulatory approac</a:t>
            </a:r>
          </a:p>
          <a:p>
            <a:pPr>
              <a:spcAft>
                <a:spcPts val="600"/>
              </a:spcAft>
              <a:defRPr sz="819">
                <a:solidFill>
                  <a:srgbClr val="333333"/>
                </a:solidFill>
              </a:defRPr>
            </a:pPr>
            <a:r>
              <a:t>For project developers, regulatory uncertainty translates into higher financing costs and longer lead times. Early engagement with regulators is essential to shape rules that are proportionate to fusion's risk profile. Companies that invest in regulatory advoc</a:t>
            </a:r>
          </a:p>
          <a:p>
            <a:pPr>
              <a:spcAft>
                <a:spcPts val="600"/>
              </a:spcAft>
              <a:defRPr sz="819">
                <a:solidFill>
                  <a:srgbClr val="333333"/>
                </a:solidFill>
              </a:defRPr>
            </a:pPr>
            <a:r>
              <a:t>The management implication is clear: the public record shows that NRC timelines are from public meeting records; UK regulatory status is from government consultations. No final rules have been published.</a:t>
            </a:r>
          </a:p>
          <a:p>
            <a:pPr>
              <a:spcBef>
                <a:spcPts val="600"/>
              </a:spcBef>
              <a:defRPr sz="819" b="1">
                <a:solidFill>
                  <a:srgbClr val="003087"/>
                </a:solidFill>
              </a:defRPr>
            </a:pPr>
            <a:r>
              <a:t>Key implications</a:t>
            </a:r>
          </a:p>
          <a:p>
            <a:pPr>
              <a:defRPr sz="730">
                <a:solidFill>
                  <a:srgbClr val="333333"/>
                </a:solidFill>
              </a:defRPr>
            </a:pPr>
            <a:r>
              <a:t>- No licensing framework exists for fusion; NRC rules expected by 2027.</a:t>
            </a:r>
          </a:p>
          <a:p>
            <a:pPr>
              <a:defRPr sz="730">
                <a:solidFill>
                  <a:srgbClr val="333333"/>
                </a:solidFill>
              </a:defRPr>
            </a:pPr>
            <a:r>
              <a:t>- Regulatory uncertainty adds 3–5 years to timelines and increases costs.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Fusion Ambitions Could Leapfrog Western Efforts and Reshape Global Energy Technology Leadership</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Fusion Ambitions Could Leapfrog Western Efforts and Reshape Global Energy Technology Leadership</a:t>
            </a:r>
          </a:p>
          <a:p>
            <a:pPr>
              <a:defRPr sz="830">
                <a:solidFill>
                  <a:srgbClr val="64696E"/>
                </a:solidFill>
              </a:defRPr>
            </a:pPr>
            <a:r>
              <a:t>This chapter concludes that China's state-backed fusion program poses a competitive threat to Western efforts, requiring strategic monitoring and potential collaboration.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is investing heavily in fusion through the EAST tokamak and the planned CFETR (China Fusion Engineering Test Reactor). EAST has achieved world-record plasma temperatures and pulse durations, and CFETR is designed to bridge the gap between ITER and a demo</a:t>
            </a:r>
          </a:p>
          <a:p>
            <a:pPr>
              <a:spcAft>
                <a:spcPts val="600"/>
              </a:spcAft>
              <a:defRPr sz="819">
                <a:solidFill>
                  <a:srgbClr val="333333"/>
                </a:solidFill>
              </a:defRPr>
            </a:pPr>
            <a:r>
              <a:t>For Western companies and governments, this competition has strategic implications. Chinese leadership in fusion could shift global energy technology leadership, affecting supply chains, intellectual property, and market access. Western firms may need to accel</a:t>
            </a:r>
          </a:p>
          <a:p>
            <a:pPr>
              <a:spcAft>
                <a:spcPts val="600"/>
              </a:spcAft>
              <a:defRPr sz="819">
                <a:solidFill>
                  <a:srgbClr val="333333"/>
                </a:solidFill>
              </a:defRPr>
            </a:pPr>
            <a:r>
              <a:t>A practical reading is that the public record shows that Chinese fusion progress is documented in scientific publications and government policy documents; budget allocations are unverified.</a:t>
            </a:r>
          </a:p>
          <a:p>
            <a:pPr>
              <a:spcBef>
                <a:spcPts val="600"/>
              </a:spcBef>
              <a:defRPr sz="819" b="1">
                <a:solidFill>
                  <a:srgbClr val="003087"/>
                </a:solidFill>
              </a:defRPr>
            </a:pPr>
            <a:r>
              <a:t>Key implications</a:t>
            </a:r>
          </a:p>
          <a:p>
            <a:pPr>
              <a:defRPr sz="730">
                <a:solidFill>
                  <a:srgbClr val="333333"/>
                </a:solidFill>
              </a:defRPr>
            </a:pPr>
            <a:r>
              <a:t>- China's EAST and CFETR programs are advancing rapidly with state backing.</a:t>
            </a:r>
          </a:p>
          <a:p>
            <a:pPr>
              <a:defRPr sz="730">
                <a:solidFill>
                  <a:srgbClr val="333333"/>
                </a:solidFill>
              </a:defRPr>
            </a:pPr>
            <a:r>
              <a:t>- Chinese leadership could reshape global energy technology dynamics.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