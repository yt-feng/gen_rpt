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Outlook and Strategic Implications</a:t>
            </a:r>
          </a:p>
          <a:p>
            <a:pPr>
              <a:spcBef>
                <a:spcPts val="1400"/>
              </a:spcBef>
              <a:defRPr sz="950">
                <a:solidFill>
                  <a:srgbClr val="64696E"/>
                </a:solidFill>
              </a:defRPr>
            </a:pPr>
            <a:r>
              <a:t>A Decision-Ready Analysis for Senior Executives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Nuclear Fusion Commercialization Outlook and Strategic Implications should be managed as a staged strategic op</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Cost, return and timing will determine the real deployment window</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Regulation, policy and public acceptance can reset the speed of adoption</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Supply chain, partners and talent will decide who can act before the market is obvious</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Incumbents should protect near-term economics while preserving long-term options</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The management agenda should translate uncertainty into quarterly decision gates</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Decision-moving facts matter more than market noise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is transitioning from laboratory science to engineering demonstration, with over $6 billion in private investment and ma</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The strategic implication is clear: fusion could disrupt energy markets by providing abundant, low-carbon baseload power, but its econo</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For executives, the immediate next step is to monitor fusion ventures, engage in scenario planning, and prepare for potential partnersh</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This report synthesizes publicly available evidence, highlighting where data is robust and where uncertainty remains. The evidence pack</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Validation gaps include the absence of verified cost data, market size forecasts, and detailed technical performance metrics. Where dat</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Outlook and Strategic Implications should be managed as a staged strategic option, not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Outlook and Strategic Implications should be managed as a staged strategic option, no</a:t>
            </a:r>
          </a:p>
          <a:p>
            <a:pPr>
              <a:defRPr sz="830">
                <a:solidFill>
                  <a:srgbClr val="64696E"/>
                </a:solidFill>
              </a:defRPr>
            </a:pPr>
            <a:r>
              <a:t>Nuclear fusion has long been considered the holy grail of energy, promising virtually limitless, clean power. In recent years, the pace of development has accelerated, dr</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Over 30 private fusion companies have raised more than $6 billion, with notable players like Commonwealth Fusion Systems, TAE Technologies, and Helion Energy targeting commercial electricity by the mid-2030s. Public projects like ITER in France and the UK's ST</a:t>
            </a:r>
          </a:p>
          <a:p>
            <a:pPr>
              <a:spcAft>
                <a:spcPts val="600"/>
              </a:spcAft>
              <a:defRPr sz="819">
                <a:solidFill>
                  <a:srgbClr val="333333"/>
                </a:solidFill>
              </a:defRPr>
            </a:pPr>
            <a:r>
              <a:t>However, despite this momentum, no fusion device has yet demonstrated sustained net energy gain (Q&gt;1) at a scale relevant for power generation. ITER, the largest experimental reactor, is not expected to achieve its goal of Q=10 until 2035 at the earliest, and</a:t>
            </a:r>
          </a:p>
          <a:p>
            <a:pPr>
              <a:spcAft>
                <a:spcPts val="600"/>
              </a:spcAft>
              <a:defRPr sz="819">
                <a:solidFill>
                  <a:srgbClr val="333333"/>
                </a:solidFill>
              </a:defRPr>
            </a:pPr>
            <a:r>
              <a:t>The gap between current capabilities and commercial requirements remains substantial, particularly in plasma confinement, materials that can withstand high neutron fluxes, and tritium breeding. For executives, this means fusion is a long-term opportunity that</a:t>
            </a:r>
          </a:p>
          <a:p>
            <a:pPr>
              <a:spcBef>
                <a:spcPts val="600"/>
              </a:spcBef>
              <a:defRPr sz="819" b="1">
                <a:solidFill>
                  <a:srgbClr val="003087"/>
                </a:solidFill>
              </a:defRPr>
            </a:pPr>
            <a:r>
              <a:t>Key implications</a:t>
            </a:r>
          </a:p>
          <a:p>
            <a:pPr>
              <a:defRPr sz="730">
                <a:solidFill>
                  <a:srgbClr val="333333"/>
                </a:solidFill>
              </a:defRPr>
            </a:pPr>
            <a:r>
              <a:t>- Fusion is real but not imminent; commercial deployment is at least 15-25 years away.</a:t>
            </a:r>
          </a:p>
          <a:p>
            <a:pPr>
              <a:defRPr sz="730">
                <a:solidFill>
                  <a:srgbClr val="333333"/>
                </a:solidFill>
              </a:defRPr>
            </a:pPr>
            <a:r>
              <a:t>- Private investment has surged, but technical milestones remain unverified.</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Global fusion investment has grown exponentially, from less than $100 million per year in 2010 to over $1 billion annually in 2024. Private companies account for the majo</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Commonwealth Fusion Systems has raised over $2 billion, Helion Energy over $1 billion, and TAE Technologies over $1 billion. Public funding remains substantial, with ITER's budget exceeding $20 billion and national programs in the US, UK, Japan, and China.</a:t>
            </a:r>
          </a:p>
          <a:p>
            <a:pPr>
              <a:spcAft>
                <a:spcPts val="600"/>
              </a:spcAft>
              <a:defRPr sz="819">
                <a:solidFill>
                  <a:srgbClr val="333333"/>
                </a:solidFill>
              </a:defRPr>
            </a:pPr>
            <a:r>
              <a:t>This influx of capital has enabled rapid progress in key enabling technologies, such as high-temperature superconducting magnets, advanced plasma diagnostics, and AI-driven optimization. However, the core technical challenge—achieving and sustaining a fusion p</a:t>
            </a:r>
          </a:p>
          <a:p>
            <a:pPr>
              <a:spcAft>
                <a:spcPts val="600"/>
              </a:spcAft>
              <a:defRPr sz="819">
                <a:solidFill>
                  <a:srgbClr val="333333"/>
                </a:solidFill>
              </a:defRPr>
            </a:pPr>
            <a:r>
              <a:t>The most advanced private designs aim to demonstrate Q&gt;1 by 2025-2030, but these are small-scale devices that may not scale to commercial power levels. Materials that can withstand the intense neutron bombardment in a fusion reactor are still in development, w</a:t>
            </a:r>
          </a:p>
          <a:p>
            <a:pPr>
              <a:spcBef>
                <a:spcPts val="600"/>
              </a:spcBef>
              <a:defRPr sz="819" b="1">
                <a:solidFill>
                  <a:srgbClr val="003087"/>
                </a:solidFill>
              </a:defRPr>
            </a:pPr>
            <a:r>
              <a:t>Key implications</a:t>
            </a:r>
          </a:p>
          <a:p>
            <a:pPr>
              <a:defRPr sz="730">
                <a:solidFill>
                  <a:srgbClr val="333333"/>
                </a:solidFill>
              </a:defRPr>
            </a:pPr>
            <a:r>
              <a:t>- Investment is high but technical risk remains substantial.</a:t>
            </a:r>
          </a:p>
          <a:p>
            <a:pPr>
              <a:defRPr sz="730">
                <a:solidFill>
                  <a:srgbClr val="333333"/>
                </a:solidFill>
              </a:defRPr>
            </a:pPr>
            <a:r>
              <a:t>- Key enabling technologies are advancing, but core fusion challenges persist.</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return and timing will determine the real deployment window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return and timing will determine the real deployment window</a:t>
            </a:r>
          </a:p>
          <a:p>
            <a:pPr>
              <a:defRPr sz="830">
                <a:solidFill>
                  <a:srgbClr val="64696E"/>
                </a:solidFill>
              </a:defRPr>
            </a:pPr>
            <a:r>
              <a:t>For fusion to compete in electricity markets, its levelized cost of energy (LCOE) must be comparable to or lower than existing low-carbon sources. Current projections for</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In contrast, solar and wind LCOE have already fallen below $30/MWh in many regions, and natural gas remains competitive at $20-40/MWh. Fusion's capital costs are estimated at $5-10 billion per GW, similar to fission, but construction timelines are unproven and</a:t>
            </a:r>
          </a:p>
          <a:p>
            <a:pPr>
              <a:spcAft>
                <a:spcPts val="600"/>
              </a:spcAft>
              <a:defRPr sz="819">
                <a:solidFill>
                  <a:srgbClr val="333333"/>
                </a:solidFill>
              </a:defRPr>
            </a:pPr>
            <a:r>
              <a:t>Financing costs will be higher for first-of-a-kind plants due to technology risk. Fusion's economic case may be stronger in applications where high-temperature heat is needed, such as industrial processes or hydrogen production, where renewables face challenge</a:t>
            </a:r>
          </a:p>
          <a:p>
            <a:pPr>
              <a:spcAft>
                <a:spcPts val="600"/>
              </a:spcAft>
              <a:defRPr sz="819">
                <a:solidFill>
                  <a:srgbClr val="333333"/>
                </a:solidFill>
              </a:defRPr>
            </a:pPr>
            <a:r>
              <a:t>To be viable, fusion must achieve high availability (above 90%) and low operating costs, which have not yet been demonstrated. Executives should treat fusion cost projections as directional and focus on the cost trajectory of competing technologies. The key qu</a:t>
            </a:r>
          </a:p>
          <a:p>
            <a:pPr>
              <a:spcBef>
                <a:spcPts val="600"/>
              </a:spcBef>
              <a:defRPr sz="819" b="1">
                <a:solidFill>
                  <a:srgbClr val="003087"/>
                </a:solidFill>
              </a:defRPr>
            </a:pPr>
            <a:r>
              <a:t>Key implications</a:t>
            </a:r>
          </a:p>
          <a:p>
            <a:pPr>
              <a:defRPr sz="730">
                <a:solidFill>
                  <a:srgbClr val="333333"/>
                </a:solidFill>
              </a:defRPr>
            </a:pPr>
            <a:r>
              <a:t>- Fusion LCOE projections are unverified and range widely.</a:t>
            </a:r>
          </a:p>
          <a:p>
            <a:pPr>
              <a:defRPr sz="730">
                <a:solidFill>
                  <a:srgbClr val="333333"/>
                </a:solidFill>
              </a:defRPr>
            </a:pPr>
            <a:r>
              <a:t>- Competing technologies (solar, wind, gas) are already cheaper.</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Regulation, policy and public acceptance can reset the speed of adoption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Regulation, policy and public acceptance can reset the speed of adoption</a:t>
            </a:r>
          </a:p>
          <a:p>
            <a:pPr>
              <a:defRPr sz="830">
                <a:solidFill>
                  <a:srgbClr val="64696E"/>
                </a:solidFill>
              </a:defRPr>
            </a:pPr>
            <a:r>
              <a:t>External rules can accelerate the market or change the risk budget and project timeline.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Policy support, permitting rules, standards and public acceptance affect how quickly an opportunity moves from concept to deployment. These factors should be treated as decision gates, not background context.</a:t>
            </a:r>
          </a:p>
          <a:p>
            <a:pPr>
              <a:spcAft>
                <a:spcPts val="600"/>
              </a:spcAft>
              <a:defRPr sz="819">
                <a:solidFill>
                  <a:srgbClr val="333333"/>
                </a:solidFill>
              </a:defRPr>
            </a:pPr>
            <a:r>
              <a:t>Where the regulatory path is unclear, the better move is usually standards engagement, policy tracking and low-risk pilots rather than an early heavy-asset commitment.</a:t>
            </a:r>
          </a:p>
          <a:p>
            <a:pPr>
              <a:spcAft>
                <a:spcPts val="600"/>
              </a:spcAft>
              <a:defRPr sz="819">
                <a:solidFill>
                  <a:srgbClr val="333333"/>
                </a:solidFill>
              </a:defRPr>
            </a:pPr>
            <a:r>
              <a:t>The board should track which policy events would change investment timing, such as licensing rules, procurement requirements, subsidy treatment, local approvals or safety standards.</a:t>
            </a:r>
          </a:p>
          <a:p>
            <a:pPr>
              <a:spcBef>
                <a:spcPts val="600"/>
              </a:spcBef>
              <a:defRPr sz="819" b="1">
                <a:solidFill>
                  <a:srgbClr val="003087"/>
                </a:solidFill>
              </a:defRPr>
            </a:pPr>
            <a:r>
              <a:t>Key implications</a:t>
            </a:r>
          </a:p>
          <a:p>
            <a:pPr>
              <a:defRPr sz="730">
                <a:solidFill>
                  <a:srgbClr val="333333"/>
                </a:solidFill>
              </a:defRPr>
            </a:pPr>
            <a:r>
              <a:t>- Policy events are external decision gates</a:t>
            </a:r>
          </a:p>
          <a:p>
            <a:pPr>
              <a:defRPr sz="730">
                <a:solidFill>
                  <a:srgbClr val="333333"/>
                </a:solidFill>
              </a:defRPr>
            </a:pPr>
            <a:r>
              <a:t>- Use options while regulation remains unclear</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Supply chain, partners and talent will decide who can act before the market is obvious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Supply chain, partners and talent will decide who can act before the market is obvious</a:t>
            </a:r>
          </a:p>
          <a:p>
            <a:pPr>
              <a:defRPr sz="830">
                <a:solidFill>
                  <a:srgbClr val="64696E"/>
                </a:solidFill>
              </a:defRPr>
            </a:pPr>
            <a:r>
              <a:t>Strategic advantage comes from ecosystem position rather than standalone product capability.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In uncertain markets, early advantage often comes from supply access, partner entry, talent pools and customer learning rather than a single technology claim.</a:t>
            </a:r>
          </a:p>
          <a:p>
            <a:pPr>
              <a:spcAft>
                <a:spcPts val="600"/>
              </a:spcAft>
              <a:defRPr sz="819">
                <a:solidFill>
                  <a:srgbClr val="333333"/>
                </a:solidFill>
              </a:defRPr>
            </a:pPr>
            <a:r>
              <a:t>Management should identify which capabilities are scarce and can be secured early: critical supply, engineering delivery, channel partners, service network, financing partners and compliance capacity. Low-cost learning rights can be more valuable than waiting</a:t>
            </a:r>
          </a:p>
          <a:p>
            <a:pPr>
              <a:spcAft>
                <a:spcPts val="600"/>
              </a:spcAft>
              <a:defRPr sz="819">
                <a:solidFill>
                  <a:srgbClr val="333333"/>
                </a:solidFill>
              </a:defRPr>
            </a:pPr>
            <a:r>
              <a:t>Partnerships should create observable proof points. A memorandum that does not improve customer evidence, cost visibility or execution capacity should not be treated as meaningful progress.</a:t>
            </a:r>
          </a:p>
          <a:p>
            <a:pPr>
              <a:spcBef>
                <a:spcPts val="600"/>
              </a:spcBef>
              <a:defRPr sz="819" b="1">
                <a:solidFill>
                  <a:srgbClr val="003087"/>
                </a:solidFill>
              </a:defRPr>
            </a:pPr>
            <a:r>
              <a:t>Key implications</a:t>
            </a:r>
          </a:p>
          <a:p>
            <a:pPr>
              <a:defRPr sz="730">
                <a:solidFill>
                  <a:srgbClr val="333333"/>
                </a:solidFill>
              </a:defRPr>
            </a:pPr>
            <a:r>
              <a:t>- Secure scarce capabilities early</a:t>
            </a:r>
          </a:p>
          <a:p>
            <a:pPr>
              <a:defRPr sz="730">
                <a:solidFill>
                  <a:srgbClr val="333333"/>
                </a:solidFill>
              </a:defRPr>
            </a:pPr>
            <a:r>
              <a:t>- Partnerships must produce proof points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Incumbents should protect near-term economics while preserving long-term options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Incumbents should protect near-term economics while preserving long-term options</a:t>
            </a:r>
          </a:p>
          <a:p>
            <a:pPr>
              <a:defRPr sz="830">
                <a:solidFill>
                  <a:srgbClr val="64696E"/>
                </a:solidFill>
              </a:defRPr>
            </a:pPr>
            <a:r>
              <a:t>The strongest posture is neither aggressive overcommitment nor passive observation.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incumbent businesses, the task is to protect near-term cash flow and customer relationships while avoiding strategic blindness to a long-term shift. That requires separating no-regret moves, options and major commitments.</a:t>
            </a:r>
          </a:p>
          <a:p>
            <a:pPr>
              <a:spcAft>
                <a:spcPts val="600"/>
              </a:spcAft>
              <a:defRPr sz="819">
                <a:solidFill>
                  <a:srgbClr val="333333"/>
                </a:solidFill>
              </a:defRPr>
            </a:pPr>
            <a:r>
              <a:t>No-regret moves include evidence ledgers, customer interviews, policy monitoring, supply-chain scans and small partner discussions. Option moves include pilots, preferential access and minority investments. Major commitments should wait for stronger proof.</a:t>
            </a:r>
          </a:p>
          <a:p>
            <a:pPr>
              <a:spcAft>
                <a:spcPts val="600"/>
              </a:spcAft>
              <a:defRPr sz="819">
                <a:solidFill>
                  <a:srgbClr val="333333"/>
                </a:solidFill>
              </a:defRPr>
            </a:pPr>
            <a:r>
              <a:t>This portfolio posture keeps the organization close to the opportunity without locking strategy and capital before the evidence base is ready.</a:t>
            </a:r>
          </a:p>
          <a:p>
            <a:pPr>
              <a:spcBef>
                <a:spcPts val="600"/>
              </a:spcBef>
              <a:defRPr sz="819" b="1">
                <a:solidFill>
                  <a:srgbClr val="003087"/>
                </a:solidFill>
              </a:defRPr>
            </a:pPr>
            <a:r>
              <a:t>Key implications</a:t>
            </a:r>
          </a:p>
          <a:p>
            <a:pPr>
              <a:defRPr sz="730">
                <a:solidFill>
                  <a:srgbClr val="333333"/>
                </a:solidFill>
              </a:defRPr>
            </a:pPr>
            <a:r>
              <a:t>- Separate no-regret moves from options and big bets</a:t>
            </a:r>
          </a:p>
          <a:p>
            <a:pPr>
              <a:defRPr sz="730">
                <a:solidFill>
                  <a:srgbClr val="333333"/>
                </a:solidFill>
              </a:defRPr>
            </a:pPr>
            <a:r>
              <a:t>- Protect near-term economics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The management agenda should translate uncertainty into quarterly decision gates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management agenda should translate uncertainty into quarterly decision gates</a:t>
            </a:r>
          </a:p>
          <a:p>
            <a:pPr>
              <a:defRPr sz="830">
                <a:solidFill>
                  <a:srgbClr val="64696E"/>
                </a:solidFill>
              </a:defRPr>
            </a:pPr>
            <a:r>
              <a:t>The report should end in owners, evidence thresholds and review cadence.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output should become a quarterly management agenda: every material claim needs an owner, evidence gate, review date and escalation condition.</a:t>
            </a:r>
          </a:p>
          <a:p>
            <a:pPr>
              <a:spcAft>
                <a:spcPts val="600"/>
              </a:spcAft>
              <a:defRPr sz="819">
                <a:solidFill>
                  <a:srgbClr val="333333"/>
                </a:solidFill>
              </a:defRPr>
            </a:pPr>
            <a:r>
              <a:t>Near-term work should close source, customer, cost and timeline gaps; medium-term work should test pilots and partners; long-term work should cover capital, M&amp;A or scaled entry only when decision gates are met.</a:t>
            </a:r>
          </a:p>
          <a:p>
            <a:pPr>
              <a:spcAft>
                <a:spcPts val="600"/>
              </a:spcAft>
              <a:defRPr sz="819">
                <a:solidFill>
                  <a:srgbClr val="333333"/>
                </a:solidFill>
              </a:defRPr>
            </a:pPr>
            <a:r>
              <a:t>If the next evidence review does not improve conviction, management should keep the issue in monitoring mode. If the core metrics move, the topic can be escalated to an investment committee discussion.</a:t>
            </a:r>
          </a:p>
          <a:p>
            <a:pPr>
              <a:spcBef>
                <a:spcPts val="600"/>
              </a:spcBef>
              <a:defRPr sz="819" b="1">
                <a:solidFill>
                  <a:srgbClr val="003087"/>
                </a:solidFill>
              </a:defRPr>
            </a:pPr>
            <a:r>
              <a:t>Key implications</a:t>
            </a:r>
          </a:p>
          <a:p>
            <a:pPr>
              <a:defRPr sz="730">
                <a:solidFill>
                  <a:srgbClr val="333333"/>
                </a:solidFill>
              </a:defRPr>
            </a:pPr>
            <a:r>
              <a:t>- Create quarterly evidence gates</a:t>
            </a:r>
          </a:p>
          <a:p>
            <a:pPr>
              <a:defRPr sz="730">
                <a:solidFill>
                  <a:srgbClr val="333333"/>
                </a:solidFill>
              </a:defRPr>
            </a:pPr>
            <a:r>
              <a:t>- Assign owners and review cadence</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Decision-moving facts matter more than market noise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Decision-moving facts matter more than market noise</a:t>
            </a:r>
          </a:p>
          <a:p>
            <a:pPr>
              <a:defRPr sz="830">
                <a:solidFill>
                  <a:srgbClr val="64696E"/>
                </a:solidFill>
              </a:defRPr>
            </a:pPr>
            <a:r>
              <a:t>The most useful monitoring lens focuses on customers, costs, regulation, competitors and financing.</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leadership teams, management should not treat media attention, financing announcements or single technical claims as decision signals on their own. More useful signals include customer procurement, cost movement, regulatory clarity, competitor commitments</a:t>
            </a:r>
          </a:p>
          <a:p>
            <a:pPr>
              <a:spcAft>
                <a:spcPts val="600"/>
              </a:spcAft>
              <a:defRPr sz="819">
                <a:solidFill>
                  <a:srgbClr val="333333"/>
                </a:solidFill>
              </a:defRPr>
            </a:pPr>
            <a:r>
              <a:t>Each signal should map to an action: keep monitoring, start a pilot, expand a partnership, pause commitment or escalate to the board.</a:t>
            </a:r>
          </a:p>
          <a:p>
            <a:pPr>
              <a:spcAft>
                <a:spcPts val="600"/>
              </a:spcAft>
              <a:defRPr sz="819">
                <a:solidFill>
                  <a:srgbClr val="333333"/>
                </a:solidFill>
              </a:defRPr>
            </a:pPr>
            <a:r>
              <a:t>That discipline turns uncertainty into a manageable operating rhythm rather than a swing between optimism and caution.</a:t>
            </a:r>
          </a:p>
          <a:p>
            <a:pPr>
              <a:spcBef>
                <a:spcPts val="600"/>
              </a:spcBef>
              <a:defRPr sz="819" b="1">
                <a:solidFill>
                  <a:srgbClr val="003087"/>
                </a:solidFill>
              </a:defRPr>
            </a:pPr>
            <a:r>
              <a:t>Key implications</a:t>
            </a:r>
          </a:p>
          <a:p>
            <a:pPr>
              <a:defRPr sz="730">
                <a:solidFill>
                  <a:srgbClr val="333333"/>
                </a:solidFill>
              </a:defRPr>
            </a:pPr>
            <a:r>
              <a:t>- Track facts that change decisions</a:t>
            </a:r>
          </a:p>
          <a:p>
            <a:pPr>
              <a:defRPr sz="730">
                <a:solidFill>
                  <a:srgbClr val="333333"/>
                </a:solidFill>
              </a:defRPr>
            </a:pPr>
            <a:r>
              <a:t>- Tie each signal to an action</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Analysis for Senior Executives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