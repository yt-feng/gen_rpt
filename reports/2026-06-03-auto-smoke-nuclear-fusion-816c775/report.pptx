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Decision-Ready Analysis for Senior Executives and Strategic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Technology Is Approaching Feasibility but Not Yet Commercial</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Fusion Economics Remain Speculative but Point to High Initial Costs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Fusion Could Reshape Energy Security and Geopolitical Alignments</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Nuclear Fusion Commercialization Outlook and Strategic Implications should be managed as a staged strategic op</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Supply chain, partners and talent will decide who can act before the market is obvious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{'title': 'Executive Summary', 'executive_summary_text': 'Nuclear fusion is approaching technical feasibility, with several private and</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Where the evidence pack does not support a number, the right output is a validation placeholder and diligence task rather than an inven</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near-term agenda should prioritize no-regret evidence building, medium-term strategic options and long-term commitments only after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Technology Is Approaching Feasibility but Not Yet Commercial</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Technology Is Approaching Feasibility but Not Yet Commercial</a:t>
            </a:r>
          </a:p>
          <a:p>
            <a:pPr>
              <a:defRPr sz="830">
                <a:solidFill>
                  <a:srgbClr val="64696E"/>
                </a:solidFill>
              </a:defRPr>
            </a:pPr>
            <a:r>
              <a:t>Fusion technology is advancing but remains at least a decade from commercial viability, requiring executives to monitor progress without near-term capital commitments.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been a scientific goal for decades, but recent advances in high-temperature superconductors, plasma control, and private investment have accelerated progress. The two dominant approaches are magnetic confinement (tokamaks and stellarators) a</a:t>
            </a:r>
          </a:p>
          <a:p>
            <a:pPr>
              <a:spcAft>
                <a:spcPts val="600"/>
              </a:spcAft>
              <a:defRPr sz="819">
                <a:solidFill>
                  <a:srgbClr val="333333"/>
                </a:solidFill>
              </a:defRPr>
            </a:pPr>
            <a:r>
              <a:t>ITER, the largest international project, aims for first plasma in 2025 and deuterium-tritium operation in 2035, but has faced repeated delays and cost overruns. SPARC, a private tokamak by Commonwealth Fusion Systems, targets net energy gain by 2027. Other not</a:t>
            </a:r>
          </a:p>
          <a:p>
            <a:pPr>
              <a:spcAft>
                <a:spcPts val="600"/>
              </a:spcAft>
              <a:defRPr sz="819">
                <a:solidFill>
                  <a:srgbClr val="333333"/>
                </a:solidFill>
              </a:defRPr>
            </a:pPr>
            <a:r>
              <a:t>The key engineering hurdles include developing materials that withstand high neutron fluxes, achieving tritium self-sufficiency through breeding, and maintaining plasma stability for extended periods. These challenges are solvable but require years of iterativ</a:t>
            </a:r>
          </a:p>
          <a:p>
            <a:pPr>
              <a:spcBef>
                <a:spcPts val="600"/>
              </a:spcBef>
              <a:defRPr sz="819" b="1">
                <a:solidFill>
                  <a:srgbClr val="003087"/>
                </a:solidFill>
              </a:defRPr>
            </a:pPr>
            <a:r>
              <a:t>Key implications</a:t>
            </a:r>
          </a:p>
          <a:p>
            <a:pPr>
              <a:defRPr sz="730">
                <a:solidFill>
                  <a:srgbClr val="333333"/>
                </a:solidFill>
              </a:defRPr>
            </a:pPr>
            <a:r>
              <a:t>- Fusion is not commercially viable before 2040; avoid near-term capital commitments.</a:t>
            </a:r>
          </a:p>
          <a:p>
            <a:pPr>
              <a:defRPr sz="730">
                <a:solidFill>
                  <a:srgbClr val="333333"/>
                </a:solidFill>
              </a:defRPr>
            </a:pPr>
            <a:r>
              <a:t>- Monitor milestones from ITER, SPARC, and other leading projects for technical validation.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Economics Remain Speculative but Point to High Initial Costs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Economics Remain Speculative but Point to High Initial Costs</a:t>
            </a:r>
          </a:p>
          <a:p>
            <a:pPr>
              <a:defRPr sz="830">
                <a:solidFill>
                  <a:srgbClr val="64696E"/>
                </a:solidFill>
              </a:defRPr>
            </a:pPr>
            <a:r>
              <a:t>Fusion's initial costs are likely to be high, making it uncompetitive with renewables in the 2030s; executives should focus on niche applications where reliability comman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levelized cost of electricity (LCOE) from fusion is highly uncertain, with estimates ranging from $50 to over $100 per MWh for first-of-a-kind plants. This compares unfavorably to current solar ($20-40/MWh), wind ($30-50/MWh), and natural gas ($40-60/MWh).</a:t>
            </a:r>
          </a:p>
          <a:p>
            <a:pPr>
              <a:spcAft>
                <a:spcPts val="600"/>
              </a:spcAft>
              <a:defRPr sz="819">
                <a:solidFill>
                  <a:srgbClr val="333333"/>
                </a:solidFill>
              </a:defRPr>
            </a:pPr>
            <a:r>
              <a:t>Capital costs are expected to be very high, potentially $5-10 billion per GW, due to complex reactor systems and containment structures. Financing models may require government guarantees or long-term power purchase agreements to attract private capital. Marke</a:t>
            </a:r>
          </a:p>
          <a:p>
            <a:pPr>
              <a:spcAft>
                <a:spcPts val="600"/>
              </a:spcAft>
              <a:defRPr sz="819">
                <a:solidFill>
                  <a:srgbClr val="333333"/>
                </a:solidFill>
              </a:defRPr>
            </a:pPr>
            <a:r>
              <a:t>Under optimistic scenarios, fusion could capture 5-10% of global electricity generation by 2050, but this requires sustained investment and policy support. Pessimistic scenarios see fusion remaining niche, limited to regions with high electricity prices or spe</a:t>
            </a:r>
          </a:p>
          <a:p>
            <a:pPr>
              <a:spcBef>
                <a:spcPts val="600"/>
              </a:spcBef>
              <a:defRPr sz="819" b="1">
                <a:solidFill>
                  <a:srgbClr val="003087"/>
                </a:solidFill>
              </a:defRPr>
            </a:pPr>
            <a:r>
              <a:t>Key implications</a:t>
            </a:r>
          </a:p>
          <a:p>
            <a:pPr>
              <a:defRPr sz="730">
                <a:solidFill>
                  <a:srgbClr val="333333"/>
                </a:solidFill>
              </a:defRPr>
            </a:pPr>
            <a:r>
              <a:t>- Fusion LCOE is speculative but likely higher than renewables initially; focus on reliability val</a:t>
            </a:r>
          </a:p>
          <a:p>
            <a:pPr>
              <a:defRPr sz="730">
                <a:solidFill>
                  <a:srgbClr val="333333"/>
                </a:solidFill>
              </a:defRPr>
            </a:pPr>
            <a:r>
              <a:t>- Capital costs of $5-10 billion per GW require government-backed financing or long-term PPAs.</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Could Reshape Energy Security and Geopolitical Alignments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Could Reshape Energy Security and Geopolitical Alignments</a:t>
            </a:r>
          </a:p>
          <a:p>
            <a:pPr>
              <a:defRPr sz="830">
                <a:solidFill>
                  <a:srgbClr val="64696E"/>
                </a:solidFill>
              </a:defRPr>
            </a:pPr>
            <a:r>
              <a:t>Fusion could enhance energy independence for technology-holding nations, but may create new dependencies; executives should monitor regional programs and hedge with allie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fuel is abundant: deuterium is extracted from water, and tritium can be bred from lithium. This could reduce dependence on fossil fuel exporters and enhance energy independence for countries with fusion technology. Regions with strong fusion programs—th</a:t>
            </a:r>
          </a:p>
          <a:p>
            <a:pPr>
              <a:spcAft>
                <a:spcPts val="600"/>
              </a:spcAft>
              <a:defRPr sz="819">
                <a:solidFill>
                  <a:srgbClr val="333333"/>
                </a:solidFill>
              </a:defRPr>
            </a:pPr>
            <a:r>
              <a:t>Fusion could also alter climate policy by providing a low-carbon baseload power source that complements intermittent renewables. This could accelerate decarbonization in hard-to-abate sectors like heavy industry and long-distance transport. However, fusion's g</a:t>
            </a:r>
          </a:p>
          <a:p>
            <a:pPr>
              <a:spcAft>
                <a:spcPts val="600"/>
              </a:spcAft>
              <a:defRPr sz="819">
                <a:solidFill>
                  <a:srgbClr val="333333"/>
                </a:solidFill>
              </a:defRPr>
            </a:pPr>
            <a:r>
              <a:t>A practical reading is that the key implication is to monitor fusion developments in key regions and consider how shifts in energy trade could affect supply chains, market access, and regulatory environments. Early engagement with fusion programs in allied cou</a:t>
            </a:r>
          </a:p>
          <a:p>
            <a:pPr>
              <a:spcBef>
                <a:spcPts val="600"/>
              </a:spcBef>
              <a:defRPr sz="819" b="1">
                <a:solidFill>
                  <a:srgbClr val="003087"/>
                </a:solidFill>
              </a:defRPr>
            </a:pPr>
            <a:r>
              <a:t>Key implications</a:t>
            </a:r>
          </a:p>
          <a:p>
            <a:pPr>
              <a:defRPr sz="730">
                <a:solidFill>
                  <a:srgbClr val="333333"/>
                </a:solidFill>
              </a:defRPr>
            </a:pPr>
            <a:r>
              <a:t>- Fusion could reduce fossil fuel dependence but may create new technology dependencies.</a:t>
            </a:r>
          </a:p>
          <a:p>
            <a:pPr>
              <a:defRPr sz="730">
                <a:solidFill>
                  <a:srgbClr val="333333"/>
                </a:solidFill>
              </a:defRPr>
            </a:pPr>
            <a:r>
              <a:t>- Monitor fusion programs in US, EU, China, Japan, and South Korea for strategic shifts.</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Outlook and Strategic Implications should be managed as a staged strategic option, not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Outlook and Strategic Implications should be managed as a staged strategic option, no</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Nuclear Fusion Commercialization Outlook and Strategic Implications should be separated into verified facts, directional scenarios and open diligence items. That boundary keeps the report from turning market enthusiasm or technical narrative in</a:t>
            </a:r>
          </a:p>
          <a:p>
            <a:pPr>
              <a:spcAft>
                <a:spcPts val="600"/>
              </a:spcAft>
              <a:defRPr sz="819">
                <a:solidFill>
                  <a:srgbClr val="333333"/>
                </a:solidFill>
              </a:defRPr>
            </a:pPr>
            <a:r>
              <a:t>The immediate management question is not whether the opportunity is exciting; it is whether budget, partner access or management attention should be committed now. Low-cost validation can start early, while larger capital commitments should wait for customer,</a:t>
            </a:r>
          </a:p>
          <a:p>
            <a:pPr>
              <a:spcAft>
                <a:spcPts val="600"/>
              </a:spcAft>
              <a:defRPr sz="819">
                <a:solidFill>
                  <a:srgbClr val="333333"/>
                </a:solidFill>
              </a:defRPr>
            </a:pPr>
            <a:r>
              <a:t>The current evidence posture is: Public evidence retained in the source backup; additional validation is required for unsupported claims. This makes a quarterly decision cadence more useful than a one-time yes-or-no judgment.</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Management should require every major assumption to tie back to a verifiable claim: target customer, buying trigger, budget owner, substitute, use case and payback path. Where public evidence is missing, the report should keep the claim directional.</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Every opportunity eventually returns to cost, revenue, margin, cash flow and timing. If public evidence does not support market size, ROI, unit economics or share, those items should remain validation tasks rather than report conclusions.</a:t>
            </a:r>
          </a:p>
          <a:p>
            <a:pPr>
              <a:spcAft>
                <a:spcPts val="600"/>
              </a:spcAft>
              <a:defRPr sz="819">
                <a:solidFill>
                  <a:srgbClr val="333333"/>
                </a:solidFill>
              </a:defRPr>
            </a:pPr>
            <a:r>
              <a:t>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gates</a:t>
            </a:r>
          </a:p>
          <a:p>
            <a:pPr>
              <a:defRPr sz="730">
                <a:solidFill>
                  <a:srgbClr val="333333"/>
                </a:solidFill>
              </a:defRPr>
            </a:pPr>
            <a:r>
              <a:t>- Use options while regulation remains unclear</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Supply chain, partners and talent will decide who can act before the market is obvious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Supply chain, partners and talent will decide who can act before the market is obvious</a:t>
            </a:r>
          </a:p>
          <a:p>
            <a:pPr>
              <a:defRPr sz="830">
                <a:solidFill>
                  <a:srgbClr val="64696E"/>
                </a:solidFill>
              </a:defRPr>
            </a:pPr>
            <a:r>
              <a:t>Strategic advantage comes from ecosystem position rather than standalone product capability.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 uncertain markets, early advantage often comes from supply access, partner entry, talent pools and customer learning rather than a single technology claim.</a:t>
            </a:r>
          </a:p>
          <a:p>
            <a:pPr>
              <a:spcAft>
                <a:spcPts val="600"/>
              </a:spcAft>
              <a:defRPr sz="819">
                <a:solidFill>
                  <a:srgbClr val="333333"/>
                </a:solidFill>
              </a:defRPr>
            </a:pPr>
            <a:r>
              <a:t>Management should identify which capabilities are scarce and can be secured early: critical supply, engineering delivery, channel partners, service network, financing partners and compliance capacity. Low-cost learning rights can be more valuable than waiting</a:t>
            </a:r>
          </a:p>
          <a:p>
            <a:pPr>
              <a:spcAft>
                <a:spcPts val="600"/>
              </a:spcAft>
              <a:defRPr sz="819">
                <a:solidFill>
                  <a:srgbClr val="333333"/>
                </a:solidFill>
              </a:defRPr>
            </a:pPr>
            <a:r>
              <a:t>Partnerships should create observable proof points. A memorandum that does not improve customer evidence, cost visibility or execution capacity should not be treated as meaningful progress.</a:t>
            </a:r>
          </a:p>
          <a:p>
            <a:pPr>
              <a:spcBef>
                <a:spcPts val="600"/>
              </a:spcBef>
              <a:defRPr sz="819" b="1">
                <a:solidFill>
                  <a:srgbClr val="003087"/>
                </a:solidFill>
              </a:defRPr>
            </a:pPr>
            <a:r>
              <a:t>Key implications</a:t>
            </a:r>
          </a:p>
          <a:p>
            <a:pPr>
              <a:defRPr sz="730">
                <a:solidFill>
                  <a:srgbClr val="333333"/>
                </a:solidFill>
              </a:defRPr>
            </a:pPr>
            <a:r>
              <a:t>- Secure scarce capabilities early</a:t>
            </a:r>
          </a:p>
          <a:p>
            <a:pPr>
              <a:defRPr sz="730">
                <a:solidFill>
                  <a:srgbClr val="333333"/>
                </a:solidFill>
              </a:defRPr>
            </a:pPr>
            <a:r>
              <a:t>- Partnerships must produce proof points</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Analysis for Senior Executives and Strategic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