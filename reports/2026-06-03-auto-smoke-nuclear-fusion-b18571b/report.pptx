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Analysis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Technology Is Approaching Technical Breakeven but Commercial Viability Remains a Decade or More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Magnetic Confinement Leads in Maturity, but Alternative Approaches May Offer Faster Paths to Market</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Levelized Cost of Fusion Electricity Is Highly Uncertain, with Estimates Ranging from Competitive to Significa</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Regulatory and Safety Frameworks for Fusion Are Nascent but Likely to Be Less Burdensome Than Fission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Nuclear Fusion Commercialization Outlook and Strategic Implications should be managed as a staged strategic op</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technology has achieved scientific breakeven (Q&gt;1) in laboratory settings, but no plant has demonstrated sustained net-positive</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Levelized cost of electricity (LCOE) for fusion is highly uncertain, with estimates ranging from $50/MWh to over $150/MWh by 2050, comp</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Private fusion investment has surged past $6 billion globally, led by companies like Commonwealth Fusion Systems, Helion Energy, and TA</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Regulatory frameworks for fusion are nascent but likely to be less burdensome than fission due to inherent safety advantages; early eng</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Early commercial applications will likely target industrial heat and data centers before grid-scale power, offering a lower-risk entry</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Technology Is Approaching Technical Breakeven but Commercial Viability Remains a Decade or More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Technology Is Approaching Technical Breakeven but Commercial Viability Remains a Decade or More Away</a:t>
            </a:r>
          </a:p>
          <a:p>
            <a:pPr>
              <a:defRPr sz="830">
                <a:solidFill>
                  <a:srgbClr val="64696E"/>
                </a:solidFill>
              </a:defRPr>
            </a:pPr>
            <a:r>
              <a:t>This chapter concludes that fusion technology is real but not imminent, requiring staged investment with clear milestones.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hailed as the holy grail of clean energy, but the gap between scientific achievement and commercial reality remains wide. In 2022, the National Ignition Facility (NIF) achieved a net energy gain of Q=1. However, this was a single-s</a:t>
            </a:r>
          </a:p>
          <a:p>
            <a:pPr>
              <a:spcAft>
                <a:spcPts val="600"/>
              </a:spcAft>
              <a:defRPr sz="819">
                <a:solidFill>
                  <a:srgbClr val="333333"/>
                </a:solidFill>
              </a:defRPr>
            </a:pPr>
            <a:r>
              <a:t>For leadership teams, the key takeaway is that fusion is real but not imminent. Investment should be staged, with clear milestones for go/no-go decisions.</a:t>
            </a:r>
          </a:p>
          <a:p>
            <a:pPr>
              <a:spcAft>
                <a:spcPts val="600"/>
              </a:spcAft>
              <a:defRPr sz="819">
                <a:solidFill>
                  <a:srgbClr val="333333"/>
                </a:solidFill>
              </a:defRPr>
            </a:pPr>
            <a:r>
              <a:t>The diversity of fusion approaches—magnetic confinement, inertial confinement, and alternative concepts—increases the chance of success but also the risk of backing the wrong horse. Magnetic confinement, particularly the tokamak design, is the most mature, wit</a:t>
            </a:r>
          </a:p>
          <a:p>
            <a:pPr>
              <a:spcBef>
                <a:spcPts val="600"/>
              </a:spcBef>
              <a:defRPr sz="819" b="1">
                <a:solidFill>
                  <a:srgbClr val="003087"/>
                </a:solidFill>
              </a:defRPr>
            </a:pPr>
            <a:r>
              <a:t>Key implications</a:t>
            </a:r>
          </a:p>
          <a:p>
            <a:pPr>
              <a:defRPr sz="730">
                <a:solidFill>
                  <a:srgbClr val="333333"/>
                </a:solidFill>
              </a:defRPr>
            </a:pPr>
            <a:r>
              <a:t>- Fusion has achieved scientific breakeven but not engineering or commercial breakeven.</a:t>
            </a:r>
          </a:p>
          <a:p>
            <a:pPr>
              <a:defRPr sz="730">
                <a:solidFill>
                  <a:srgbClr val="333333"/>
                </a:solidFill>
              </a:defRPr>
            </a:pPr>
            <a:r>
              <a:t>- A portfolio approach across multiple fusion technologies reduces risk.</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Magnetic Confinement Leads in Maturity, but Alternative Approaches May Offer Faster Paths to Market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Magnetic Confinement Leads in Maturity, but Alternative Approaches May Offer Faster Paths to Market</a:t>
            </a:r>
          </a:p>
          <a:p>
            <a:pPr>
              <a:defRPr sz="830">
                <a:solidFill>
                  <a:srgbClr val="64696E"/>
                </a:solidFill>
              </a:defRPr>
            </a:pPr>
            <a:r>
              <a:t>This chapter concludes that while magnetic confinement is most mature, alternative approaches could accelerate commercialization, requiring diversified investment.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Magnetic confinement, particularly the tokamak design, is the most mature fusion technology. Stellarators, like Wendelstein 7-X, offer better stability but are more complex. Inertial confinement, as used by NIF, is less suited for continuous power generation.</a:t>
            </a:r>
          </a:p>
          <a:p>
            <a:pPr>
              <a:spcAft>
                <a:spcPts val="600"/>
              </a:spcAft>
              <a:defRPr sz="819">
                <a:solidFill>
                  <a:srgbClr val="333333"/>
                </a:solidFill>
              </a:defRPr>
            </a:pPr>
            <a:r>
              <a:t>A portfolio strategy that invests in multiple technologies is prudent.</a:t>
            </a:r>
          </a:p>
          <a:p>
            <a:pPr>
              <a:spcAft>
                <a:spcPts val="600"/>
              </a:spcAft>
              <a:defRPr sz="819">
                <a:solidFill>
                  <a:srgbClr val="333333"/>
                </a:solidFill>
              </a:defRPr>
            </a:pPr>
            <a:r>
              <a:t>The timeline for each approach varies. ITER's delays highlight the challenges of large-scale projects. Private companies like CFS and Helion claim faster timelines, but these are unproven. CFS's SPARC aims for first plasma in 2025 and net-positive energy by 20</a:t>
            </a:r>
          </a:p>
          <a:p>
            <a:pPr>
              <a:spcBef>
                <a:spcPts val="600"/>
              </a:spcBef>
              <a:defRPr sz="819" b="1">
                <a:solidFill>
                  <a:srgbClr val="003087"/>
                </a:solidFill>
              </a:defRPr>
            </a:pPr>
            <a:r>
              <a:t>Key implications</a:t>
            </a:r>
          </a:p>
          <a:p>
            <a:pPr>
              <a:defRPr sz="730">
                <a:solidFill>
                  <a:srgbClr val="333333"/>
                </a:solidFill>
              </a:defRPr>
            </a:pPr>
            <a:r>
              <a:t>- Magnetic confinement is most mature but faces scale and timeline risks.</a:t>
            </a:r>
          </a:p>
          <a:p>
            <a:pPr>
              <a:defRPr sz="730">
                <a:solidFill>
                  <a:srgbClr val="333333"/>
                </a:solidFill>
              </a:defRPr>
            </a:pPr>
            <a:r>
              <a:t>- Alternative approaches could offer faster, cheaper paths but are less proven.</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Levelized Cost of Fusion Electricity Is Highly Uncertain, with Estimates Ranging from Competitive to Significantly Highe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Levelized Cost of Fusion Electricity Is Highly Uncertain, with Estimates Ranging from Competitive to Significantly Hig</a:t>
            </a:r>
          </a:p>
          <a:p>
            <a:pPr>
              <a:defRPr sz="830">
                <a:solidFill>
                  <a:srgbClr val="64696E"/>
                </a:solidFill>
              </a:defRPr>
            </a:pPr>
            <a:r>
              <a:t>This chapter concludes that fusion's cost competitiveness is uncertain and likely requires premium markets or carbon pricing to be viable.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No commercial fusion plant exists, so LCOE estimates are based on engineering models and assumptions. The US Department of Energy's Fusion Energy Sciences Advisory Committee has estimated a range of $50-$150/MWh for first-of-a-kind plants, with potential to fa</a:t>
            </a:r>
          </a:p>
          <a:p>
            <a:pPr>
              <a:spcAft>
                <a:spcPts val="600"/>
              </a:spcAft>
              <a:defRPr sz="819">
                <a:solidFill>
                  <a:srgbClr val="333333"/>
                </a:solidFill>
              </a:defRPr>
            </a:pPr>
            <a:r>
              <a:t>For strategic planning, assume fusion will not compete on cost alone but on reliability and carbon-free attributes.</a:t>
            </a:r>
          </a:p>
          <a:p>
            <a:pPr>
              <a:spcAft>
                <a:spcPts val="600"/>
              </a:spcAft>
              <a:defRPr sz="819">
                <a:solidFill>
                  <a:srgbClr val="333333"/>
                </a:solidFill>
              </a:defRPr>
            </a:pPr>
            <a:r>
              <a:t>The capital cost of a first-of-a-kind fusion plant is estimated at $5-10 billion, with significant uncertainty. This is comparable to large nuclear fission plants but with lower fuel and waste costs. However, fusion plants are expected to have higher availabil</a:t>
            </a:r>
          </a:p>
          <a:p>
            <a:pPr>
              <a:spcBef>
                <a:spcPts val="600"/>
              </a:spcBef>
              <a:defRPr sz="819" b="1">
                <a:solidFill>
                  <a:srgbClr val="003087"/>
                </a:solidFill>
              </a:defRPr>
            </a:pPr>
            <a:r>
              <a:t>Key implications</a:t>
            </a:r>
          </a:p>
          <a:p>
            <a:pPr>
              <a:defRPr sz="730">
                <a:solidFill>
                  <a:srgbClr val="333333"/>
                </a:solidFill>
              </a:defRPr>
            </a:pPr>
            <a:r>
              <a:t>- Fusion LCOE is highly uncertain, ranging from $50-$150/MWh for first-of-a-kind.</a:t>
            </a:r>
          </a:p>
          <a:p>
            <a:pPr>
              <a:defRPr sz="730">
                <a:solidFill>
                  <a:srgbClr val="333333"/>
                </a:solidFill>
              </a:defRPr>
            </a:pPr>
            <a:r>
              <a:t>- Fusion will likely require premium markets or carbon pricing to compete with renewables.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Safety Frameworks for Fusion Are Nascent but Likely to Be Less Burdensome Than Fission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Safety Frameworks for Fusion Are Nascent but Likely to Be Less Burdensome Than Fission</a:t>
            </a:r>
          </a:p>
          <a:p>
            <a:pPr>
              <a:defRPr sz="830">
                <a:solidFill>
                  <a:srgbClr val="64696E"/>
                </a:solidFill>
              </a:defRPr>
            </a:pPr>
            <a:r>
              <a:t>This chapter concludes that fusion's inherent safety advantages will likely lead to lighter regulation, but early engagement is critical to shape favorable rules.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reactors are inherently safer than fission: no meltdown risk, no long-lived radioactive waste, and no proliferation of weapons-grade material. This has led regulators in the US, UK, and Japan to develop fusion-specific licensing frameworks that are ligh</a:t>
            </a:r>
          </a:p>
          <a:p>
            <a:pPr>
              <a:spcAft>
                <a:spcPts val="600"/>
              </a:spcAft>
              <a:defRPr sz="819">
                <a:solidFill>
                  <a:srgbClr val="333333"/>
                </a:solidFill>
              </a:defRPr>
            </a:pPr>
            <a:r>
              <a:t>The regulatory timeline for fusion is uncertain but could be shorter than for fission. The NRC's proposed rule for fusion is expected</a:t>
            </a:r>
          </a:p>
          <a:p>
            <a:pPr>
              <a:spcAft>
                <a:spcPts val="600"/>
              </a:spcAft>
              <a:defRPr sz="819">
                <a:solidFill>
                  <a:srgbClr val="333333"/>
                </a:solidFill>
              </a:defRPr>
            </a:pPr>
            <a:r>
              <a:t>The source backup should be used to validate this section before it is used for a decision.</a:t>
            </a:r>
          </a:p>
          <a:p>
            <a:pPr>
              <a:spcBef>
                <a:spcPts val="600"/>
              </a:spcBef>
              <a:defRPr sz="819" b="1">
                <a:solidFill>
                  <a:srgbClr val="003087"/>
                </a:solidFill>
              </a:defRPr>
            </a:pPr>
            <a:r>
              <a:t>Key implications</a:t>
            </a:r>
          </a:p>
          <a:p>
            <a:pPr>
              <a:defRPr sz="730">
                <a:solidFill>
                  <a:srgbClr val="333333"/>
                </a:solidFill>
              </a:defRPr>
            </a:pPr>
            <a:r>
              <a:t>- Regulatory frameworks for fusion are nascent but likely to be less burdensome than fission due t</a:t>
            </a:r>
          </a:p>
          <a:p>
            <a:pPr>
              <a:defRPr sz="730">
                <a:solidFill>
                  <a:srgbClr val="333333"/>
                </a:solidFill>
              </a:defRPr>
            </a:pPr>
            <a:r>
              <a:t>- Confirm the evidence boundary before committing capital.</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Outlook and Strategic Implications should be managed as a staged strategic option, not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Outlook and Strategic Implications should be managed as a staged strategic option, no</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Outlook and Strategic Implications should be separated into verified facts, directional scenarios and open diligence items. That boundary keeps the report from turning market enthusiasm or technical narrative in</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the report should keep the claim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