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ai.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685800"/>
            <a:ext cx="4892040" cy="3429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685800"/>
            <a:ext cx="4892040" cy="73152"/>
          </a:xfrm>
          <a:prstGeom prst="rect">
            <a:avLst/>
          </a:prstGeom>
          <a:solidFill>
            <a:srgbClr val="32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960120"/>
            <a:ext cx="4251960" cy="2743200"/>
          </a:xfrm>
          <a:prstGeom prst="rect">
            <a:avLst/>
          </a:prstGeom>
          <a:noFill/>
        </p:spPr>
        <p:txBody>
          <a:bodyPr wrap="square">
            <a:spAutoFit/>
          </a:bodyPr>
          <a:lstStyle/>
          <a:p>
            <a:pPr>
              <a:defRPr sz="900" b="1">
                <a:solidFill>
                  <a:srgbClr val="003087"/>
                </a:solidFill>
              </a:defRPr>
            </a:pPr>
            <a:r>
              <a:t>BLUEOCEAN</a:t>
            </a:r>
          </a:p>
          <a:p>
            <a:pPr>
              <a:spcBef>
                <a:spcPts val="1800"/>
              </a:spcBef>
              <a:defRPr sz="2300">
                <a:solidFill>
                  <a:srgbClr val="333333"/>
                </a:solidFill>
              </a:defRPr>
            </a:pPr>
            <a:r>
              <a:t>Nuclear Fusion Commercialization: Strategic Implications for Energy Markets and Geopolitics</a:t>
            </a:r>
          </a:p>
          <a:p>
            <a:pPr>
              <a:spcBef>
                <a:spcPts val="1400"/>
              </a:spcBef>
              <a:defRPr sz="950">
                <a:solidFill>
                  <a:srgbClr val="64696E"/>
                </a:solidFill>
              </a:defRPr>
            </a:pPr>
            <a:r>
              <a:t>A Decision-Ready Assessment for Senior Executives and Policymakers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Contents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discussion follows the management question, evidence, and implications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17320"/>
            <a:ext cx="502920" cy="274320"/>
          </a:xfrm>
          <a:prstGeom prst="rect">
            <a:avLst/>
          </a:prstGeom>
          <a:noFill/>
        </p:spPr>
        <p:txBody>
          <a:bodyPr wrap="none">
            <a:spAutoFit/>
          </a:bodyPr>
          <a:lstStyle/>
          <a:p>
            <a:pPr>
              <a:defRPr sz="950" b="1">
                <a:solidFill>
                  <a:srgbClr val="003087"/>
                </a:solidFill>
              </a:defRPr>
            </a:pPr>
            <a:r>
              <a:t>01</a:t>
            </a:r>
          </a:p>
        </p:txBody>
      </p:sp>
      <p:sp>
        <p:nvSpPr>
          <p:cNvPr id="7" name="TextBox 6"/>
          <p:cNvSpPr txBox="1"/>
          <p:nvPr/>
        </p:nvSpPr>
        <p:spPr>
          <a:xfrm>
            <a:off x="1143000" y="1417320"/>
            <a:ext cx="9601200" cy="384048"/>
          </a:xfrm>
          <a:prstGeom prst="rect">
            <a:avLst/>
          </a:prstGeom>
          <a:noFill/>
        </p:spPr>
        <p:txBody>
          <a:bodyPr wrap="none">
            <a:spAutoFit/>
          </a:bodyPr>
          <a:lstStyle/>
          <a:p>
            <a:pPr>
              <a:defRPr sz="1260">
                <a:solidFill>
                  <a:srgbClr val="333333"/>
                </a:solidFill>
              </a:defRPr>
            </a:pPr>
            <a:r>
              <a:t>Nuclear Fusion Is Approaching Technical Breakeven but Commercialization Remains a Decade or More Away</a:t>
            </a:r>
          </a:p>
        </p:txBody>
      </p:sp>
      <p:sp>
        <p:nvSpPr>
          <p:cNvPr id="8" name="TextBox 7"/>
          <p:cNvSpPr txBox="1"/>
          <p:nvPr/>
        </p:nvSpPr>
        <p:spPr>
          <a:xfrm>
            <a:off x="566928" y="1874520"/>
            <a:ext cx="502920" cy="274320"/>
          </a:xfrm>
          <a:prstGeom prst="rect">
            <a:avLst/>
          </a:prstGeom>
          <a:noFill/>
        </p:spPr>
        <p:txBody>
          <a:bodyPr wrap="none">
            <a:spAutoFit/>
          </a:bodyPr>
          <a:lstStyle/>
          <a:p>
            <a:pPr>
              <a:defRPr sz="950" b="1">
                <a:solidFill>
                  <a:srgbClr val="003087"/>
                </a:solidFill>
              </a:defRPr>
            </a:pPr>
            <a:r>
              <a:t>02</a:t>
            </a:r>
          </a:p>
        </p:txBody>
      </p:sp>
      <p:sp>
        <p:nvSpPr>
          <p:cNvPr id="9" name="TextBox 8"/>
          <p:cNvSpPr txBox="1"/>
          <p:nvPr/>
        </p:nvSpPr>
        <p:spPr>
          <a:xfrm>
            <a:off x="1143000" y="1874520"/>
            <a:ext cx="9601200" cy="384048"/>
          </a:xfrm>
          <a:prstGeom prst="rect">
            <a:avLst/>
          </a:prstGeom>
          <a:noFill/>
        </p:spPr>
        <p:txBody>
          <a:bodyPr wrap="none">
            <a:spAutoFit/>
          </a:bodyPr>
          <a:lstStyle/>
          <a:p>
            <a:pPr>
              <a:defRPr sz="1260">
                <a:solidFill>
                  <a:srgbClr val="333333"/>
                </a:solidFill>
              </a:defRPr>
            </a:pPr>
            <a:r>
              <a:t>Private Fusion Ventures Have Accelerated Timelines but Face Significant Engineering and Cost Hurdles</a:t>
            </a:r>
          </a:p>
        </p:txBody>
      </p:sp>
      <p:sp>
        <p:nvSpPr>
          <p:cNvPr id="10" name="TextBox 9"/>
          <p:cNvSpPr txBox="1"/>
          <p:nvPr/>
        </p:nvSpPr>
        <p:spPr>
          <a:xfrm>
            <a:off x="566928" y="2331720"/>
            <a:ext cx="502920" cy="274320"/>
          </a:xfrm>
          <a:prstGeom prst="rect">
            <a:avLst/>
          </a:prstGeom>
          <a:noFill/>
        </p:spPr>
        <p:txBody>
          <a:bodyPr wrap="none">
            <a:spAutoFit/>
          </a:bodyPr>
          <a:lstStyle/>
          <a:p>
            <a:pPr>
              <a:defRPr sz="950" b="1">
                <a:solidFill>
                  <a:srgbClr val="003087"/>
                </a:solidFill>
              </a:defRPr>
            </a:pPr>
            <a:r>
              <a:t>03</a:t>
            </a:r>
          </a:p>
        </p:txBody>
      </p:sp>
      <p:sp>
        <p:nvSpPr>
          <p:cNvPr id="11" name="TextBox 10"/>
          <p:cNvSpPr txBox="1"/>
          <p:nvPr/>
        </p:nvSpPr>
        <p:spPr>
          <a:xfrm>
            <a:off x="1143000" y="2331720"/>
            <a:ext cx="9601200" cy="384048"/>
          </a:xfrm>
          <a:prstGeom prst="rect">
            <a:avLst/>
          </a:prstGeom>
          <a:noFill/>
        </p:spPr>
        <p:txBody>
          <a:bodyPr wrap="none">
            <a:spAutoFit/>
          </a:bodyPr>
          <a:lstStyle/>
          <a:p>
            <a:pPr>
              <a:defRPr sz="1260">
                <a:solidFill>
                  <a:srgbClr val="333333"/>
                </a:solidFill>
              </a:defRPr>
            </a:pPr>
            <a:r>
              <a:t>Fusion's Economic Competitiveness Depends on Cost Reductions in Competing Low-Carbon Technologies</a:t>
            </a:r>
          </a:p>
        </p:txBody>
      </p:sp>
      <p:sp>
        <p:nvSpPr>
          <p:cNvPr id="12" name="TextBox 11"/>
          <p:cNvSpPr txBox="1"/>
          <p:nvPr/>
        </p:nvSpPr>
        <p:spPr>
          <a:xfrm>
            <a:off x="566928" y="2788920"/>
            <a:ext cx="502920" cy="274320"/>
          </a:xfrm>
          <a:prstGeom prst="rect">
            <a:avLst/>
          </a:prstGeom>
          <a:noFill/>
        </p:spPr>
        <p:txBody>
          <a:bodyPr wrap="none">
            <a:spAutoFit/>
          </a:bodyPr>
          <a:lstStyle/>
          <a:p>
            <a:pPr>
              <a:defRPr sz="950" b="1">
                <a:solidFill>
                  <a:srgbClr val="003087"/>
                </a:solidFill>
              </a:defRPr>
            </a:pPr>
            <a:r>
              <a:t>04</a:t>
            </a:r>
          </a:p>
        </p:txBody>
      </p:sp>
      <p:sp>
        <p:nvSpPr>
          <p:cNvPr id="13" name="TextBox 12"/>
          <p:cNvSpPr txBox="1"/>
          <p:nvPr/>
        </p:nvSpPr>
        <p:spPr>
          <a:xfrm>
            <a:off x="1143000" y="2788920"/>
            <a:ext cx="9601200" cy="384048"/>
          </a:xfrm>
          <a:prstGeom prst="rect">
            <a:avLst/>
          </a:prstGeom>
          <a:noFill/>
        </p:spPr>
        <p:txBody>
          <a:bodyPr wrap="none">
            <a:spAutoFit/>
          </a:bodyPr>
          <a:lstStyle/>
          <a:p>
            <a:pPr>
              <a:defRPr sz="1260">
                <a:solidFill>
                  <a:srgbClr val="333333"/>
                </a:solidFill>
              </a:defRPr>
            </a:pPr>
            <a:r>
              <a:t>Strategic Implications of Fusion Include Energy Independence, Reduced Fossil Fuel Dependence, and New Prolifer</a:t>
            </a:r>
          </a:p>
        </p:txBody>
      </p:sp>
      <p:sp>
        <p:nvSpPr>
          <p:cNvPr id="14" name="TextBox 13"/>
          <p:cNvSpPr txBox="1"/>
          <p:nvPr/>
        </p:nvSpPr>
        <p:spPr>
          <a:xfrm>
            <a:off x="566928" y="3246120"/>
            <a:ext cx="502920" cy="274320"/>
          </a:xfrm>
          <a:prstGeom prst="rect">
            <a:avLst/>
          </a:prstGeom>
          <a:noFill/>
        </p:spPr>
        <p:txBody>
          <a:bodyPr wrap="none">
            <a:spAutoFit/>
          </a:bodyPr>
          <a:lstStyle/>
          <a:p>
            <a:pPr>
              <a:defRPr sz="950" b="1">
                <a:solidFill>
                  <a:srgbClr val="003087"/>
                </a:solidFill>
              </a:defRPr>
            </a:pPr>
            <a:r>
              <a:t>05</a:t>
            </a:r>
          </a:p>
        </p:txBody>
      </p:sp>
      <p:sp>
        <p:nvSpPr>
          <p:cNvPr id="15" name="TextBox 14"/>
          <p:cNvSpPr txBox="1"/>
          <p:nvPr/>
        </p:nvSpPr>
        <p:spPr>
          <a:xfrm>
            <a:off x="1143000" y="3246120"/>
            <a:ext cx="9601200" cy="384048"/>
          </a:xfrm>
          <a:prstGeom prst="rect">
            <a:avLst/>
          </a:prstGeom>
          <a:noFill/>
        </p:spPr>
        <p:txBody>
          <a:bodyPr wrap="none">
            <a:spAutoFit/>
          </a:bodyPr>
          <a:lstStyle/>
          <a:p>
            <a:pPr>
              <a:defRPr sz="1260">
                <a:solidFill>
                  <a:srgbClr val="333333"/>
                </a:solidFill>
              </a:defRPr>
            </a:pPr>
            <a:r>
              <a:t>Nuclear Fusion Commercialization: Strategic Implications for Energy Markets and Geopolitics should be managed</a:t>
            </a:r>
          </a:p>
        </p:txBody>
      </p:sp>
      <p:sp>
        <p:nvSpPr>
          <p:cNvPr id="16" name="TextBox 15"/>
          <p:cNvSpPr txBox="1"/>
          <p:nvPr/>
        </p:nvSpPr>
        <p:spPr>
          <a:xfrm>
            <a:off x="566928" y="3703320"/>
            <a:ext cx="502920" cy="274320"/>
          </a:xfrm>
          <a:prstGeom prst="rect">
            <a:avLst/>
          </a:prstGeom>
          <a:noFill/>
        </p:spPr>
        <p:txBody>
          <a:bodyPr wrap="none">
            <a:spAutoFit/>
          </a:bodyPr>
          <a:lstStyle/>
          <a:p>
            <a:pPr>
              <a:defRPr sz="950" b="1">
                <a:solidFill>
                  <a:srgbClr val="003087"/>
                </a:solidFill>
              </a:defRPr>
            </a:pPr>
            <a:r>
              <a:t>06</a:t>
            </a:r>
          </a:p>
        </p:txBody>
      </p:sp>
      <p:sp>
        <p:nvSpPr>
          <p:cNvPr id="17" name="TextBox 16"/>
          <p:cNvSpPr txBox="1"/>
          <p:nvPr/>
        </p:nvSpPr>
        <p:spPr>
          <a:xfrm>
            <a:off x="1143000" y="3703320"/>
            <a:ext cx="9601200" cy="384048"/>
          </a:xfrm>
          <a:prstGeom prst="rect">
            <a:avLst/>
          </a:prstGeom>
          <a:noFill/>
        </p:spPr>
        <p:txBody>
          <a:bodyPr wrap="none">
            <a:spAutoFit/>
          </a:bodyPr>
          <a:lstStyle/>
          <a:p>
            <a:pPr>
              <a:defRPr sz="1260">
                <a:solidFill>
                  <a:srgbClr val="333333"/>
                </a:solidFill>
              </a:defRPr>
            </a:pPr>
            <a:r>
              <a:t>Commercial readiness depends on bankability, deliverability and repeat customer proof</a:t>
            </a:r>
          </a:p>
        </p:txBody>
      </p:sp>
      <p:sp>
        <p:nvSpPr>
          <p:cNvPr id="18" name="TextBox 17"/>
          <p:cNvSpPr txBox="1"/>
          <p:nvPr/>
        </p:nvSpPr>
        <p:spPr>
          <a:xfrm>
            <a:off x="566928" y="4160520"/>
            <a:ext cx="502920" cy="274320"/>
          </a:xfrm>
          <a:prstGeom prst="rect">
            <a:avLst/>
          </a:prstGeom>
          <a:noFill/>
        </p:spPr>
        <p:txBody>
          <a:bodyPr wrap="none">
            <a:spAutoFit/>
          </a:bodyPr>
          <a:lstStyle/>
          <a:p>
            <a:pPr>
              <a:defRPr sz="950" b="1">
                <a:solidFill>
                  <a:srgbClr val="003087"/>
                </a:solidFill>
              </a:defRPr>
            </a:pPr>
            <a:r>
              <a:t>07</a:t>
            </a:r>
          </a:p>
        </p:txBody>
      </p:sp>
      <p:sp>
        <p:nvSpPr>
          <p:cNvPr id="19" name="TextBox 18"/>
          <p:cNvSpPr txBox="1"/>
          <p:nvPr/>
        </p:nvSpPr>
        <p:spPr>
          <a:xfrm>
            <a:off x="1143000" y="4160520"/>
            <a:ext cx="9601200" cy="384048"/>
          </a:xfrm>
          <a:prstGeom prst="rect">
            <a:avLst/>
          </a:prstGeom>
          <a:noFill/>
        </p:spPr>
        <p:txBody>
          <a:bodyPr wrap="none">
            <a:spAutoFit/>
          </a:bodyPr>
          <a:lstStyle/>
          <a:p>
            <a:pPr>
              <a:defRPr sz="1260">
                <a:solidFill>
                  <a:srgbClr val="333333"/>
                </a:solidFill>
              </a:defRPr>
            </a:pPr>
            <a:r>
              <a:t>Cost, return and timing will determine the real deployment window</a:t>
            </a:r>
          </a:p>
        </p:txBody>
      </p:sp>
      <p:sp>
        <p:nvSpPr>
          <p:cNvPr id="20" name="TextBox 19"/>
          <p:cNvSpPr txBox="1"/>
          <p:nvPr/>
        </p:nvSpPr>
        <p:spPr>
          <a:xfrm>
            <a:off x="566928" y="4617720"/>
            <a:ext cx="502920" cy="274320"/>
          </a:xfrm>
          <a:prstGeom prst="rect">
            <a:avLst/>
          </a:prstGeom>
          <a:noFill/>
        </p:spPr>
        <p:txBody>
          <a:bodyPr wrap="none">
            <a:spAutoFit/>
          </a:bodyPr>
          <a:lstStyle/>
          <a:p>
            <a:pPr>
              <a:defRPr sz="950" b="1">
                <a:solidFill>
                  <a:srgbClr val="003087"/>
                </a:solidFill>
              </a:defRPr>
            </a:pPr>
            <a:r>
              <a:t>08</a:t>
            </a:r>
          </a:p>
        </p:txBody>
      </p:sp>
      <p:sp>
        <p:nvSpPr>
          <p:cNvPr id="21" name="TextBox 20"/>
          <p:cNvSpPr txBox="1"/>
          <p:nvPr/>
        </p:nvSpPr>
        <p:spPr>
          <a:xfrm>
            <a:off x="1143000" y="4617720"/>
            <a:ext cx="9601200" cy="384048"/>
          </a:xfrm>
          <a:prstGeom prst="rect">
            <a:avLst/>
          </a:prstGeom>
          <a:noFill/>
        </p:spPr>
        <p:txBody>
          <a:bodyPr wrap="none">
            <a:spAutoFit/>
          </a:bodyPr>
          <a:lstStyle/>
          <a:p>
            <a:pPr>
              <a:defRPr sz="1260">
                <a:solidFill>
                  <a:srgbClr val="333333"/>
                </a:solidFill>
              </a:defRPr>
            </a:pPr>
            <a:r>
              <a:t>Regulation, policy and public acceptance can reset the speed of adoption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Key highlights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analysis narrows the agenda to a focused set of management priorities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81328"/>
            <a:ext cx="438912" cy="201168"/>
          </a:xfrm>
          <a:prstGeom prst="rect">
            <a:avLst/>
          </a:prstGeom>
          <a:noFill/>
        </p:spPr>
        <p:txBody>
          <a:bodyPr wrap="none">
            <a:spAutoFit/>
          </a:bodyPr>
          <a:lstStyle/>
          <a:p>
            <a:pPr>
              <a:defRPr sz="900" b="1">
                <a:solidFill>
                  <a:srgbClr val="003087"/>
                </a:solidFill>
              </a:defRPr>
            </a:pPr>
            <a:r>
              <a:t>01</a:t>
            </a:r>
          </a:p>
        </p:txBody>
      </p:sp>
      <p:sp>
        <p:nvSpPr>
          <p:cNvPr id="9" name="TextBox 8"/>
          <p:cNvSpPr txBox="1"/>
          <p:nvPr/>
        </p:nvSpPr>
        <p:spPr>
          <a:xfrm>
            <a:off x="1207008" y="1499616"/>
            <a:ext cx="4590288" cy="704088"/>
          </a:xfrm>
          <a:prstGeom prst="rect">
            <a:avLst/>
          </a:prstGeom>
          <a:noFill/>
        </p:spPr>
        <p:txBody>
          <a:bodyPr wrap="square">
            <a:spAutoFit/>
          </a:bodyPr>
          <a:lstStyle/>
          <a:p>
            <a:pPr>
              <a:defRPr sz="770">
                <a:solidFill>
                  <a:srgbClr val="333333"/>
                </a:solidFill>
              </a:defRPr>
            </a:pPr>
            <a:r>
              <a:t>Nuclear fusion is approaching a critical technical milestone—scientific net energy gain—but commercialization remains a decade or more</a:t>
            </a:r>
          </a:p>
        </p:txBody>
      </p:sp>
      <p:sp>
        <p:nvSpPr>
          <p:cNvPr id="10" name="Rectangle 9"/>
          <p:cNvSpPr/>
          <p:nvPr/>
        </p:nvSpPr>
        <p:spPr>
          <a:xfrm>
            <a:off x="6163056"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1481328"/>
            <a:ext cx="438912" cy="201168"/>
          </a:xfrm>
          <a:prstGeom prst="rect">
            <a:avLst/>
          </a:prstGeom>
          <a:noFill/>
        </p:spPr>
        <p:txBody>
          <a:bodyPr wrap="none">
            <a:spAutoFit/>
          </a:bodyPr>
          <a:lstStyle/>
          <a:p>
            <a:pPr>
              <a:defRPr sz="900" b="1">
                <a:solidFill>
                  <a:srgbClr val="003087"/>
                </a:solidFill>
              </a:defRPr>
            </a:pPr>
            <a:r>
              <a:t>02</a:t>
            </a:r>
          </a:p>
        </p:txBody>
      </p:sp>
      <p:sp>
        <p:nvSpPr>
          <p:cNvPr id="13" name="TextBox 12"/>
          <p:cNvSpPr txBox="1"/>
          <p:nvPr/>
        </p:nvSpPr>
        <p:spPr>
          <a:xfrm>
            <a:off x="6803136" y="1499616"/>
            <a:ext cx="4590288" cy="704088"/>
          </a:xfrm>
          <a:prstGeom prst="rect">
            <a:avLst/>
          </a:prstGeom>
          <a:noFill/>
        </p:spPr>
        <p:txBody>
          <a:bodyPr wrap="square">
            <a:spAutoFit/>
          </a:bodyPr>
          <a:lstStyle/>
          <a:p>
            <a:pPr>
              <a:defRPr sz="770">
                <a:solidFill>
                  <a:srgbClr val="333333"/>
                </a:solidFill>
              </a:defRPr>
            </a:pPr>
            <a:r>
              <a:t>The strategic implications are profound: fusion could reshape energy independence, reduce fossil fuel dependence, and create new geopol</a:t>
            </a:r>
          </a:p>
        </p:txBody>
      </p:sp>
      <p:sp>
        <p:nvSpPr>
          <p:cNvPr id="14" name="Rectangle 13"/>
          <p:cNvSpPr/>
          <p:nvPr/>
        </p:nvSpPr>
        <p:spPr>
          <a:xfrm>
            <a:off x="566928"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2496312"/>
            <a:ext cx="438912" cy="201168"/>
          </a:xfrm>
          <a:prstGeom prst="rect">
            <a:avLst/>
          </a:prstGeom>
          <a:noFill/>
        </p:spPr>
        <p:txBody>
          <a:bodyPr wrap="none">
            <a:spAutoFit/>
          </a:bodyPr>
          <a:lstStyle/>
          <a:p>
            <a:pPr>
              <a:defRPr sz="900" b="1">
                <a:solidFill>
                  <a:srgbClr val="003087"/>
                </a:solidFill>
              </a:defRPr>
            </a:pPr>
            <a:r>
              <a:t>03</a:t>
            </a:r>
          </a:p>
        </p:txBody>
      </p:sp>
      <p:sp>
        <p:nvSpPr>
          <p:cNvPr id="17" name="TextBox 16"/>
          <p:cNvSpPr txBox="1"/>
          <p:nvPr/>
        </p:nvSpPr>
        <p:spPr>
          <a:xfrm>
            <a:off x="1207008" y="2514600"/>
            <a:ext cx="4590288" cy="704088"/>
          </a:xfrm>
          <a:prstGeom prst="rect">
            <a:avLst/>
          </a:prstGeom>
          <a:noFill/>
        </p:spPr>
        <p:txBody>
          <a:bodyPr wrap="square">
            <a:spAutoFit/>
          </a:bodyPr>
          <a:lstStyle/>
          <a:p>
            <a:pPr>
              <a:defRPr sz="770">
                <a:solidFill>
                  <a:srgbClr val="333333"/>
                </a:solidFill>
              </a:defRPr>
            </a:pPr>
            <a:r>
              <a:t>For decision-makers, the immediate next step is to monitor key technical milestones (e.g., SPARC, ITER) while investing in parallel in</a:t>
            </a:r>
          </a:p>
        </p:txBody>
      </p:sp>
      <p:sp>
        <p:nvSpPr>
          <p:cNvPr id="18" name="Rectangle 17"/>
          <p:cNvSpPr/>
          <p:nvPr/>
        </p:nvSpPr>
        <p:spPr>
          <a:xfrm>
            <a:off x="6163056"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63056"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2496312"/>
            <a:ext cx="438912" cy="201168"/>
          </a:xfrm>
          <a:prstGeom prst="rect">
            <a:avLst/>
          </a:prstGeom>
          <a:noFill/>
        </p:spPr>
        <p:txBody>
          <a:bodyPr wrap="none">
            <a:spAutoFit/>
          </a:bodyPr>
          <a:lstStyle/>
          <a:p>
            <a:pPr>
              <a:defRPr sz="900" b="1">
                <a:solidFill>
                  <a:srgbClr val="003087"/>
                </a:solidFill>
              </a:defRPr>
            </a:pPr>
            <a:r>
              <a:t>04</a:t>
            </a:r>
          </a:p>
        </p:txBody>
      </p:sp>
      <p:sp>
        <p:nvSpPr>
          <p:cNvPr id="21" name="TextBox 20"/>
          <p:cNvSpPr txBox="1"/>
          <p:nvPr/>
        </p:nvSpPr>
        <p:spPr>
          <a:xfrm>
            <a:off x="6803136" y="2514600"/>
            <a:ext cx="4590288" cy="704088"/>
          </a:xfrm>
          <a:prstGeom prst="rect">
            <a:avLst/>
          </a:prstGeom>
          <a:noFill/>
        </p:spPr>
        <p:txBody>
          <a:bodyPr wrap="square">
            <a:spAutoFit/>
          </a:bodyPr>
          <a:lstStyle/>
          <a:p>
            <a:pPr>
              <a:defRPr sz="770">
                <a:solidFill>
                  <a:srgbClr val="333333"/>
                </a:solidFill>
              </a:defRPr>
            </a:pPr>
            <a:r>
              <a:t>The evidence base is limited; many projections rely on unverified company timelines and modeled cost estimates. The risk of fusion bein</a:t>
            </a:r>
          </a:p>
        </p:txBody>
      </p:sp>
      <p:sp>
        <p:nvSpPr>
          <p:cNvPr id="22" name="Rectangle 21"/>
          <p:cNvSpPr/>
          <p:nvPr/>
        </p:nvSpPr>
        <p:spPr>
          <a:xfrm>
            <a:off x="566928"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3511296"/>
            <a:ext cx="438912" cy="201168"/>
          </a:xfrm>
          <a:prstGeom prst="rect">
            <a:avLst/>
          </a:prstGeom>
          <a:noFill/>
        </p:spPr>
        <p:txBody>
          <a:bodyPr wrap="none">
            <a:spAutoFit/>
          </a:bodyPr>
          <a:lstStyle/>
          <a:p>
            <a:pPr>
              <a:defRPr sz="900" b="1">
                <a:solidFill>
                  <a:srgbClr val="003087"/>
                </a:solidFill>
              </a:defRPr>
            </a:pPr>
            <a:r>
              <a:t>05</a:t>
            </a:r>
          </a:p>
        </p:txBody>
      </p:sp>
      <p:sp>
        <p:nvSpPr>
          <p:cNvPr id="25" name="TextBox 24"/>
          <p:cNvSpPr txBox="1"/>
          <p:nvPr/>
        </p:nvSpPr>
        <p:spPr>
          <a:xfrm>
            <a:off x="1207008" y="3529584"/>
            <a:ext cx="4590288" cy="704088"/>
          </a:xfrm>
          <a:prstGeom prst="rect">
            <a:avLst/>
          </a:prstGeom>
          <a:noFill/>
        </p:spPr>
        <p:txBody>
          <a:bodyPr wrap="square">
            <a:spAutoFit/>
          </a:bodyPr>
          <a:lstStyle/>
          <a:p>
            <a:pPr>
              <a:defRPr sz="770">
                <a:solidFill>
                  <a:srgbClr val="333333"/>
                </a:solidFill>
              </a:defRPr>
            </a:pPr>
            <a:r>
              <a:t>A balanced, flexible strategy—combining selective fusion R&amp;D investment with robust near-term clean energy deployment—is warranted.</a:t>
            </a:r>
          </a:p>
        </p:txBody>
      </p:sp>
      <p:sp>
        <p:nvSpPr>
          <p:cNvPr id="26" name="Rectangle 25"/>
          <p:cNvSpPr/>
          <p:nvPr/>
        </p:nvSpPr>
        <p:spPr>
          <a:xfrm>
            <a:off x="6163056"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63056"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3511296"/>
            <a:ext cx="438912" cy="201168"/>
          </a:xfrm>
          <a:prstGeom prst="rect">
            <a:avLst/>
          </a:prstGeom>
          <a:noFill/>
        </p:spPr>
        <p:txBody>
          <a:bodyPr wrap="none">
            <a:spAutoFit/>
          </a:bodyPr>
          <a:lstStyle/>
          <a:p>
            <a:pPr>
              <a:defRPr sz="900" b="1">
                <a:solidFill>
                  <a:srgbClr val="003087"/>
                </a:solidFill>
              </a:defRPr>
            </a:pPr>
            <a:r>
              <a:t>06</a:t>
            </a:r>
          </a:p>
        </p:txBody>
      </p:sp>
      <p:sp>
        <p:nvSpPr>
          <p:cNvPr id="29" name="TextBox 28"/>
          <p:cNvSpPr txBox="1"/>
          <p:nvPr/>
        </p:nvSpPr>
        <p:spPr>
          <a:xfrm>
            <a:off x="6803136" y="3529584"/>
            <a:ext cx="4590288" cy="704088"/>
          </a:xfrm>
          <a:prstGeom prst="rect">
            <a:avLst/>
          </a:prstGeom>
          <a:noFill/>
        </p:spPr>
        <p:txBody>
          <a:bodyPr wrap="square">
            <a:spAutoFit/>
          </a:bodyPr>
          <a:lstStyle/>
          <a:p>
            <a:pPr>
              <a:defRPr sz="770">
                <a:solidFill>
                  <a:srgbClr val="333333"/>
                </a:solidFill>
              </a:defRPr>
            </a:pPr>
            <a:r>
              <a:t>The CEO-level question is not whether Nuclear fusion commercialization outlook and strategic implications is interesting, but which dec</a:t>
            </a:r>
          </a:p>
        </p:txBody>
      </p:sp>
      <p:sp>
        <p:nvSpPr>
          <p:cNvPr id="30" name="Rectangle 29"/>
          <p:cNvSpPr/>
          <p:nvPr/>
        </p:nvSpPr>
        <p:spPr>
          <a:xfrm>
            <a:off x="566928" y="4434840"/>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434840"/>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4526280"/>
            <a:ext cx="438912" cy="201168"/>
          </a:xfrm>
          <a:prstGeom prst="rect">
            <a:avLst/>
          </a:prstGeom>
          <a:noFill/>
        </p:spPr>
        <p:txBody>
          <a:bodyPr wrap="none">
            <a:spAutoFit/>
          </a:bodyPr>
          <a:lstStyle/>
          <a:p>
            <a:pPr>
              <a:defRPr sz="900" b="1">
                <a:solidFill>
                  <a:srgbClr val="003087"/>
                </a:solidFill>
              </a:defRPr>
            </a:pPr>
            <a:r>
              <a:t>07</a:t>
            </a:r>
          </a:p>
        </p:txBody>
      </p:sp>
      <p:sp>
        <p:nvSpPr>
          <p:cNvPr id="33" name="TextBox 32"/>
          <p:cNvSpPr txBox="1"/>
          <p:nvPr/>
        </p:nvSpPr>
        <p:spPr>
          <a:xfrm>
            <a:off x="1207008" y="4544568"/>
            <a:ext cx="4590288" cy="704088"/>
          </a:xfrm>
          <a:prstGeom prst="rect">
            <a:avLst/>
          </a:prstGeom>
          <a:noFill/>
        </p:spPr>
        <p:txBody>
          <a:bodyPr wrap="square">
            <a:spAutoFit/>
          </a:bodyPr>
          <a:lstStyle/>
          <a:p>
            <a:pPr>
              <a:defRPr sz="770">
                <a:solidFill>
                  <a:srgbClr val="333333"/>
                </a:solidFill>
              </a:defRPr>
            </a:pPr>
            <a:r>
              <a:t>Management should separate verified facts, directional scenarios and missing diligence items before committing capital, partnerships or</a:t>
            </a:r>
          </a:p>
        </p:txBody>
      </p:sp>
      <p:sp>
        <p:nvSpPr>
          <p:cNvPr id="34" name="Rectangle 33"/>
          <p:cNvSpPr/>
          <p:nvPr/>
        </p:nvSpPr>
        <p:spPr>
          <a:xfrm>
            <a:off x="6163056" y="4434840"/>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163056" y="4434840"/>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09360" y="4526280"/>
            <a:ext cx="438912" cy="201168"/>
          </a:xfrm>
          <a:prstGeom prst="rect">
            <a:avLst/>
          </a:prstGeom>
          <a:noFill/>
        </p:spPr>
        <p:txBody>
          <a:bodyPr wrap="none">
            <a:spAutoFit/>
          </a:bodyPr>
          <a:lstStyle/>
          <a:p>
            <a:pPr>
              <a:defRPr sz="900" b="1">
                <a:solidFill>
                  <a:srgbClr val="003087"/>
                </a:solidFill>
              </a:defRPr>
            </a:pPr>
            <a:r>
              <a:t>08</a:t>
            </a:r>
          </a:p>
        </p:txBody>
      </p:sp>
      <p:sp>
        <p:nvSpPr>
          <p:cNvPr id="37" name="TextBox 36"/>
          <p:cNvSpPr txBox="1"/>
          <p:nvPr/>
        </p:nvSpPr>
        <p:spPr>
          <a:xfrm>
            <a:off x="6803136" y="4544568"/>
            <a:ext cx="4590288" cy="704088"/>
          </a:xfrm>
          <a:prstGeom prst="rect">
            <a:avLst/>
          </a:prstGeom>
          <a:noFill/>
        </p:spPr>
        <p:txBody>
          <a:bodyPr wrap="square">
            <a:spAutoFit/>
          </a:bodyPr>
          <a:lstStyle/>
          <a:p>
            <a:pPr>
              <a:defRPr sz="770">
                <a:solidFill>
                  <a:srgbClr val="333333"/>
                </a:solidFill>
              </a:defRPr>
            </a:pPr>
            <a:r>
              <a:t>The report should translate technical evidence into revenue potential, cost position, investment return, execution risk and decision ga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Nuclear Fusion Is Approaching Technical Breakeven but Commercialization Remains a Decade or More Away</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Nuclear Fusion Is Approaching Technical Breakeven but Commercialization Remains a Decade or More Away</a:t>
            </a:r>
          </a:p>
          <a:p>
            <a:pPr>
              <a:defRPr sz="830">
                <a:solidFill>
                  <a:srgbClr val="64696E"/>
                </a:solidFill>
              </a:defRPr>
            </a:pPr>
            <a:r>
              <a:t>This chapter establishes that while fusion has achieved scientific breakeven in labs, engineering breakeven for electricity generation is unproven, meaning executives sho</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Nuclear fusion has long been considered the holy grail of clean energy, offering the promise of virtually limitless, carbon-free power. In recent years, significant progress has been made toward achieving scientific net energy gain, where the energy output fro</a:t>
            </a:r>
          </a:p>
          <a:p>
            <a:pPr>
              <a:spcAft>
                <a:spcPts val="600"/>
              </a:spcAft>
              <a:defRPr sz="819">
                <a:solidFill>
                  <a:srgbClr val="333333"/>
                </a:solidFill>
              </a:defRPr>
            </a:pPr>
            <a:r>
              <a:t>The public-sector flagship, ITER, has faced repeated delays and cost overruns, with first plasma now expected no earlier than 2035 and full deuterium-tritium operations possibly after 2040. The gap between scientific breakeven and commercial viability is wide:</a:t>
            </a:r>
          </a:p>
          <a:p>
            <a:pPr>
              <a:spcAft>
                <a:spcPts val="600"/>
              </a:spcAft>
              <a:defRPr sz="819">
                <a:solidFill>
                  <a:srgbClr val="333333"/>
                </a:solidFill>
              </a:defRPr>
            </a:pPr>
            <a:r>
              <a:t>For leadership teams, the key takeaway is that fusion is a high-risk, long-option investment. Capital allocation should be based on verified milestones, not optimistic timelines. The immediate next step is to establish a monitoring function to track progress a</a:t>
            </a:r>
          </a:p>
          <a:p>
            <a:pPr>
              <a:spcBef>
                <a:spcPts val="600"/>
              </a:spcBef>
              <a:defRPr sz="819" b="1">
                <a:solidFill>
                  <a:srgbClr val="003087"/>
                </a:solidFill>
              </a:defRPr>
            </a:pPr>
            <a:r>
              <a:t>Key implications</a:t>
            </a:r>
          </a:p>
          <a:p>
            <a:pPr>
              <a:defRPr sz="730">
                <a:solidFill>
                  <a:srgbClr val="333333"/>
                </a:solidFill>
              </a:defRPr>
            </a:pPr>
            <a:r>
              <a:t>- Fusion has achieved scientific breakeven but not engineering breakeven.</a:t>
            </a:r>
          </a:p>
          <a:p>
            <a:pPr>
              <a:defRPr sz="730">
                <a:solidFill>
                  <a:srgbClr val="333333"/>
                </a:solidFill>
              </a:defRPr>
            </a:pPr>
            <a:r>
              <a:t>- Private timelines are unverified; ITER is delayed to 2035+.</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Private Fusion Ventures Have Accelerated Timelines but Face Significant Engineering and Cost Hurdles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Private Fusion Ventures Have Accelerated Timelines but Face Significant Engineering and Cost Hurdles</a:t>
            </a:r>
          </a:p>
          <a:p>
            <a:pPr>
              <a:defRPr sz="830">
                <a:solidFill>
                  <a:srgbClr val="64696E"/>
                </a:solidFill>
              </a:defRPr>
            </a:pPr>
            <a:r>
              <a:t>This chapter explains that private fusion companies have raised over $5 billion and set aggressive targets, but none have demonstrated a working reactor at scale, so exec</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fusion landscape has been transformed by the entry of well-funded private companies. Commonwealth Fusion Systems, backed by Bill Gates and others, is building SPARC, a compact tokamak designed to achieve Q&gt;2. Helion Energy claims it will demonstrate net el</a:t>
            </a:r>
          </a:p>
          <a:p>
            <a:pPr>
              <a:spcAft>
                <a:spcPts val="600"/>
              </a:spcAft>
              <a:defRPr sz="819">
                <a:solidFill>
                  <a:srgbClr val="333333"/>
                </a:solidFill>
              </a:defRPr>
            </a:pPr>
            <a:r>
              <a:t>However, the engineering challenges are formidable. SPARC must demonstrate high-temperature superconducting magnets, plasma stability, and heat extraction. Helion's approach requires rapid pulsed operation and efficient energy recovery. None of these designs h</a:t>
            </a:r>
          </a:p>
          <a:p>
            <a:pPr>
              <a:spcAft>
                <a:spcPts val="600"/>
              </a:spcAft>
              <a:defRPr sz="819">
                <a:solidFill>
                  <a:srgbClr val="333333"/>
                </a:solidFill>
              </a:defRPr>
            </a:pPr>
            <a:r>
              <a:t>For decision-makers, the implication is clear: private fusion ventures offer potential upside but carry high technical and execution risk. A diversified investment approach across multiple fusion concepts is prudent. Partnerships with leading ventures can prov</a:t>
            </a:r>
          </a:p>
          <a:p>
            <a:pPr>
              <a:spcBef>
                <a:spcPts val="600"/>
              </a:spcBef>
              <a:defRPr sz="819" b="1">
                <a:solidFill>
                  <a:srgbClr val="003087"/>
                </a:solidFill>
              </a:defRPr>
            </a:pPr>
            <a:r>
              <a:t>Key implications</a:t>
            </a:r>
          </a:p>
          <a:p>
            <a:pPr>
              <a:defRPr sz="730">
                <a:solidFill>
                  <a:srgbClr val="333333"/>
                </a:solidFill>
              </a:defRPr>
            </a:pPr>
            <a:r>
              <a:t>- Private fusion ventures have raised over $5 billion but face unproven engineering.</a:t>
            </a:r>
          </a:p>
          <a:p>
            <a:pPr>
              <a:defRPr sz="730">
                <a:solidFill>
                  <a:srgbClr val="333333"/>
                </a:solidFill>
              </a:defRPr>
            </a:pPr>
            <a:r>
              <a:t>- First-of-a-kind plant costs are estimated at $5-10 billion with high uncertainty.</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Fusion's Economic Competitiveness Depends on Cost Reductions in Competing Low-Carbon Technologies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Fusion's Economic Competitiveness Depends on Cost Reductions in Competing Low-Carbon Technologies</a:t>
            </a:r>
          </a:p>
          <a:p>
            <a:pPr>
              <a:defRPr sz="830">
                <a:solidFill>
                  <a:srgbClr val="64696E"/>
                </a:solidFill>
              </a:defRPr>
            </a:pPr>
            <a:r>
              <a:t>This chapter shows that fusion LCOE projections of $50-100/MWh by 2050 are highly uncertain and face stiff competition from renewables already below $30/MWh, so executive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economic case for fusion is heavily influenced by the rapidly falling costs of solar, wind, and battery storage. Solar LCOE has declined by 90% over the past decade and is now below $30/MWh in many regions. Wind LCOE is similarly low, and battery storage c</a:t>
            </a:r>
          </a:p>
          <a:p>
            <a:pPr>
              <a:spcAft>
                <a:spcPts val="600"/>
              </a:spcAft>
              <a:defRPr sz="819">
                <a:solidFill>
                  <a:srgbClr val="333333"/>
                </a:solidFill>
              </a:defRPr>
            </a:pPr>
            <a:r>
              <a:t>Fusion LCOE projections range from $50-100/MWh by 2050, but these estimates are highly uncertain and depend on unproven engineering. If renewables+storage costs continue to decline, fusion may struggle to compete on cost alone. However, fusion offers advantage</a:t>
            </a:r>
          </a:p>
          <a:p>
            <a:pPr>
              <a:spcAft>
                <a:spcPts val="600"/>
              </a:spcAft>
              <a:defRPr sz="819">
                <a:solidFill>
                  <a:srgbClr val="333333"/>
                </a:solidFill>
              </a:defRPr>
            </a:pPr>
            <a:r>
              <a:t>The evidence for fusion LCOE is limited to models and company claims; no real-world data exists. For executives, the strategic implication is that fusion investment should be paired with a clear focus on applications where it has a comparative advantage. Grid-</a:t>
            </a:r>
          </a:p>
          <a:p>
            <a:pPr>
              <a:spcBef>
                <a:spcPts val="600"/>
              </a:spcBef>
              <a:defRPr sz="819" b="1">
                <a:solidFill>
                  <a:srgbClr val="003087"/>
                </a:solidFill>
              </a:defRPr>
            </a:pPr>
            <a:r>
              <a:t>Key implications</a:t>
            </a:r>
          </a:p>
          <a:p>
            <a:pPr>
              <a:defRPr sz="730">
                <a:solidFill>
                  <a:srgbClr val="333333"/>
                </a:solidFill>
              </a:defRPr>
            </a:pPr>
            <a:r>
              <a:t>- Solar and wind LCOE are already below $30/MWh and falling.</a:t>
            </a:r>
          </a:p>
          <a:p>
            <a:pPr>
              <a:defRPr sz="730">
                <a:solidFill>
                  <a:srgbClr val="333333"/>
                </a:solidFill>
              </a:defRPr>
            </a:pPr>
            <a:r>
              <a:t>- Fusion LCOE projections of $50-100/MWh are highly uncertain.</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Strategic Implications of Fusion Include Energy Independence, Reduced Fossil Fuel Dependence, and New Proliferation Risk</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Strategic Implications of Fusion Include Energy Independence, Reduced Fossil Fuel Dependence, and New Proliferation Ri</a:t>
            </a:r>
          </a:p>
          <a:p>
            <a:pPr>
              <a:defRPr sz="830">
                <a:solidFill>
                  <a:srgbClr val="64696E"/>
                </a:solidFill>
              </a:defRPr>
            </a:pPr>
            <a:r>
              <a:t>This chapter argues that fusion could reshape geopolitics by enabling energy independence and reducing fossil fuel dependence, but also introduces proliferation risks, so</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Fusion could fundamentally alter the geopolitics of energy. Countries that develop fusion technology could achieve energy independence, reducing reliance on fossil fuel imports and insulating themselves from price volatility. This could weaken the geopolitical</a:t>
            </a:r>
          </a:p>
          <a:p>
            <a:pPr>
              <a:spcAft>
                <a:spcPts val="600"/>
              </a:spcAft>
              <a:defRPr sz="819">
                <a:solidFill>
                  <a:srgbClr val="333333"/>
                </a:solidFill>
              </a:defRPr>
            </a:pPr>
            <a:r>
              <a:t>However, fusion also introduces new proliferation risks. The technology could be used to produce weapons-usable materials, and the dual-use nature of fusion research raises concerns about export controls and safeguards. The current nonproliferation regime may</a:t>
            </a:r>
          </a:p>
          <a:p>
            <a:pPr>
              <a:spcAft>
                <a:spcPts val="600"/>
              </a:spcAft>
              <a:defRPr sz="819">
                <a:solidFill>
                  <a:srgbClr val="333333"/>
                </a:solidFill>
              </a:defRPr>
            </a:pPr>
            <a:r>
              <a:t>The decision lens is that the strategic implication is to monitor government fusion strategies and assess the potential impact on supply chains and markets. First-mover advantages could be significant, including setting safety standards and dominating supply c</a:t>
            </a:r>
          </a:p>
          <a:p>
            <a:pPr>
              <a:spcBef>
                <a:spcPts val="600"/>
              </a:spcBef>
              <a:defRPr sz="819" b="1">
                <a:solidFill>
                  <a:srgbClr val="003087"/>
                </a:solidFill>
              </a:defRPr>
            </a:pPr>
            <a:r>
              <a:t>Key implications</a:t>
            </a:r>
          </a:p>
          <a:p>
            <a:pPr>
              <a:defRPr sz="730">
                <a:solidFill>
                  <a:srgbClr val="333333"/>
                </a:solidFill>
              </a:defRPr>
            </a:pPr>
            <a:r>
              <a:t>- Fusion could enable energy independence and reduce fossil fuel dependence.</a:t>
            </a:r>
          </a:p>
          <a:p>
            <a:pPr>
              <a:defRPr sz="730">
                <a:solidFill>
                  <a:srgbClr val="333333"/>
                </a:solidFill>
              </a:defRPr>
            </a:pPr>
            <a:r>
              <a:t>- Proliferation risks require robust safeguards and export controls.</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Nuclear Fusion Commercialization: Strategic Implications for Energy Markets and Geopolitics should be managed as a stage</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Nuclear Fusion Commercialization: Strategic Implications for Energy Markets and Geopolitics should be managed as a sta</a:t>
            </a:r>
          </a:p>
          <a:p>
            <a:pPr>
              <a:defRPr sz="830">
                <a:solidFill>
                  <a:srgbClr val="64696E"/>
                </a:solidFill>
              </a:defRPr>
            </a:pPr>
            <a:r>
              <a:t>The CEO question is which moves are safe now and which should wait for stronger evidence.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For leadership, Nuclear Fusion Commercialization: Strategic Implications for Energy Markets and Geopolitics should be separated into verified facts, directional scenarios and open diligence items. That boundary keeps the report from turning market enthusiasm o</a:t>
            </a:r>
          </a:p>
          <a:p>
            <a:pPr>
              <a:spcAft>
                <a:spcPts val="600"/>
              </a:spcAft>
              <a:defRPr sz="819">
                <a:solidFill>
                  <a:srgbClr val="333333"/>
                </a:solidFill>
              </a:defRPr>
            </a:pPr>
            <a:r>
              <a:t>The immediate management question is not whether the opportunity is exciting; it is whether budget, partner access or management attention should be committed now. Low-cost validation can start early, while larger capital commitments should wait for customer,</a:t>
            </a:r>
          </a:p>
          <a:p>
            <a:pPr>
              <a:spcAft>
                <a:spcPts val="600"/>
              </a:spcAft>
              <a:defRPr sz="819">
                <a:solidFill>
                  <a:srgbClr val="333333"/>
                </a:solidFill>
              </a:defRPr>
            </a:pPr>
            <a:r>
              <a:t>The current evidence posture is: Public evidence retained in the source backup; additional validation is required for unsupported claims. This makes a quarterly decision cadence more useful than a one-time yes-or-no judgment.</a:t>
            </a:r>
          </a:p>
          <a:p>
            <a:pPr>
              <a:spcBef>
                <a:spcPts val="600"/>
              </a:spcBef>
              <a:defRPr sz="819" b="1">
                <a:solidFill>
                  <a:srgbClr val="003087"/>
                </a:solidFill>
              </a:defRPr>
            </a:pPr>
            <a:r>
              <a:t>Key implications</a:t>
            </a:r>
          </a:p>
          <a:p>
            <a:pPr>
              <a:defRPr sz="730">
                <a:solidFill>
                  <a:srgbClr val="333333"/>
                </a:solidFill>
              </a:defRPr>
            </a:pPr>
            <a:r>
              <a:t>- Start with low-cost validation</a:t>
            </a:r>
          </a:p>
          <a:p>
            <a:pPr>
              <a:defRPr sz="730">
                <a:solidFill>
                  <a:srgbClr val="333333"/>
                </a:solidFill>
              </a:defRPr>
            </a:pPr>
            <a:r>
              <a:t>- Hold major commitments behind evidence gates</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Commercial readiness depends on bankability, deliverability and repeat customer proof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Commercial readiness depends on bankability, deliverability and repeat customer proof</a:t>
            </a:r>
          </a:p>
          <a:p>
            <a:pPr>
              <a:defRPr sz="830">
                <a:solidFill>
                  <a:srgbClr val="64696E"/>
                </a:solidFill>
              </a:defRPr>
            </a:pPr>
            <a:r>
              <a:t>Technical feasibility matters only when it changes customer value, cost position and execution confidence.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Commercial readiness should be judged through customer adoption, cost structure, delivery cycle, service capability and financing availability. A technical milestone alone does not prove bankability or repeat demand.</a:t>
            </a:r>
          </a:p>
          <a:p>
            <a:pPr>
              <a:spcAft>
                <a:spcPts val="600"/>
              </a:spcAft>
              <a:defRPr sz="819">
                <a:solidFill>
                  <a:srgbClr val="333333"/>
                </a:solidFill>
              </a:defRPr>
            </a:pPr>
            <a:r>
              <a:t>Management should require every major assumption to tie back to a verifiable claim: target customer, buying trigger, budget owner, substitute, use case and payback path. Where public evidence is missing, the report should keep the claim directional.</a:t>
            </a:r>
          </a:p>
          <a:p>
            <a:pPr>
              <a:spcAft>
                <a:spcPts val="600"/>
              </a:spcAft>
              <a:defRPr sz="819">
                <a:solidFill>
                  <a:srgbClr val="333333"/>
                </a:solidFill>
              </a:defRPr>
            </a:pPr>
            <a:r>
              <a:t>A more robust path is to build credible proof through pilots, partner diligence and third-party validation before moving into larger commitments.</a:t>
            </a:r>
          </a:p>
          <a:p>
            <a:pPr>
              <a:spcBef>
                <a:spcPts val="600"/>
              </a:spcBef>
              <a:defRPr sz="819" b="1">
                <a:solidFill>
                  <a:srgbClr val="003087"/>
                </a:solidFill>
              </a:defRPr>
            </a:pPr>
            <a:r>
              <a:t>Key implications</a:t>
            </a:r>
          </a:p>
          <a:p>
            <a:pPr>
              <a:defRPr sz="730">
                <a:solidFill>
                  <a:srgbClr val="333333"/>
                </a:solidFill>
              </a:defRPr>
            </a:pPr>
            <a:r>
              <a:t>- Customer value changes decisions more than technical narrative</a:t>
            </a:r>
          </a:p>
          <a:p>
            <a:pPr>
              <a:defRPr sz="730">
                <a:solidFill>
                  <a:srgbClr val="333333"/>
                </a:solidFill>
              </a:defRPr>
            </a:pPr>
            <a:r>
              <a:t>- Validate bankability and delivery risk first</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Cost, return and timing will determine the real deployment window</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Cost, return and timing will determine the real deployment window</a:t>
            </a:r>
          </a:p>
          <a:p>
            <a:pPr>
              <a:defRPr sz="830">
                <a:solidFill>
                  <a:srgbClr val="64696E"/>
                </a:solidFill>
              </a:defRPr>
            </a:pPr>
            <a:r>
              <a:t>Market size should not enter an investment case until the cost and return logic can be checked.</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Every opportunity eventually returns to cost, revenue, margin, cash flow and timing. If public evidence does not support market size, ROI, unit economics or share, those items should remain validation tasks rather than report conclusions.</a:t>
            </a:r>
          </a:p>
          <a:p>
            <a:pPr>
              <a:spcAft>
                <a:spcPts val="600"/>
              </a:spcAft>
              <a:defRPr sz="819">
                <a:solidFill>
                  <a:srgbClr val="333333"/>
                </a:solidFill>
              </a:defRPr>
            </a:pPr>
            <a:r>
              <a:t>Near-term action should focus on verifiable cost drivers and customer willingness to pay instead of relying on optimistic long-range scenarios. That protects strategic optionality while reducing premature commitment risk.</a:t>
            </a:r>
          </a:p>
          <a:p>
            <a:pPr>
              <a:spcAft>
                <a:spcPts val="600"/>
              </a:spcAft>
              <a:defRPr sz="819">
                <a:solidFill>
                  <a:srgbClr val="333333"/>
                </a:solidFill>
              </a:defRPr>
            </a:pPr>
            <a:r>
              <a:t>As cost, customer and financing evidence improves, management can shift resources from monitoring and partnerships toward pilots or scaled deployment.</a:t>
            </a:r>
          </a:p>
          <a:p>
            <a:pPr>
              <a:spcBef>
                <a:spcPts val="600"/>
              </a:spcBef>
              <a:defRPr sz="819" b="1">
                <a:solidFill>
                  <a:srgbClr val="003087"/>
                </a:solidFill>
              </a:defRPr>
            </a:pPr>
            <a:r>
              <a:t>Key implications</a:t>
            </a:r>
          </a:p>
          <a:p>
            <a:pPr>
              <a:defRPr sz="730">
                <a:solidFill>
                  <a:srgbClr val="333333"/>
                </a:solidFill>
              </a:defRPr>
            </a:pPr>
            <a:r>
              <a:t>- Cost and ROI are priority diligence items</a:t>
            </a:r>
          </a:p>
          <a:p>
            <a:pPr>
              <a:defRPr sz="730">
                <a:solidFill>
                  <a:srgbClr val="333333"/>
                </a:solidFill>
              </a:defRPr>
            </a:pPr>
            <a:r>
              <a:t>- Timing should move with evidence quality</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Regulation, policy and public acceptance can reset the speed of adoption</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Regulation, policy and public acceptance can reset the speed of adoption</a:t>
            </a:r>
          </a:p>
          <a:p>
            <a:pPr>
              <a:defRPr sz="830">
                <a:solidFill>
                  <a:srgbClr val="64696E"/>
                </a:solidFill>
              </a:defRPr>
            </a:pPr>
            <a:r>
              <a:t>External rules can accelerate the market or change the risk budget and project timeline.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Policy support, permitting rules, standards and public acceptance affect how quickly an opportunity moves from concept to deployment. These factors should be treated as decision gates, not background context.</a:t>
            </a:r>
          </a:p>
          <a:p>
            <a:pPr>
              <a:spcAft>
                <a:spcPts val="600"/>
              </a:spcAft>
              <a:defRPr sz="819">
                <a:solidFill>
                  <a:srgbClr val="333333"/>
                </a:solidFill>
              </a:defRPr>
            </a:pPr>
            <a:r>
              <a:t>Where the regulatory path is unclear, the better move is usually standards engagement, policy tracking and low-risk pilots rather than an early heavy-asset commitment.</a:t>
            </a:r>
          </a:p>
          <a:p>
            <a:pPr>
              <a:spcAft>
                <a:spcPts val="600"/>
              </a:spcAft>
              <a:defRPr sz="819">
                <a:solidFill>
                  <a:srgbClr val="333333"/>
                </a:solidFill>
              </a:defRPr>
            </a:pPr>
            <a:r>
              <a:t>The board should track which policy events would change investment timing, such as licensing rules, procurement requirements, subsidy treatment, local approvals or safety standards.</a:t>
            </a:r>
          </a:p>
          <a:p>
            <a:pPr>
              <a:spcBef>
                <a:spcPts val="600"/>
              </a:spcBef>
              <a:defRPr sz="819" b="1">
                <a:solidFill>
                  <a:srgbClr val="003087"/>
                </a:solidFill>
              </a:defRPr>
            </a:pPr>
            <a:r>
              <a:t>Key implications</a:t>
            </a:r>
          </a:p>
          <a:p>
            <a:pPr>
              <a:defRPr sz="730">
                <a:solidFill>
                  <a:srgbClr val="333333"/>
                </a:solidFill>
              </a:defRPr>
            </a:pPr>
            <a:r>
              <a:t>- Policy events are external decision gates</a:t>
            </a:r>
          </a:p>
          <a:p>
            <a:pPr>
              <a:defRPr sz="730">
                <a:solidFill>
                  <a:srgbClr val="333333"/>
                </a:solidFill>
              </a:defRPr>
            </a:pPr>
            <a:r>
              <a:t>- Use options while regulation remains unclear</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1: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1: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1.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2: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2: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2.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3: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3: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3.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4: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4: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4.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5: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5: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5.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6: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6: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6.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Closing</a:t>
            </a:r>
          </a:p>
        </p:txBody>
      </p:sp>
      <p:pic>
        <p:nvPicPr>
          <p:cNvPr id="4" name="Picture 3" descr="cover-ai.png"/>
          <p:cNvPicPr>
            <a:picLocks noChangeAspect="1"/>
          </p:cNvPicPr>
          <p:nvPr/>
        </p:nvPicPr>
        <p:blipFill>
          <a:blip r:embed="rId2"/>
          <a:stretch>
            <a:fillRect/>
          </a:stretch>
        </p:blipFill>
        <p:spPr>
          <a:xfrm>
            <a:off x="6583680" y="1051560"/>
            <a:ext cx="5074920" cy="4800600"/>
          </a:xfrm>
          <a:prstGeom prst="rect">
            <a:avLst/>
          </a:prstGeom>
        </p:spPr>
      </p:pic>
      <p:sp>
        <p:nvSpPr>
          <p:cNvPr id="5" name="TextBox 4"/>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next step is to convert the research into a short list of decisions</a:t>
            </a:r>
          </a:p>
        </p:txBody>
      </p:sp>
      <p:sp>
        <p:nvSpPr>
          <p:cNvPr id="6" name="Rectangle 5"/>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463040"/>
            <a:ext cx="5715000" cy="2926080"/>
          </a:xfrm>
          <a:prstGeom prst="rect">
            <a:avLst/>
          </a:prstGeom>
          <a:noFill/>
        </p:spPr>
        <p:txBody>
          <a:bodyPr wrap="square">
            <a:spAutoFit/>
          </a:bodyPr>
          <a:lstStyle/>
          <a:p>
            <a:pPr>
              <a:defRPr sz="1500">
                <a:solidFill>
                  <a:srgbClr val="003087"/>
                </a:solidFill>
              </a:defRPr>
            </a:pPr>
            <a:r>
              <a:t>A Decision-Ready Assessment for Senior Executives and Policymakers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