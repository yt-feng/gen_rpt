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Outlook and Strategic Implications</a:t>
            </a:r>
          </a:p>
          <a:p>
            <a:pPr>
              <a:spcBef>
                <a:spcPts val="1400"/>
              </a:spcBef>
              <a:defRPr sz="950">
                <a:solidFill>
                  <a:srgbClr val="64696E"/>
                </a:solidFill>
              </a:defRPr>
            </a:pPr>
            <a:r>
              <a:t>A Decision-Ready Assessment for Senior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Technology Is Approaching Net Energy Gain, but Commercialization Remains a Decade Away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Economic Viability Hinges on Cost Reductions and Scale-Up, with LCOE Uncertain vs. Renewables</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Regulatory and Safety Frameworks Are Nascent but Critical for Public Acceptance</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Nuclear Fusion Commercialization Outlook and Strategic Implications should be managed as a staged strategic op</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has achieved scientific breakeven (LLNL, Dec 2022), but commercial power remains at least a decade away due to engineering scale</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Private fusion companies target pilot plants by 2030-2035, but historical timelines (e.g., ITER) have slipped repeatedly; a phased, mil</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Fusion LCOE projections ($50-100+/MWh by 2050) face stiff competition from rapidly falling solar and wind costs (&lt;$30/MWh today); fusio</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Tritium supply is a critical bottleneck; early movers in breeding technology or supply chains will gain strategic advantage.</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Regulatory frameworks are nascent (U.S. NRC developing rules); proactive engagement can reduce licensing risk and shape favorable polic</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Translate technical evidence into revenue potential, cost position, investment return, execution risk and decision gates.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Technology Is Approaching Net Energy Gain, but Commercialization Remains a Decade Away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Technology Is Approaching Net Energy Gain, but Commercialization Remains a Decade Away</a:t>
            </a:r>
          </a:p>
          <a:p>
            <a:pPr>
              <a:defRPr sz="830">
                <a:solidFill>
                  <a:srgbClr val="64696E"/>
                </a:solidFill>
              </a:defRPr>
            </a:pPr>
            <a:r>
              <a:t>The December 2022 fusion ignition at LLNL proves scientific feasibility, but engineering scale-up for commercial power will take at least another decade, requiring sustai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December 2022 achievement of fusion ignition at Lawrence Livermore National Laboratory marked a historic scientific milestone: for the first time, a controlled fusion experiment produced more energy than the laser energy used to drive it, delivering 2.15 M</a:t>
            </a:r>
          </a:p>
          <a:p>
            <a:pPr>
              <a:spcAft>
                <a:spcPts val="600"/>
              </a:spcAft>
              <a:defRPr sz="819">
                <a:solidFill>
                  <a:srgbClr val="333333"/>
                </a:solidFill>
              </a:defRPr>
            </a:pPr>
            <a:r>
              <a:t>Multiple private companies are pursuing different reactor designs. Commonwealth Fusion Systems is building SPARC, a compact tokamak aiming for net energy gain by 2025-2027. TAE Technologies is developing a field-reversed configuration approach. Helion Energy i</a:t>
            </a:r>
          </a:p>
          <a:p>
            <a:pPr>
              <a:spcAft>
                <a:spcPts val="600"/>
              </a:spcAft>
              <a:defRPr sz="819">
                <a:solidFill>
                  <a:srgbClr val="333333"/>
                </a:solidFill>
              </a:defRPr>
            </a:pPr>
            <a:r>
              <a:t>The key technical hurdles are well-documented. Plasma confinement requires maintaining temperatures over 100 million degrees Celsius while preventing instabilities. Materials must withstand high-energy neutrons that can degrade structural integrity. Tritium br</a:t>
            </a:r>
          </a:p>
          <a:p>
            <a:pPr>
              <a:spcBef>
                <a:spcPts val="600"/>
              </a:spcBef>
              <a:defRPr sz="819" b="1">
                <a:solidFill>
                  <a:srgbClr val="003087"/>
                </a:solidFill>
              </a:defRPr>
            </a:pPr>
            <a:r>
              <a:t>Key implications</a:t>
            </a:r>
          </a:p>
          <a:p>
            <a:pPr>
              <a:defRPr sz="730">
                <a:solidFill>
                  <a:srgbClr val="333333"/>
                </a:solidFill>
              </a:defRPr>
            </a:pPr>
            <a:r>
              <a:t>- Scientific breakeven achieved (LLNL, Dec 2022) but sustained power generation remains a decade a</a:t>
            </a:r>
          </a:p>
          <a:p>
            <a:pPr>
              <a:defRPr sz="730">
                <a:solidFill>
                  <a:srgbClr val="333333"/>
                </a:solidFill>
              </a:defRPr>
            </a:pPr>
            <a:r>
              <a:t>- Private companies target pilot plants by 2030-2035, but historical delays (ITER) suggest caution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Viability Hinges on Cost Reductions and Scale-Up, with LCOE Uncertain vs. Renewables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Viability Hinges on Cost Reductions and Scale-Up, with LCOE Uncertain vs. Renewables</a:t>
            </a:r>
          </a:p>
          <a:p>
            <a:pPr>
              <a:defRPr sz="830">
                <a:solidFill>
                  <a:srgbClr val="64696E"/>
                </a:solidFill>
              </a:defRPr>
            </a:pPr>
            <a:r>
              <a:t>Fusion's LCOE projections ($50-100+/MWh by 2050) face stiff competition from rapidly falling solar and wind costs (&lt;$30/MWh today), making fusion's economic case dependen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electricity (LCOE) for fusion is highly uncertain, with projections ranging from $50/MWh to over $100/MWh by 2050, depending on capital costs, capacity factors, and fuel costs. In contrast, solar and wind LCOE have already fallen below $3</a:t>
            </a:r>
          </a:p>
          <a:p>
            <a:pPr>
              <a:spcAft>
                <a:spcPts val="600"/>
              </a:spcAft>
              <a:defRPr sz="819">
                <a:solidFill>
                  <a:srgbClr val="333333"/>
                </a:solidFill>
              </a:defRPr>
            </a:pPr>
            <a:r>
              <a:t>Fusion's capital costs are expected to be high due to complex reactor systems, including superconducting magnets, vacuum vessels, and tritium breeding blankets. A typical 1 GW fusion plant might cost $5-10 billion, similar to fission plants. However, fusion fu</a:t>
            </a:r>
          </a:p>
          <a:p>
            <a:pPr>
              <a:spcAft>
                <a:spcPts val="600"/>
              </a:spcAft>
              <a:defRPr sz="819">
                <a:solidFill>
                  <a:srgbClr val="333333"/>
                </a:solidFill>
              </a:defRPr>
            </a:pPr>
            <a:r>
              <a:t>But the rapid decline of renewables and storage is a moving target. Solar-plus-storage LCOE is projected to fall below $20/MWh by 2030 in sunny regions, making it difficult for any new baseload technology to compete. Fusion's value proposition may therefore li</a:t>
            </a:r>
          </a:p>
          <a:p>
            <a:pPr>
              <a:spcBef>
                <a:spcPts val="600"/>
              </a:spcBef>
              <a:defRPr sz="819" b="1">
                <a:solidFill>
                  <a:srgbClr val="003087"/>
                </a:solidFill>
              </a:defRPr>
            </a:pPr>
            <a:r>
              <a:t>Key implications</a:t>
            </a:r>
          </a:p>
          <a:p>
            <a:pPr>
              <a:defRPr sz="730">
                <a:solidFill>
                  <a:srgbClr val="333333"/>
                </a:solidFill>
              </a:defRPr>
            </a:pPr>
            <a:r>
              <a:t>- Fusion LCOE uncertain ($50-100+/MWh by 2050) vs. solar/wind &lt;$30/MWh today.</a:t>
            </a:r>
          </a:p>
          <a:p>
            <a:pPr>
              <a:defRPr sz="730">
                <a:solidFill>
                  <a:srgbClr val="333333"/>
                </a:solidFill>
              </a:defRPr>
            </a:pPr>
            <a:r>
              <a:t>- Fusion's competitive edge may be in baseload, industrial heat, or hydrogen, not bulk electricity</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and Safety Frameworks Are Nascent but Critical for Public Acceptance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and Safety Frameworks Are Nascent but Critical for Public Acceptance</a:t>
            </a:r>
          </a:p>
          <a:p>
            <a:pPr>
              <a:defRPr sz="830">
                <a:solidFill>
                  <a:srgbClr val="64696E"/>
                </a:solidFill>
              </a:defRPr>
            </a:pPr>
            <a:r>
              <a:t>Fusion's regulatory path is still being defined (U.S. NRC proposed rule in 2023), and while fusion produces less long-lived waste than fission, tritium containment and pu</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energy produces less long-lived radioactive waste than fission, as the primary structural materials become activated but decay to safe levels within decades. However, fusion still requires robust safety and waste management regulations. The U.S. Nuclear</a:t>
            </a:r>
          </a:p>
          <a:p>
            <a:pPr>
              <a:spcAft>
                <a:spcPts val="600"/>
              </a:spcAft>
              <a:defRPr sz="819">
                <a:solidFill>
                  <a:srgbClr val="333333"/>
                </a:solidFill>
              </a:defRPr>
            </a:pPr>
            <a:r>
              <a:t>Internationally, the ITER project is providing valuable experience in regulatory compliance for a fusion facility. ITER is licensed under French nuclear regulations, which have been adapted for fusion. This precedent may inform future licensing for commercial</a:t>
            </a:r>
          </a:p>
          <a:p>
            <a:pPr>
              <a:spcAft>
                <a:spcPts val="600"/>
              </a:spcAft>
              <a:defRPr sz="819">
                <a:solidFill>
                  <a:srgbClr val="333333"/>
                </a:solidFill>
              </a:defRPr>
            </a:pPr>
            <a:r>
              <a:t>Safety risks include tritium leakage, which is radioactive and can be incorporated into water. Tritium is difficult to contain due to its small size and mobility. Fusion plants will require multiple containment barriers and monitoring systems. The risk of a ru</a:t>
            </a:r>
          </a:p>
          <a:p>
            <a:pPr>
              <a:spcBef>
                <a:spcPts val="600"/>
              </a:spcBef>
              <a:defRPr sz="819" b="1">
                <a:solidFill>
                  <a:srgbClr val="003087"/>
                </a:solidFill>
              </a:defRPr>
            </a:pPr>
            <a:r>
              <a:t>Key implications</a:t>
            </a:r>
          </a:p>
          <a:p>
            <a:pPr>
              <a:defRPr sz="730">
                <a:solidFill>
                  <a:srgbClr val="333333"/>
                </a:solidFill>
              </a:defRPr>
            </a:pPr>
            <a:r>
              <a:t>- Fusion produces less long-lived waste than fission, but tritium containment is a safety concern.</a:t>
            </a:r>
          </a:p>
          <a:p>
            <a:pPr>
              <a:defRPr sz="730">
                <a:solidFill>
                  <a:srgbClr val="333333"/>
                </a:solidFill>
              </a:defRPr>
            </a:pPr>
            <a:r>
              <a:t>- Regulatory frameworks are nascent; early engagement can reduce licensing risk.</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Outlook and Strategic Implications should be managed as a staged strategic option, not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Outlook and Strategic Implications should be managed as a staged strategic option, no</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operating takeaway is that for leadership, Nuclear Fusion Commercialization Outlook and Strategic Implications should be separated into near-term actions, option-building moves and commitments that require stronger proof. That distinction keeps market enth</a:t>
            </a:r>
          </a:p>
          <a:p>
            <a:pPr>
              <a:spcAft>
                <a:spcPts val="600"/>
              </a:spcAft>
              <a:defRPr sz="819">
                <a:solidFill>
                  <a:srgbClr val="333333"/>
                </a:solidFill>
              </a:defRPr>
            </a:pPr>
            <a:r>
              <a:t>From a board perspective, the immediate management question is not whether the opportunity is exciting; it is whether budget, partner access or management attention should be committed now. Low-cost validation can start early, while larger capital commitments</a:t>
            </a:r>
          </a:p>
          <a:p>
            <a:pPr>
              <a:spcAft>
                <a:spcPts val="600"/>
              </a:spcAft>
              <a:defRPr sz="819">
                <a:solidFill>
                  <a:srgbClr val="333333"/>
                </a:solidFill>
              </a:defRPr>
            </a:pPr>
            <a:r>
              <a:t>The current evidence posture is: Public-evidence signal: [Source 1: U.S. DOE Fusion Energy Sciences] The Department of Energy has been a leader in fusion energy research since the 1950s and supports groundbreaking advances today. This makes a quarterly decisio</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From a board perspective, 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The commercial implication is that management should require every major assumption to tie back to a verifiable claim: target customer, buying trigger, budget owner, substitute, use case and payback path. Where public evidence is missing, keep the claim direct</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commercial implication is that every opportunity eventually returns to cost, revenue, margin, cash flow and timing. If public evidence does not support market size, ROI, unit economics or share, those items should remain validation tasks rather than report</a:t>
            </a:r>
          </a:p>
          <a:p>
            <a:pPr>
              <a:spcAft>
                <a:spcPts val="600"/>
              </a:spcAft>
              <a:defRPr sz="819">
                <a:solidFill>
                  <a:srgbClr val="333333"/>
                </a:solidFill>
              </a:defRPr>
            </a:pPr>
            <a:r>
              <a:t>The board-level question is whether 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Strategic advantage comes from ecosystem position rather than standalone product capability.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uncertain markets, early advantage often comes from supply access, partner entry, talent pools and customer learning rather than a single technology claim.</a:t>
            </a:r>
          </a:p>
          <a:p>
            <a:pPr>
              <a:spcAft>
                <a:spcPts val="600"/>
              </a:spcAft>
              <a:defRPr sz="819">
                <a:solidFill>
                  <a:srgbClr val="333333"/>
                </a:solidFill>
              </a:defRPr>
            </a:pPr>
            <a:r>
              <a:t>A practical reading is that management should identify which capabilities are scarce and can be secured early: critical supply, engineering delivery, channel partners, service network, financing partners and compliance capacity. Low-cost learning rights can be</a:t>
            </a:r>
          </a:p>
          <a:p>
            <a:pPr>
              <a:spcAft>
                <a:spcPts val="600"/>
              </a:spcAft>
              <a:defRPr sz="819">
                <a:solidFill>
                  <a:srgbClr val="333333"/>
                </a:solidFill>
              </a:defRPr>
            </a:pPr>
            <a:r>
              <a:t>Partnerships should create observable proof points. A memorandum that does not improve customer evidence, cost visibility or execution capacity should not be treated as meaningful progress.</a:t>
            </a:r>
          </a:p>
          <a:p>
            <a:pPr>
              <a:spcBef>
                <a:spcPts val="600"/>
              </a:spcBef>
              <a:defRPr sz="819" b="1">
                <a:solidFill>
                  <a:srgbClr val="003087"/>
                </a:solidFill>
              </a:defRPr>
            </a:pPr>
            <a:r>
              <a:t>Key implications</a:t>
            </a:r>
          </a:p>
          <a:p>
            <a:pPr>
              <a:defRPr sz="730">
                <a:solidFill>
                  <a:srgbClr val="333333"/>
                </a:solidFill>
              </a:defRPr>
            </a:pPr>
            <a:r>
              <a:t>- Secure scarce capabilities early</a:t>
            </a:r>
          </a:p>
          <a:p>
            <a:pPr>
              <a:defRPr sz="730">
                <a:solidFill>
                  <a:srgbClr val="333333"/>
                </a:solidFill>
              </a:defRPr>
            </a:pPr>
            <a:r>
              <a:t>- Partnerships must produce proof points</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Assessment for Senior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