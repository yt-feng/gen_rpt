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Assessment of Technology Readiness, Economic Viability, and Geopolitical Impact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Technology Is Approaching a Pivotal Milestone: Net Energy Gain at Commercial Scale</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Economic Viability Remains the Greatest Hurdle: Fusion Must Compete with Falling Renewables and Advanced Fissi</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Tritium Supply Is a Critical Bottleneck: Current Production Is Insufficient for Even One Commercial Reactor</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with private ventures accelerating timelines and attracting over $5 billion in inv</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Technology Is Approaching a Pivotal Milestone: Net Energy Gain at Commercial Scale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Technology Is Approaching a Pivotal Milestone: Net Energy Gain at Commercial Scale</a:t>
            </a:r>
          </a:p>
          <a:p>
            <a:pPr>
              <a:defRPr sz="830">
                <a:solidFill>
                  <a:srgbClr val="64696E"/>
                </a:solidFill>
              </a:defRPr>
            </a:pPr>
            <a:r>
              <a:t>The first commercial-scale net energy gain demonstration is likely within 5–7 years, but technical hurdles remain significant; executives should prepare for a watershed m</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pursuit of controlled nuclear fusion has moved from theoretical physics to engineering reality. In 2022, the National Ignition Facility (NIF) achieved net energy gain for the first time, albeit in a laser-based inertial confinement system not designed for</a:t>
            </a:r>
          </a:p>
          <a:p>
            <a:pPr>
              <a:spcAft>
                <a:spcPts val="600"/>
              </a:spcAft>
              <a:defRPr sz="819">
                <a:solidFill>
                  <a:srgbClr val="333333"/>
                </a:solidFill>
              </a:defRPr>
            </a:pPr>
            <a:r>
              <a:t>Leading designs include the tokamak (used by ITER, SPARC, and others), the stellarator (e.g., Wendelstein 7-X), and alternative concepts like the field-reversed configuration (TAE Technologies) and magnetized target fusion (General Fusion). Each approach has t</a:t>
            </a:r>
          </a:p>
          <a:p>
            <a:pPr>
              <a:spcAft>
                <a:spcPts val="600"/>
              </a:spcAft>
              <a:defRPr sz="819">
                <a:solidFill>
                  <a:srgbClr val="333333"/>
                </a:solidFill>
              </a:defRPr>
            </a:pPr>
            <a:r>
              <a:t>Key technical milestones that will determine commercial readiness include: achieving sustained net energy gain (Q&gt;1) for hours, demonstrating tritium breeding with a ratio &gt;1.0, and validating materials that can withstand neutron bombardment for years. ITER, t</a:t>
            </a:r>
          </a:p>
          <a:p>
            <a:pPr>
              <a:spcBef>
                <a:spcPts val="600"/>
              </a:spcBef>
              <a:defRPr sz="819" b="1">
                <a:solidFill>
                  <a:srgbClr val="003087"/>
                </a:solidFill>
              </a:defRPr>
            </a:pPr>
            <a:r>
              <a:t>Key implications</a:t>
            </a:r>
          </a:p>
          <a:p>
            <a:pPr>
              <a:defRPr sz="730">
                <a:solidFill>
                  <a:srgbClr val="333333"/>
                </a:solidFill>
              </a:defRPr>
            </a:pPr>
            <a:r>
              <a:t>- Net energy gain at commercial scale is the critical milestone; expect demonstration within 5–7 y</a:t>
            </a:r>
          </a:p>
          <a:p>
            <a:pPr>
              <a:defRPr sz="730">
                <a:solidFill>
                  <a:srgbClr val="333333"/>
                </a:solidFill>
              </a:defRPr>
            </a:pPr>
            <a:r>
              <a:t>- Private ventures are outpacing public projects like ITER, but timelines are unverified.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Remains the Greatest Hurdle: Fusion Must Compete with Falling Renewables and Advanced Fission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Remains the Greatest Hurdle: Fusion Must Compete with Falling Renewables and Advanced Fission</a:t>
            </a:r>
          </a:p>
          <a:p>
            <a:pPr>
              <a:defRPr sz="830">
                <a:solidFill>
                  <a:srgbClr val="64696E"/>
                </a:solidFill>
              </a:defRPr>
            </a:pPr>
            <a:r>
              <a:t>Fusion's LCOE is projected at $50–$100/MWh by 2050, but renewables are already below $30/MWh; executives should not base capital allocation on unverified cost projections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Even if fusion achieves technical success, its economic viability is far from assured. The levelized cost of electricity (LCOE) for fusion is projected to be $50–$100/MWh by 2050 under optimistic scenarios, but these estimates are highly speculative. For conte</a:t>
            </a:r>
          </a:p>
          <a:p>
            <a:pPr>
              <a:spcAft>
                <a:spcPts val="600"/>
              </a:spcAft>
              <a:defRPr sz="819">
                <a:solidFill>
                  <a:srgbClr val="333333"/>
                </a:solidFill>
              </a:defRPr>
            </a:pPr>
            <a:r>
              <a:t>Capital expenditure for a first-of-a-kind fusion plant is estimated at $5–$10 billion, comparable to large fission reactors. Operational costs include tritium replenishment, remote maintenance, and periodic component replacement. Financing models are uncertain</a:t>
            </a:r>
          </a:p>
          <a:p>
            <a:pPr>
              <a:spcAft>
                <a:spcPts val="600"/>
              </a:spcAft>
              <a:defRPr sz="819">
                <a:solidFill>
                  <a:srgbClr val="333333"/>
                </a:solidFill>
              </a:defRPr>
            </a:pPr>
            <a:r>
              <a:t>Regulatory pathways are nascent. The US Nuclear Regulatory Commission (NRC) is developing a licensing framework for fusion, with a target completion of 2027. The UK and Canada have initiated consultations, but no country has a complete approval process. This r</a:t>
            </a:r>
          </a:p>
          <a:p>
            <a:pPr>
              <a:spcBef>
                <a:spcPts val="600"/>
              </a:spcBef>
              <a:defRPr sz="819" b="1">
                <a:solidFill>
                  <a:srgbClr val="003087"/>
                </a:solidFill>
              </a:defRPr>
            </a:pPr>
            <a:r>
              <a:t>Key implications</a:t>
            </a:r>
          </a:p>
          <a:p>
            <a:pPr>
              <a:defRPr sz="730">
                <a:solidFill>
                  <a:srgbClr val="333333"/>
                </a:solidFill>
              </a:defRPr>
            </a:pPr>
            <a:r>
              <a:t>- Fusion LCOE projections are highly uncertain; do not base investment decisions on them.</a:t>
            </a:r>
          </a:p>
          <a:p>
            <a:pPr>
              <a:defRPr sz="730">
                <a:solidFill>
                  <a:srgbClr val="333333"/>
                </a:solidFill>
              </a:defRPr>
            </a:pPr>
            <a:r>
              <a:t>- Regulatory delays could add 3–5 years to commercialization; engage early to shape frameworks.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Tritium Supply Is a Critical Bottleneck: Current Production Is Insufficient for Even One Commercial Reactor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Tritium Supply Is a Critical Bottleneck: Current Production Is Insufficient for Even One Commercial Reactor</a:t>
            </a:r>
          </a:p>
          <a:p>
            <a:pPr>
              <a:defRPr sz="830">
                <a:solidFill>
                  <a:srgbClr val="64696E"/>
                </a:solidFill>
              </a:defRPr>
            </a:pPr>
            <a:r>
              <a:t>Global tritium production of ~20 kg/year is orders of magnitude below what a single fusion reactor would require; solving tritium breeding is a strategic imperative.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Tritium, a key fuel for deuterium-tritium fusion reactions, is extremely scarce. Current global production is approximately 20 kg per year, primarily from CANDU fission reactors. A single 1 GW fusion reactor would require an estimated 50–100 kg of tritium per</a:t>
            </a:r>
          </a:p>
          <a:p>
            <a:pPr>
              <a:spcAft>
                <a:spcPts val="600"/>
              </a:spcAft>
              <a:defRPr sz="819">
                <a:solidFill>
                  <a:srgbClr val="333333"/>
                </a:solidFill>
              </a:defRPr>
            </a:pPr>
            <a:r>
              <a:t>The solution is tritium breeding: using neutron capture in lithium blankets to produce tritium within the reactor itself. However, no breeding blanket has been demonstrated at scale. The required tritium breeding ratio (TBR) is &gt;1.0 to sustain operations, but</a:t>
            </a:r>
          </a:p>
          <a:p>
            <a:pPr>
              <a:spcAft>
                <a:spcPts val="600"/>
              </a:spcAft>
              <a:defRPr sz="819">
                <a:solidFill>
                  <a:srgbClr val="333333"/>
                </a:solidFill>
              </a:defRPr>
            </a:pPr>
            <a:r>
              <a:t>The evidence boundary is clear: no large-scale breeding blanket has been demonstrated. All projections of tritium self-sufficiency are based on simulations and small-scale tests. Companies that successfully develop and commercialize breeding blankets could cap</a:t>
            </a:r>
          </a:p>
          <a:p>
            <a:pPr>
              <a:spcBef>
                <a:spcPts val="600"/>
              </a:spcBef>
              <a:defRPr sz="819" b="1">
                <a:solidFill>
                  <a:srgbClr val="003087"/>
                </a:solidFill>
              </a:defRPr>
            </a:pPr>
            <a:r>
              <a:t>Key implications</a:t>
            </a:r>
          </a:p>
          <a:p>
            <a:pPr>
              <a:defRPr sz="730">
                <a:solidFill>
                  <a:srgbClr val="333333"/>
                </a:solidFill>
              </a:defRPr>
            </a:pPr>
            <a:r>
              <a:t>- Management should separate verified facts, directional scenarios and missing diligence items bef</a:t>
            </a:r>
          </a:p>
          <a:p>
            <a:pPr>
              <a:defRPr sz="730">
                <a:solidFill>
                  <a:srgbClr val="333333"/>
                </a:solidFill>
              </a:defRPr>
            </a:pPr>
            <a:r>
              <a:t>- Confirm the evidence boundary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Implications for Energy Markets and Investment should be separated into verified facts, directional scenarios and open diligence items. That boundary keeps the report from turning market enthusiasm or</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of Technology Readiness, Economic Viability, and Geopolitical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