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China Quantum Computing 2026: Strategic Assessment for Investment and Partnership</a:t>
            </a:r>
          </a:p>
          <a:p>
            <a:pPr>
              <a:spcBef>
                <a:spcPts val="1400"/>
              </a:spcBef>
              <a:defRPr sz="950">
                <a:solidFill>
                  <a:srgbClr val="64696E"/>
                </a:solidFill>
              </a:defRPr>
            </a:pPr>
            <a:r>
              <a:t>Evaluating Technological Maturity, Policy Drivers, Ecosystem Dynamics, and Global Positioning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Superconducting Qubit Platforms Dominate but Photonic and Topological Approaches Gain Traction</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Government Funding Exceeds $15 Billion Under the 14th Five-Year Plan with Military Focus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Domestic Tech Giants and Startups Commercialize Cloud Quantum Services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Financial Modeling and Drug Discovery Lead Near-Term Quantum Applications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China Leads in Quantum Communication Patents but Trails US in Quantum Computing Software</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Talent Pipeline Strengthens but Brain Drain Remains a Risk</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Global Competitive Position: China Leads in Communication, Lags in Computing</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Strategic Risks: Over-Reliance on State Funding and Error Correction Bottlenecks</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Recommendation: Invest in Chinese Quantum Software Startups and Photonic Hardware Ventures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China's quantum computing sector is on track to achieve operational quantum advantage in specific domains by 2026, driven by sustained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Superconducting Qubit Platforms Dominate but Photonic and Topological Approaches Gain Traction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Superconducting Qubit Platforms Dominate but Photonic and Topological Approaches Gain Traction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quantum computing hardware landscape is led by superconducting qubit systems, with the University of Science and Technology of China (USTC) and Origin Quantum achieving qubit counts exceeding 100 by 2025. The Zuchongzhi series has demonstrated 66 qubit</a:t>
            </a:r>
          </a:p>
          <a:p>
            <a:pPr>
              <a:spcAft>
                <a:spcPts val="600"/>
              </a:spcAft>
              <a:defRPr sz="819">
                <a:solidFill>
                  <a:srgbClr val="333333"/>
                </a:solidFill>
              </a:defRPr>
            </a:pPr>
            <a:r>
              <a:t>Photonic quantum computing, championed by the Pan Jianwei group at USTC, has achieved quantum computational advantage with the Jiuzhang series using Gaussian boson sampling. The latest Jiuzhang 3.0 operates with 255 detected photons, offering a speed advantage</a:t>
            </a:r>
          </a:p>
          <a:p>
            <a:pPr>
              <a:spcAft>
                <a:spcPts val="600"/>
              </a:spcAft>
              <a:defRPr sz="819">
                <a:solidFill>
                  <a:srgbClr val="333333"/>
                </a:solidFill>
              </a:defRPr>
            </a:pPr>
            <a:r>
              <a:t>Topological qubits, pursued by Microsoft in collaboration with Chinese researchers, are still at an early stage. However, Chinese institutes like the Beijing Academy of Quantum Information Sciences are exploring Majorana fermion-based systems. Trapped ion plat</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Government Funding Exceeds $15 Billion Under the 14th Five-Year Plan with Military Focus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Government Funding Exceeds $15 Billion Under the 14th Five-Year Plan with Military Focus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central government has allocated over $15 billion to quantum technology under the 14th Five-Year Plan (2021-2025), with additional provincial and municipal funding. The National Quantum Information Science Pilot Project, led by the Chinese Academy of S</a:t>
            </a:r>
          </a:p>
          <a:p>
            <a:pPr>
              <a:spcAft>
                <a:spcPts val="600"/>
              </a:spcAft>
              <a:defRPr sz="819">
                <a:solidFill>
                  <a:srgbClr val="333333"/>
                </a:solidFill>
              </a:defRPr>
            </a:pPr>
            <a:r>
              <a:t>Quantum communication infrastructure, including the Beijing-Shanghai quantum backbone and the Micius satellite network, has received the largest share of funding. These systems enable secure key distribution for government and military communications. By 2026,</a:t>
            </a:r>
          </a:p>
          <a:p>
            <a:pPr>
              <a:spcAft>
                <a:spcPts val="600"/>
              </a:spcAft>
              <a:defRPr sz="819">
                <a:solidFill>
                  <a:srgbClr val="333333"/>
                </a:solidFill>
              </a:defRPr>
            </a:pPr>
            <a:r>
              <a:t>Military applications extend to quantum sensing for navigation, submarine detection, and radar. The Chinese military has invested in quantum magnetometers and atomic clocks for inertial navigation systems that are resistant to GPS jamming. Quantum radar protot</a:t>
            </a:r>
          </a:p>
        </p:txBody>
      </p:sp>
      <p:pic>
        <p:nvPicPr>
          <p:cNvPr id="7" name="Picture 6" descr="chart-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Domestic Tech Giants and Startups Commercialize Cloud Quantum Services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Domestic Tech Giants and Startups Commercialize Cloud Quantum Services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Alibaba Cloud launched its quantum computing cloud service in 2018, offering access to 11-qubit superconducting processors. By 2026, the platform hosts multiple backends including 66-qubit processors from USTC and Origin Quantum. Baidu's QIAN platform provides</a:t>
            </a:r>
          </a:p>
          <a:p>
            <a:pPr>
              <a:spcAft>
                <a:spcPts val="600"/>
              </a:spcAft>
              <a:defRPr sz="819">
                <a:solidFill>
                  <a:srgbClr val="333333"/>
                </a:solidFill>
              </a:defRPr>
            </a:pPr>
            <a:r>
              <a:t>Origin Quantum, a spin-off from USTC, has commercialized the Wuyuan series of superconducting quantum computers, with the Wuyuan 2.0 offering 64 qubits. The company provides cloud access and on-premise systems for research institutions. Other startups like Qud</a:t>
            </a:r>
          </a:p>
          <a:p>
            <a:pPr>
              <a:spcAft>
                <a:spcPts val="600"/>
              </a:spcAft>
              <a:defRPr sz="819">
                <a:solidFill>
                  <a:srgbClr val="333333"/>
                </a:solidFill>
              </a:defRPr>
            </a:pPr>
            <a:r>
              <a:t>The quantum software ecosystem is less mature than hardware. Chinese quantum programming languages and compilers, such as Baidu's QCompute and Origin Quantum's QPanda, are gaining users but lack the community support of IBM's Qiskit or Google's Cirq. Algorithm</a:t>
            </a:r>
          </a:p>
        </p:txBody>
      </p:sp>
      <p:pic>
        <p:nvPicPr>
          <p:cNvPr id="7" name="Picture 6" descr="chart-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Financial Modeling and Drug Discovery Lead Near-Term Quantum Applications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Financial Modeling and Drug Discovery Lead Near-Term Quantum Applications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Chinese financial institutions, including the Industrial and Commercial Bank of China and China Merchants Bank, are piloting quantum algorithms for portfolio optimization, risk analysis, and fraud detection. Quantum annealing and variational quantum eigensolve</a:t>
            </a:r>
          </a:p>
          <a:p>
            <a:pPr>
              <a:spcAft>
                <a:spcPts val="600"/>
              </a:spcAft>
              <a:defRPr sz="819">
                <a:solidFill>
                  <a:srgbClr val="333333"/>
                </a:solidFill>
              </a:defRPr>
            </a:pPr>
            <a:r>
              <a:t>Pharmaceutical companies like WuXi AppTec and Sinopharm are collaborating with quantum startups to simulate molecular interactions for drug discovery. Quantum chemistry simulations on 50-100 qubit processors can model small molecules with accuracy comparable t</a:t>
            </a:r>
          </a:p>
          <a:p>
            <a:pPr>
              <a:spcAft>
                <a:spcPts val="600"/>
              </a:spcAft>
              <a:defRPr sz="819">
                <a:solidFill>
                  <a:srgbClr val="333333"/>
                </a:solidFill>
              </a:defRPr>
            </a:pPr>
            <a:r>
              <a:t>Logistics optimization is another promising area, with companies like JD.com and SF Express using quantum algorithms for route planning and supply chain optimization. Quantum annealing systems from D-Wave (accessed via cloud) and Chinese-developed quantum anne</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 Leads in Quantum Communication Patents but Trails US in Quantum Computing Software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 Leads in Quantum Communication Patents but Trails US in Quantum Computing Software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 has filed over 3,000 quantum technology patents since 2020, with a strong focus on quantum communication and cryptography. The University of Science and Technology of China and Huawei are top filers, covering quantum key distribution, quantum repeaters,</a:t>
            </a:r>
          </a:p>
          <a:p>
            <a:pPr>
              <a:spcAft>
                <a:spcPts val="600"/>
              </a:spcAft>
              <a:defRPr sz="819">
                <a:solidFill>
                  <a:srgbClr val="333333"/>
                </a:solidFill>
              </a:defRPr>
            </a:pPr>
            <a:r>
              <a:t>The US leads in quantum computing software patents, with IBM, Google, and Microsoft holding key intellectual property on quantum error correction, compilers, and algorithms. China's patent portfolio in quantum software is growing but remains fragmented, with m</a:t>
            </a:r>
          </a:p>
          <a:p>
            <a:pPr>
              <a:spcAft>
                <a:spcPts val="600"/>
              </a:spcAft>
              <a:defRPr sz="819">
                <a:solidFill>
                  <a:srgbClr val="333333"/>
                </a:solidFill>
              </a:defRPr>
            </a:pPr>
            <a:r>
              <a:t>Publication output in quantum computing has surged, with Chinese authors contributing over 30% of global papers in 2025. However, citation impact is lower than US and EU counterparts, indicating a focus on incremental rather than breakthrough research. The Chi</a:t>
            </a:r>
          </a:p>
        </p:txBody>
      </p:sp>
      <p:pic>
        <p:nvPicPr>
          <p:cNvPr id="7" name="Picture 6" descr="chart-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Talent Pipeline Strengthens but Brain Drain Remains a Risk</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Talent Pipeline Strengthens but Brain Drain Remains a Risk</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 has invested heavily in quantum education, with over 50 universities offering specialized quantum science and engineering programs. The Chinese Academy of Sciences and USTC produce the largest number of quantum PhDs, with an estimated 500 graduates per y</a:t>
            </a:r>
          </a:p>
          <a:p>
            <a:pPr>
              <a:spcAft>
                <a:spcPts val="600"/>
              </a:spcAft>
              <a:defRPr sz="819">
                <a:solidFill>
                  <a:srgbClr val="333333"/>
                </a:solidFill>
              </a:defRPr>
            </a:pPr>
            <a:r>
              <a:t>Brain drain to the US and EU is a persistent concern. Many Chinese quantum researchers trained abroad choose to remain in the US or Europe due to better funding, academic freedom, and career opportunities. The US quantum workforce includes a significant propor</a:t>
            </a:r>
          </a:p>
          <a:p>
            <a:pPr>
              <a:spcAft>
                <a:spcPts val="600"/>
              </a:spcAft>
              <a:defRPr sz="819">
                <a:solidFill>
                  <a:srgbClr val="333333"/>
                </a:solidFill>
              </a:defRPr>
            </a:pPr>
            <a:r>
              <a:t>Industry-academia linkages are improving, with companies like Baidu and Alibaba funding university labs and joint research centers. Origin Quantum has established a talent incubation program that places students in hands-on hardware projects. However, the gap</a:t>
            </a:r>
          </a:p>
        </p:txBody>
      </p:sp>
      <p:pic>
        <p:nvPicPr>
          <p:cNvPr id="7" name="Picture 6" descr="chart-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Global Competitive Position: China Leads in Communication, Lags in Computing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Global Competitive Position: China Leads in Communication, Lags in Computing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quantum communication infrastructure is the most advanced globally, with operational quantum key distribution networks spanning thousands of kilometers and satellite-based links. The Micius satellite has demonstrated intercontinental quantum key distri</a:t>
            </a:r>
          </a:p>
          <a:p>
            <a:pPr>
              <a:spcAft>
                <a:spcPts val="600"/>
              </a:spcAft>
              <a:defRPr sz="819">
                <a:solidFill>
                  <a:srgbClr val="333333"/>
                </a:solidFill>
              </a:defRPr>
            </a:pPr>
            <a:r>
              <a:t>In quantum computing hardware, China is roughly 2-3 years behind the US in terms of qubit count and gate fidelity. US companies like IBM (1,121 qubits), Google (70+ qubits), and IonQ (32 qubits) have demonstrated higher performance, but Chinese systems are cat</a:t>
            </a:r>
          </a:p>
          <a:p>
            <a:pPr>
              <a:spcAft>
                <a:spcPts val="600"/>
              </a:spcAft>
              <a:defRPr sz="819">
                <a:solidFill>
                  <a:srgbClr val="333333"/>
                </a:solidFill>
              </a:defRPr>
            </a:pPr>
            <a:r>
              <a:t>The EU, through the Quantum Flagship program, has invested €1 billion and achieved strong results in quantum sensing and software. European startups like IQM and Quandela are competitive in hardware, but the overall ecosystem is smaller than China's. Other Asi</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Risks: Over-Reliance on State Funding and Error Correction Bottlenecks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Risks: Over-Reliance on State Funding and Error Correction Bottlenecks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heavy reliance on government funding creates a risk of misallocation and inefficiency. State-directed research may prioritize politically connected institutions over the most promising startups, and the lack of market discipline can lead to overinvestment</a:t>
            </a:r>
          </a:p>
          <a:p>
            <a:pPr>
              <a:spcAft>
                <a:spcPts val="600"/>
              </a:spcAft>
              <a:defRPr sz="819">
                <a:solidFill>
                  <a:srgbClr val="333333"/>
                </a:solidFill>
              </a:defRPr>
            </a:pPr>
            <a:r>
              <a:t>Error correction remains the most significant technical bottleneck. Current Chinese quantum processors have physical error rates around 0.1-1%, requiring thousands of physical qubits per logical qubit. The roadmap to 50 logical qubits by 2026 is ambitious and</a:t>
            </a:r>
          </a:p>
          <a:p>
            <a:pPr>
              <a:spcAft>
                <a:spcPts val="600"/>
              </a:spcAft>
              <a:defRPr sz="819">
                <a:solidFill>
                  <a:srgbClr val="333333"/>
                </a:solidFill>
              </a:defRPr>
            </a:pPr>
            <a:r>
              <a:t>Geopolitical risks are elevated. US export controls on quantum technology could expand to include software and algorithms, restricting access to key tools. A sudden technology ban could disrupt supply chains for cryogenic equipment and control electronics, del</a:t>
            </a:r>
          </a:p>
        </p:txBody>
      </p:sp>
      <p:pic>
        <p:nvPicPr>
          <p:cNvPr id="7" name="Picture 6" descr="chart-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Recommendation: Invest in Chinese Quantum Software Startups and Photonic Hardware Ventures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Recommendation: Invest in Chinese Quantum Software Startups and Photonic Hardware Ventures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Based on the strategic assessment, the highest return on investment lies in Chinese quantum software startups that focus on algorithms for finance, logistics, and drug discovery. These companies have lower capital requirements, faster time-to-market, and can l</a:t>
            </a:r>
          </a:p>
          <a:p>
            <a:pPr>
              <a:spcAft>
                <a:spcPts val="600"/>
              </a:spcAft>
              <a:defRPr sz="819">
                <a:solidFill>
                  <a:srgbClr val="333333"/>
                </a:solidFill>
              </a:defRPr>
            </a:pPr>
            <a:r>
              <a:t>Photonic hardware ventures offer a differentiated approach with inherent scalability for quantum communication and computing. Companies like Qudoor and those spun off from USTC's photonic lab are well-positioned to benefit from China's leadership in quantum co</a:t>
            </a:r>
          </a:p>
          <a:p>
            <a:pPr>
              <a:spcAft>
                <a:spcPts val="600"/>
              </a:spcAft>
              <a:defRPr sz="819">
                <a:solidFill>
                  <a:srgbClr val="333333"/>
                </a:solidFill>
              </a:defRPr>
            </a:pPr>
            <a:r>
              <a:t>Partnerships with established players like Baidu and Origin Quantum can provide access to hardware and talent, but equity stakes in startups offer higher upside. Joint ventures with Chinese pharmaceutical or financial firms can accelerate application developme</a:t>
            </a:r>
          </a:p>
        </p:txBody>
      </p:sp>
      <p:pic>
        <p:nvPicPr>
          <p:cNvPr id="7" name="Picture 6" descr="chart-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7: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7: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7.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63040"/>
            <a:ext cx="9875520" cy="2926080"/>
          </a:xfrm>
          <a:prstGeom prst="rect">
            <a:avLst/>
          </a:prstGeom>
          <a:noFill/>
        </p:spPr>
        <p:txBody>
          <a:bodyPr wrap="square">
            <a:spAutoFit/>
          </a:bodyPr>
          <a:lstStyle/>
          <a:p>
            <a:pPr>
              <a:defRPr sz="1500">
                <a:solidFill>
                  <a:srgbClr val="003087"/>
                </a:solidFill>
              </a:defRPr>
            </a:pPr>
            <a:r>
              <a:t>Evaluating Technological Maturity, Policy Drivers, Ecosystem Dynamics, and Global Positioning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