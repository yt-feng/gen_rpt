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Implications for Energy Markets and Investment</a:t>
            </a:r>
          </a:p>
          <a:p>
            <a:pPr>
              <a:spcBef>
                <a:spcPts val="1400"/>
              </a:spcBef>
              <a:defRPr sz="950">
                <a:solidFill>
                  <a:srgbClr val="64696E"/>
                </a:solidFill>
              </a:defRPr>
            </a:pPr>
            <a:r>
              <a:t>A CEO-Ready Assessment of Technology Readiness, Commercial Pathways, and Risk-Adjusted Opportunities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Commercialization Is Advancing but Still Faces Decade-Long Hurdles</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Private Fusion Companies Are Leading the Race with Innovative Designs and Significant Funding</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Government Projects Like ITER Provide Critical Research but Face Delays and Cost Overruns</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Nuclear Fusion Commercialization: Strategic Implications for Energy Markets and Investment should be managed a</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Commercial readiness depends on bankability, deliverability and repeat customer proof</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Cost, return and timing will determine the real deployment window</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Regulation, policy and public acceptance can reset the speed of adoption</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Supply chain, partners and talent will decide who can act before the market is obvious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Nuclear fusion is transitioning from laboratory science to engineering demonstration, with private companies and public projects target</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The U.S. Department of Energy (DOE) has been a leader in fusion research since the 1950s and supports groundbreaking advances today thr</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ITER, the international tokamak project, is designed to achieve fusion power production at power plant scale, breaking new ground in fu</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Private fusion companies have raised over $5 billion and are accelerating timelines, with several targeting net energy gain by 2030. Th</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Fusion's levelized cost of electricity (LCOE) is highly uncertain, with projections ranging from $50–$100/MWh by 2050, but likely highe</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Translate technical evidence into revenue potential, cost position, investment return, execution risk and decision gates.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Commercialization Is Advancing but Still Faces Decade-Long Hurdles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Commercialization Is Advancing but Still Faces Decade-Long Hurdles</a:t>
            </a:r>
          </a:p>
          <a:p>
            <a:pPr>
              <a:defRPr sz="830">
                <a:solidFill>
                  <a:srgbClr val="64696E"/>
                </a:solidFill>
              </a:defRPr>
            </a:pPr>
            <a:r>
              <a:t>Nuclear fusion is transitioning from laboratory science to engineering demonstration, but commercialization remains 10–20 years away, requiring strategic patience and sta</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the process that powers the sun, has been a scientific aspiration for over 70 years. The U.S. Department of Energy has led fusion research since the 1950s, and today, both public and private efforts are accelerating. The goal is to harness fusi</a:t>
            </a:r>
          </a:p>
          <a:p>
            <a:pPr>
              <a:spcAft>
                <a:spcPts val="600"/>
              </a:spcAft>
              <a:defRPr sz="819">
                <a:solidFill>
                  <a:srgbClr val="333333"/>
                </a:solidFill>
              </a:defRPr>
            </a:pPr>
            <a:r>
              <a:t>The fundamental physics of fusion is well understood: when light nuclei like deuterium and tritium combine, they release enormous energy. Controlling this reaction in a stable plasma at temperatures exceeding 100 million degrees Celsius is the core engineering</a:t>
            </a:r>
          </a:p>
          <a:p>
            <a:pPr>
              <a:spcAft>
                <a:spcPts val="600"/>
              </a:spcAft>
              <a:defRPr sz="819">
                <a:solidFill>
                  <a:srgbClr val="333333"/>
                </a:solidFill>
              </a:defRPr>
            </a:pPr>
            <a:r>
              <a:t>The ITER project, an international collaboration involving China, the EU, India, Japan, Korea, Russia, and the United States, is designed to be the first fusion device to produce net energy at power plant scale. ITER's goal is to achieve fusion power productio</a:t>
            </a:r>
          </a:p>
          <a:p>
            <a:pPr>
              <a:spcBef>
                <a:spcPts val="600"/>
              </a:spcBef>
              <a:defRPr sz="819" b="1">
                <a:solidFill>
                  <a:srgbClr val="003087"/>
                </a:solidFill>
              </a:defRPr>
            </a:pPr>
            <a:r>
              <a:t>Key implications</a:t>
            </a:r>
          </a:p>
          <a:p>
            <a:pPr>
              <a:defRPr sz="730">
                <a:solidFill>
                  <a:srgbClr val="333333"/>
                </a:solidFill>
              </a:defRPr>
            </a:pPr>
            <a:r>
              <a:t>- Fusion is advancing but commercialization is 10–20 years away.</a:t>
            </a:r>
          </a:p>
          <a:p>
            <a:pPr>
              <a:defRPr sz="730">
                <a:solidFill>
                  <a:srgbClr val="333333"/>
                </a:solidFill>
              </a:defRPr>
            </a:pPr>
            <a:r>
              <a:t>- ITER and private companies are key milestones to monitor.</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Private Fusion Companies Are Leading the Race with Innovative Designs and Significant Funding</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Private Fusion Companies Are Leading the Race with Innovative Designs and Significant Funding</a:t>
            </a:r>
          </a:p>
          <a:p>
            <a:pPr>
              <a:defRPr sz="830">
                <a:solidFill>
                  <a:srgbClr val="64696E"/>
                </a:solidFill>
              </a:defRPr>
            </a:pPr>
            <a:r>
              <a:t>Private fusion companies have raised over $5 billion and are accelerating timelines, offering strategic optionality for early investors but requiring careful due diligenc</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Private fusion companies have attracted over $5 billion in investment since 2020, driven by breakthroughs in high-temperature superconductors, advanced computing, and a growing sense that fusion is within reach. These companies are pursuing diverse technical a</a:t>
            </a:r>
          </a:p>
          <a:p>
            <a:pPr>
              <a:spcAft>
                <a:spcPts val="600"/>
              </a:spcAft>
              <a:defRPr sz="819">
                <a:solidFill>
                  <a:srgbClr val="333333"/>
                </a:solidFill>
              </a:defRPr>
            </a:pPr>
            <a:r>
              <a:t>Commonwealth Fusion Systems (CFS) is arguably the most advanced. Their SPARC tokamak, under construction in Massachusetts, uses rare-earth barium copper oxide (REBCO) magnets to achieve a much smaller and cheaper reactor than traditional designs. CFS has raise</a:t>
            </a:r>
          </a:p>
          <a:p>
            <a:pPr>
              <a:spcAft>
                <a:spcPts val="600"/>
              </a:spcAft>
              <a:defRPr sz="819">
                <a:solidFill>
                  <a:srgbClr val="333333"/>
                </a:solidFill>
              </a:defRPr>
            </a:pPr>
            <a:r>
              <a:t>TAE Technologies uses a field-reversed configuration (FRC) that is inherently stable and can operate with advanced fuels like hydrogen-boron, which produce no neutrons. TAE has raised $1.2 billion and operates a series of experimental devices (Norman, Copernic</a:t>
            </a:r>
          </a:p>
          <a:p>
            <a:pPr>
              <a:spcBef>
                <a:spcPts val="600"/>
              </a:spcBef>
              <a:defRPr sz="819" b="1">
                <a:solidFill>
                  <a:srgbClr val="003087"/>
                </a:solidFill>
              </a:defRPr>
            </a:pPr>
            <a:r>
              <a:t>Key implications</a:t>
            </a:r>
          </a:p>
          <a:p>
            <a:pPr>
              <a:defRPr sz="730">
                <a:solidFill>
                  <a:srgbClr val="333333"/>
                </a:solidFill>
              </a:defRPr>
            </a:pPr>
            <a:r>
              <a:t>- Private fusion companies have raised over $5 billion and are targeting net energy by 2030.</a:t>
            </a:r>
          </a:p>
          <a:p>
            <a:pPr>
              <a:defRPr sz="730">
                <a:solidFill>
                  <a:srgbClr val="333333"/>
                </a:solidFill>
              </a:defRPr>
            </a:pPr>
            <a:r>
              <a:t>- Diverse technical approaches require portfolio investment strategy.</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Government Projects Like ITER Provide Critical Research but Face Delays and Cost Overruns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Government Projects Like ITER Provide Critical Research but Face Delays and Cost Overruns</a:t>
            </a:r>
          </a:p>
          <a:p>
            <a:pPr>
              <a:defRPr sz="830">
                <a:solidFill>
                  <a:srgbClr val="64696E"/>
                </a:solidFill>
              </a:defRPr>
            </a:pPr>
            <a:r>
              <a:t>ITER remains the flagship public fusion project, but its delays and cost overruns underscore the technical difficulty of fusion and suggest that commercial timelines may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ITER remains the flagship public fusion project, designed to demonstrate integrated reactor technology at power plant scale. Located in Cadarache, France, ITER is a collaboration of seven parties representing over half of the world's population. Its goal is to</a:t>
            </a:r>
          </a:p>
          <a:p>
            <a:pPr>
              <a:spcAft>
                <a:spcPts val="600"/>
              </a:spcAft>
              <a:defRPr sz="819">
                <a:solidFill>
                  <a:srgbClr val="333333"/>
                </a:solidFill>
              </a:defRPr>
            </a:pPr>
            <a:r>
              <a:t>For Government Projects Like ITER Provide Critical Research but Face Delays and Cost Overruns, management should translate the public record into a narrower decision boundary before committing resources. Retained signal 1 is: [Source 1: U.S. DOE Fusion Energy</a:t>
            </a:r>
          </a:p>
          <a:p>
            <a:pPr>
              <a:spcAft>
                <a:spcPts val="600"/>
              </a:spcAft>
              <a:defRPr sz="819">
                <a:solidFill>
                  <a:srgbClr val="333333"/>
                </a:solidFill>
              </a:defRPr>
            </a:pPr>
            <a:r>
              <a:t>Every opportunity eventually returns to cost, revenue, margin, cash flow and timing. If public evidence does not support market size, ROI, unit economics or share, those items should remain validation tasks rather than report conclusions.</a:t>
            </a:r>
          </a:p>
          <a:p>
            <a:pPr>
              <a:spcBef>
                <a:spcPts val="600"/>
              </a:spcBef>
              <a:defRPr sz="819" b="1">
                <a:solidFill>
                  <a:srgbClr val="003087"/>
                </a:solidFill>
              </a:defRPr>
            </a:pPr>
            <a:r>
              <a:t>Key implications</a:t>
            </a:r>
          </a:p>
          <a:p>
            <a:pPr>
              <a:defRPr sz="730">
                <a:solidFill>
                  <a:srgbClr val="333333"/>
                </a:solidFill>
              </a:defRPr>
            </a:pPr>
            <a:r>
              <a:t>- ITER, the international tokamak project, is designed to achieve fusion power production at power</a:t>
            </a:r>
          </a:p>
          <a:p>
            <a:pPr>
              <a:defRPr sz="730">
                <a:solidFill>
                  <a:srgbClr val="333333"/>
                </a:solidFill>
              </a:defRPr>
            </a:pPr>
            <a:r>
              <a:t>- Confirm the available public record before committing capital.</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Strategic Implications for Energy Markets and Investment should be managed as a staged</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Strategic Implications for Energy Markets and Investment should be managed as a stag</a:t>
            </a:r>
          </a:p>
          <a:p>
            <a:pPr>
              <a:defRPr sz="830">
                <a:solidFill>
                  <a:srgbClr val="64696E"/>
                </a:solidFill>
              </a:defRPr>
            </a:pPr>
            <a:r>
              <a:t>The CEO question is which moves are safe now and which should wait for stronger evidence.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operating takeaway is that for leadership, Nuclear Fusion Commercialization: Strategic Implications for Energy Markets and Investment should be separated into near-term actions, option-building moves and commitments that require stronger proof. That distin</a:t>
            </a:r>
          </a:p>
          <a:p>
            <a:pPr>
              <a:spcAft>
                <a:spcPts val="600"/>
              </a:spcAft>
              <a:defRPr sz="819">
                <a:solidFill>
                  <a:srgbClr val="333333"/>
                </a:solidFill>
              </a:defRPr>
            </a:pPr>
            <a:r>
              <a:t>The immediate management question is not whether the opportunity is exciting; it is whether budget, partner access or management attention should be committed now. Low-cost validation can start early, while larger capital commitments should wait for customer,</a:t>
            </a:r>
          </a:p>
          <a:p>
            <a:pPr>
              <a:spcAft>
                <a:spcPts val="600"/>
              </a:spcAft>
              <a:defRPr sz="819">
                <a:solidFill>
                  <a:srgbClr val="333333"/>
                </a:solidFill>
              </a:defRPr>
            </a:pPr>
            <a:r>
              <a:t>The current evidence posture is: Public-evidence signal: [Source 1: U.S. DOE Fusion Energy Sciences] The Department of Energy has been a leader in fusion energy research since the 1950s and supports groundbreaking advances today. This makes a quarterly decisio</a:t>
            </a:r>
          </a:p>
          <a:p>
            <a:pPr>
              <a:spcBef>
                <a:spcPts val="600"/>
              </a:spcBef>
              <a:defRPr sz="819" b="1">
                <a:solidFill>
                  <a:srgbClr val="003087"/>
                </a:solidFill>
              </a:defRPr>
            </a:pPr>
            <a:r>
              <a:t>Key implications</a:t>
            </a:r>
          </a:p>
          <a:p>
            <a:pPr>
              <a:defRPr sz="730">
                <a:solidFill>
                  <a:srgbClr val="333333"/>
                </a:solidFill>
              </a:defRPr>
            </a:pPr>
            <a:r>
              <a:t>- Start with low-cost validation</a:t>
            </a:r>
          </a:p>
          <a:p>
            <a:pPr>
              <a:defRPr sz="730">
                <a:solidFill>
                  <a:srgbClr val="333333"/>
                </a:solidFill>
              </a:defRPr>
            </a:pPr>
            <a:r>
              <a:t>- Hold major commitments behind evidence gates</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Commercial readiness depends on bankability, deliverability and repeat customer proof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Commercial readiness depends on bankability, deliverability and repeat customer proof</a:t>
            </a:r>
          </a:p>
          <a:p>
            <a:pPr>
              <a:defRPr sz="830">
                <a:solidFill>
                  <a:srgbClr val="64696E"/>
                </a:solidFill>
              </a:defRPr>
            </a:pPr>
            <a:r>
              <a:t>Technical feasibility matters only when it changes customer value, cost position and execution confidence.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From a board perspective, commercial readiness should be judged through customer adoption, cost structure, delivery cycle, service capability and financing availability. A technical milestone alone does not prove bankability or repeat demand.</a:t>
            </a:r>
          </a:p>
          <a:p>
            <a:pPr>
              <a:spcAft>
                <a:spcPts val="600"/>
              </a:spcAft>
              <a:defRPr sz="819">
                <a:solidFill>
                  <a:srgbClr val="333333"/>
                </a:solidFill>
              </a:defRPr>
            </a:pPr>
            <a:r>
              <a:t>Management should require every major assumption to tie back to a verifiable claim: target customer, buying trigger, budget owner, substitute, use case and payback path. Where public evidence is missing, keep the claim directional.</a:t>
            </a:r>
          </a:p>
          <a:p>
            <a:pPr>
              <a:spcAft>
                <a:spcPts val="600"/>
              </a:spcAft>
              <a:defRPr sz="819">
                <a:solidFill>
                  <a:srgbClr val="333333"/>
                </a:solidFill>
              </a:defRPr>
            </a:pPr>
            <a:r>
              <a:t>A more robust path is to build credible proof through pilots, partner diligence and third-party validation before moving into larger commitments.</a:t>
            </a:r>
          </a:p>
          <a:p>
            <a:pPr>
              <a:spcBef>
                <a:spcPts val="600"/>
              </a:spcBef>
              <a:defRPr sz="819" b="1">
                <a:solidFill>
                  <a:srgbClr val="003087"/>
                </a:solidFill>
              </a:defRPr>
            </a:pPr>
            <a:r>
              <a:t>Key implications</a:t>
            </a:r>
          </a:p>
          <a:p>
            <a:pPr>
              <a:defRPr sz="730">
                <a:solidFill>
                  <a:srgbClr val="333333"/>
                </a:solidFill>
              </a:defRPr>
            </a:pPr>
            <a:r>
              <a:t>- Customer value changes decisions more than technical narrative</a:t>
            </a:r>
          </a:p>
          <a:p>
            <a:pPr>
              <a:defRPr sz="730">
                <a:solidFill>
                  <a:srgbClr val="333333"/>
                </a:solidFill>
              </a:defRPr>
            </a:pPr>
            <a:r>
              <a:t>- Validate bankability and delivery risk first</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Cost, return and timing will determine the real deployment window</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Cost, return and timing will determine the real deployment window</a:t>
            </a:r>
          </a:p>
          <a:p>
            <a:pPr>
              <a:defRPr sz="830">
                <a:solidFill>
                  <a:srgbClr val="64696E"/>
                </a:solidFill>
              </a:defRPr>
            </a:pPr>
            <a:r>
              <a:t>Market size should not enter an investment case until the cost and return logic can be checked.</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commercial implication is that every opportunity eventually returns to cost, revenue, margin, cash flow and timing. If public evidence does not support market size, ROI, unit economics or share, those items should remain validation tasks rather than report</a:t>
            </a:r>
          </a:p>
          <a:p>
            <a:pPr>
              <a:spcAft>
                <a:spcPts val="600"/>
              </a:spcAft>
              <a:defRPr sz="819">
                <a:solidFill>
                  <a:srgbClr val="333333"/>
                </a:solidFill>
              </a:defRPr>
            </a:pPr>
            <a:r>
              <a:t>The board-level question is whether near-term action should focus on verifiable cost drivers and customer willingness to pay instead of relying on optimistic long-range scenarios. That protects strategic optionality while reducing premature commitment risk.</a:t>
            </a:r>
          </a:p>
          <a:p>
            <a:pPr>
              <a:spcAft>
                <a:spcPts val="600"/>
              </a:spcAft>
              <a:defRPr sz="819">
                <a:solidFill>
                  <a:srgbClr val="333333"/>
                </a:solidFill>
              </a:defRPr>
            </a:pPr>
            <a:r>
              <a:t>For leadership teams, as cost, customer and financing evidence improves, management can shift resources from monitoring and partnerships toward pilots or scaled deployment.</a:t>
            </a:r>
          </a:p>
          <a:p>
            <a:pPr>
              <a:spcBef>
                <a:spcPts val="600"/>
              </a:spcBef>
              <a:defRPr sz="819" b="1">
                <a:solidFill>
                  <a:srgbClr val="003087"/>
                </a:solidFill>
              </a:defRPr>
            </a:pPr>
            <a:r>
              <a:t>Key implications</a:t>
            </a:r>
          </a:p>
          <a:p>
            <a:pPr>
              <a:defRPr sz="730">
                <a:solidFill>
                  <a:srgbClr val="333333"/>
                </a:solidFill>
              </a:defRPr>
            </a:pPr>
            <a:r>
              <a:t>- Cost and ROI are priority diligence items</a:t>
            </a:r>
          </a:p>
          <a:p>
            <a:pPr>
              <a:defRPr sz="730">
                <a:solidFill>
                  <a:srgbClr val="333333"/>
                </a:solidFill>
              </a:defRPr>
            </a:pPr>
            <a:r>
              <a:t>- Timing should move with evidence quality</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Regulation, policy and public acceptance can reset the speed of adoption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Regulation, policy and public acceptance can reset the speed of adoption</a:t>
            </a:r>
          </a:p>
          <a:p>
            <a:pPr>
              <a:defRPr sz="830">
                <a:solidFill>
                  <a:srgbClr val="64696E"/>
                </a:solidFill>
              </a:defRPr>
            </a:pPr>
            <a:r>
              <a:t>External rules can accelerate the market or change the risk budget and project timeline.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Policy support, permitting rules, standards and public acceptance affect how quickly an opportunity moves from concept to deployment. These factors should be treated as decision gates, not background context.</a:t>
            </a:r>
          </a:p>
          <a:p>
            <a:pPr>
              <a:spcAft>
                <a:spcPts val="600"/>
              </a:spcAft>
              <a:defRPr sz="819">
                <a:solidFill>
                  <a:srgbClr val="333333"/>
                </a:solidFill>
              </a:defRPr>
            </a:pPr>
            <a:r>
              <a:t>Where the regulatory path is unclear, the better move is usually standards engagement, policy tracking and low-risk pilots rather than an early heavy-asset commitment.</a:t>
            </a:r>
          </a:p>
          <a:p>
            <a:pPr>
              <a:spcAft>
                <a:spcPts val="600"/>
              </a:spcAft>
              <a:defRPr sz="819">
                <a:solidFill>
                  <a:srgbClr val="333333"/>
                </a:solidFill>
              </a:defRPr>
            </a:pPr>
            <a:r>
              <a:t>The board should track which policy events would change investment timing, such as licensing rules, procurement requirements, subsidy treatment, local approvals or safety standards.</a:t>
            </a:r>
          </a:p>
          <a:p>
            <a:pPr>
              <a:spcBef>
                <a:spcPts val="600"/>
              </a:spcBef>
              <a:defRPr sz="819" b="1">
                <a:solidFill>
                  <a:srgbClr val="003087"/>
                </a:solidFill>
              </a:defRPr>
            </a:pPr>
            <a:r>
              <a:t>Key implications</a:t>
            </a:r>
          </a:p>
          <a:p>
            <a:pPr>
              <a:defRPr sz="730">
                <a:solidFill>
                  <a:srgbClr val="333333"/>
                </a:solidFill>
              </a:defRPr>
            </a:pPr>
            <a:r>
              <a:t>- Policy events are external decision gates</a:t>
            </a:r>
          </a:p>
          <a:p>
            <a:pPr>
              <a:defRPr sz="730">
                <a:solidFill>
                  <a:srgbClr val="333333"/>
                </a:solidFill>
              </a:defRPr>
            </a:pPr>
            <a:r>
              <a:t>- Use options while regulation remains unclear</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Supply chain, partners and talent will decide who can act before the market is obvious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Supply chain, partners and talent will decide who can act before the market is obvious</a:t>
            </a:r>
          </a:p>
          <a:p>
            <a:pPr>
              <a:defRPr sz="830">
                <a:solidFill>
                  <a:srgbClr val="64696E"/>
                </a:solidFill>
              </a:defRPr>
            </a:pPr>
            <a:r>
              <a:t>Strategic advantage comes from ecosystem position rather than standalone product capability.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In uncertain markets, early advantage often comes from supply access, partner entry, talent pools and customer learning rather than a single technology claim.</a:t>
            </a:r>
          </a:p>
          <a:p>
            <a:pPr>
              <a:spcAft>
                <a:spcPts val="600"/>
              </a:spcAft>
              <a:defRPr sz="819">
                <a:solidFill>
                  <a:srgbClr val="333333"/>
                </a:solidFill>
              </a:defRPr>
            </a:pPr>
            <a:r>
              <a:t>A practical reading is that management should identify which capabilities are scarce and can be secured early: critical supply, engineering delivery, channel partners, service network, financing partners and compliance capacity. Low-cost learning rights can be</a:t>
            </a:r>
          </a:p>
          <a:p>
            <a:pPr>
              <a:spcAft>
                <a:spcPts val="600"/>
              </a:spcAft>
              <a:defRPr sz="819">
                <a:solidFill>
                  <a:srgbClr val="333333"/>
                </a:solidFill>
              </a:defRPr>
            </a:pPr>
            <a:r>
              <a:t>Partnerships should create observable proof points. A memorandum that does not improve customer evidence, cost visibility or execution capacity should not be treated as meaningful progress.</a:t>
            </a:r>
          </a:p>
          <a:p>
            <a:pPr>
              <a:spcBef>
                <a:spcPts val="600"/>
              </a:spcBef>
              <a:defRPr sz="819" b="1">
                <a:solidFill>
                  <a:srgbClr val="003087"/>
                </a:solidFill>
              </a:defRPr>
            </a:pPr>
            <a:r>
              <a:t>Key implications</a:t>
            </a:r>
          </a:p>
          <a:p>
            <a:pPr>
              <a:defRPr sz="730">
                <a:solidFill>
                  <a:srgbClr val="333333"/>
                </a:solidFill>
              </a:defRPr>
            </a:pPr>
            <a:r>
              <a:t>- Secure scarce capabilities early</a:t>
            </a:r>
          </a:p>
          <a:p>
            <a:pPr>
              <a:defRPr sz="730">
                <a:solidFill>
                  <a:srgbClr val="333333"/>
                </a:solidFill>
              </a:defRPr>
            </a:pPr>
            <a:r>
              <a:t>- Partnerships must produce proof points</a:t>
            </a:r>
          </a:p>
        </p:txBody>
      </p:sp>
      <p:pic>
        <p:nvPicPr>
          <p:cNvPr id="7" name="Picture 6" descr="image-8.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CEO-Ready Assessment of Technology Readiness, Commercial Pathways, and Risk-Adjusted Opportunities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