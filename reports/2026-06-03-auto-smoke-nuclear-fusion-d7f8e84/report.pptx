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Investment Implications</a:t>
            </a:r>
          </a:p>
          <a:p>
            <a:pPr>
              <a:spcBef>
                <a:spcPts val="1400"/>
              </a:spcBef>
              <a:defRPr sz="950">
                <a:solidFill>
                  <a:srgbClr val="64696E"/>
                </a:solidFill>
              </a:defRPr>
            </a:pPr>
            <a:r>
              <a:t>A Decision-Ready Analysis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Feasibility but Commercial Viability Remains a Decade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Leads the Race with SPARC and ITER as Key Milestones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Alternative Approaches Like Inertial Confinement Show Promise but Lag in Engineering Readiness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Strategic Outlook and Investment Implications should be managed as a staged</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with SPARC and ITER as critical milestones, but commercial viability remains at le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Private fusion investment has exceeded $5 billion by 2025, yet no venture has demonstrated net energy gain at scale, creating a high-ri</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Economic projections suggest fusion LCOE could reach $50-100/MWh by 2040-2050, but first-of-a-kind plants may cost $5-10 billion, requi</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Regulatory frameworks for fusion are evolving but lack clarity, with the U.S. NRC expected to issue fusion-specific rules by 2027-2028;</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Fusion's climate benefits are significant but its timeline may be too late for 2050 net-zero targets; companies should view fusion as a</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Feasibility but Commercial Viability Remains a Decade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Feasibility but Commercial Viability Remains a Decade Away</a:t>
            </a:r>
          </a:p>
          <a:p>
            <a:pPr>
              <a:defRPr sz="830">
                <a:solidFill>
                  <a:srgbClr val="64696E"/>
                </a:solidFill>
              </a:defRPr>
            </a:pPr>
            <a:r>
              <a:t>Fusion is no longer a question of 'if' but 'when', with commercial deployment likely 15-20 years away, requiring executives to balance early positioning against capital 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shifted dramatically in the past five years. Private investment has surged past $5 billion, and multiple ventures are targeting net energy gain demonstrations by 2027. However, the gap between a scientific breakthrough and a commercial</a:t>
            </a:r>
          </a:p>
          <a:p>
            <a:pPr>
              <a:spcAft>
                <a:spcPts val="600"/>
              </a:spcAft>
              <a:defRPr sz="819">
                <a:solidFill>
                  <a:srgbClr val="333333"/>
                </a:solidFill>
              </a:defRPr>
            </a:pPr>
            <a:r>
              <a:t>For leadership teams, the critical insight is that fusion is no longer a question of 'if' but 'when'—and that 'when' is likely 15-20 years away for commercial deployment. This timeline has profound implications for capital allocation, partnership strategies, a</a:t>
            </a:r>
          </a:p>
          <a:p>
            <a:pPr>
              <a:spcAft>
                <a:spcPts val="600"/>
              </a:spcAft>
              <a:defRPr sz="819">
                <a:solidFill>
                  <a:srgbClr val="333333"/>
                </a:solidFill>
              </a:defRPr>
            </a:pPr>
            <a:r>
              <a:t>The prudent path is to monitor milestones closely and invest in enabling technologies that are critical regardless of which fusion design ultimately succeeds. For example, tritium breeding and advanced materials are needed across all magnetic confinement appro</a:t>
            </a:r>
          </a:p>
          <a:p>
            <a:pPr>
              <a:spcBef>
                <a:spcPts val="600"/>
              </a:spcBef>
              <a:defRPr sz="819" b="1">
                <a:solidFill>
                  <a:srgbClr val="003087"/>
                </a:solidFill>
              </a:defRPr>
            </a:pPr>
            <a:r>
              <a:t>Key implications</a:t>
            </a:r>
          </a:p>
          <a:p>
            <a:pPr>
              <a:defRPr sz="730">
                <a:solidFill>
                  <a:srgbClr val="333333"/>
                </a:solidFill>
              </a:defRPr>
            </a:pPr>
            <a:r>
              <a:t>- Fusion is approaching technical feasibility but commercial viability is 15-20 years away.</a:t>
            </a:r>
          </a:p>
          <a:p>
            <a:pPr>
              <a:defRPr sz="730">
                <a:solidFill>
                  <a:srgbClr val="333333"/>
                </a:solidFill>
              </a:defRPr>
            </a:pPr>
            <a:r>
              <a:t>- Early positioning offers advantages but carries capital risk; a phased approach is recommended.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Leads the Race with SPARC and ITER as Key Milestones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Leads the Race with SPARC and ITER as Key Milestones</a:t>
            </a:r>
          </a:p>
          <a:p>
            <a:pPr>
              <a:defRPr sz="830">
                <a:solidFill>
                  <a:srgbClr val="64696E"/>
                </a:solidFill>
              </a:defRPr>
            </a:pPr>
            <a:r>
              <a:t>Magnetic confinement, particularly tokamaks, is the most mature approach, with SPARC's net energy gain demonstration by 2027 as the key near-term catalyst for investment.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Magnetic confinement, particularly the tokamak design, is the most mature fusion approach. ITER, the international tokamak under construction in France, is designed to produce 500 MW of fusion power for 400 seconds. Despite cost overruns and delays—the latest</a:t>
            </a:r>
          </a:p>
          <a:p>
            <a:pPr>
              <a:spcAft>
                <a:spcPts val="600"/>
              </a:spcAft>
              <a:defRPr sz="819">
                <a:solidFill>
                  <a:srgbClr val="333333"/>
                </a:solidFill>
              </a:defRPr>
            </a:pPr>
            <a:r>
              <a:t>SPARC, a smaller but higher-field tokamak being built by Commonwealth Fusion Systems in collaboration with MIT, aims to achieve net energy gain (Q&gt;1) by 2027. SPARC uses high-temperature superconducting magnets, a breakthrough that allows a more compact and po</a:t>
            </a:r>
          </a:p>
          <a:p>
            <a:pPr>
              <a:spcAft>
                <a:spcPts val="600"/>
              </a:spcAft>
              <a:defRPr sz="819">
                <a:solidFill>
                  <a:srgbClr val="333333"/>
                </a:solidFill>
              </a:defRPr>
            </a:pPr>
            <a:r>
              <a:t>Stellarators, such as Germany's Wendelstein 7-X, offer inherent stability advantages but are less developed. For investors, SPARC's timeline is the most important near-term catalyst. A successful demonstration would validate the tokamak approach and likely tri</a:t>
            </a:r>
          </a:p>
          <a:p>
            <a:pPr>
              <a:spcBef>
                <a:spcPts val="600"/>
              </a:spcBef>
              <a:defRPr sz="819" b="1">
                <a:solidFill>
                  <a:srgbClr val="003087"/>
                </a:solidFill>
              </a:defRPr>
            </a:pPr>
            <a:r>
              <a:t>Key implications</a:t>
            </a:r>
          </a:p>
          <a:p>
            <a:pPr>
              <a:defRPr sz="730">
                <a:solidFill>
                  <a:srgbClr val="333333"/>
                </a:solidFill>
              </a:defRPr>
            </a:pPr>
            <a:r>
              <a:t>- Magnetic confinement, especially tokamaks, is the most mature fusion approach.</a:t>
            </a:r>
          </a:p>
          <a:p>
            <a:pPr>
              <a:defRPr sz="730">
                <a:solidFill>
                  <a:srgbClr val="333333"/>
                </a:solidFill>
              </a:defRPr>
            </a:pPr>
            <a:r>
              <a:t>- SPARC's net energy gain demonstration by 2027 is the key near-term catalyst.</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Alternative Approaches Like Inertial Confinement Show Promise but Lag in Engineering Readiness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Alternative Approaches Like Inertial Confinement Show Promise but Lag in Engineering Readiness</a:t>
            </a:r>
          </a:p>
          <a:p>
            <a:pPr>
              <a:defRPr sz="830">
                <a:solidFill>
                  <a:srgbClr val="64696E"/>
                </a:solidFill>
              </a:defRPr>
            </a:pPr>
            <a:r>
              <a:t>Alternative approaches offer potential advantages but are at lower technology readiness levels, requiring investors to focus on credible paths to engineering scale.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Inertial confinement fusion (ICF), which uses lasers or other drivers to compress fuel pellets, achieved a landmark in 2022 when the National Ignition Facility (NIF) produced a net energy gain in a laboratory setting. However, NIF is a research facility, not a</a:t>
            </a:r>
          </a:p>
          <a:p>
            <a:pPr>
              <a:spcAft>
                <a:spcPts val="600"/>
              </a:spcAft>
              <a:defRPr sz="819">
                <a:solidFill>
                  <a:srgbClr val="333333"/>
                </a:solidFill>
              </a:defRPr>
            </a:pPr>
            <a:r>
              <a:t>Private ventures like Helion Energy are pursuing a hybrid approach that combines elements of magnetic and inertial confinement, using a field-reversed configuration and direct energy conversion. Helion claims it can achieve net electricity generation by 2028,</a:t>
            </a:r>
          </a:p>
          <a:p>
            <a:pPr>
              <a:spcAft>
                <a:spcPts val="600"/>
              </a:spcAft>
              <a:defRPr sz="819">
                <a:solidFill>
                  <a:srgbClr val="333333"/>
                </a:solidFill>
              </a:defRPr>
            </a:pPr>
            <a:r>
              <a:t>However, all alternative approaches are at lower technology readiness levels than tokamaks. For strategic investors, the diversity of approaches is a double-edged sword: it increases the odds that one will succeed, but it also fragments investment and talent.</a:t>
            </a:r>
          </a:p>
          <a:p>
            <a:pPr>
              <a:spcBef>
                <a:spcPts val="600"/>
              </a:spcBef>
              <a:defRPr sz="819" b="1">
                <a:solidFill>
                  <a:srgbClr val="003087"/>
                </a:solidFill>
              </a:defRPr>
            </a:pPr>
            <a:r>
              <a:t>Key implications</a:t>
            </a:r>
          </a:p>
          <a:p>
            <a:pPr>
              <a:defRPr sz="730">
                <a:solidFill>
                  <a:srgbClr val="333333"/>
                </a:solidFill>
              </a:defRPr>
            </a:pPr>
            <a:r>
              <a:t>- Alternative approaches are at lower technology readiness levels than tokamaks.</a:t>
            </a:r>
          </a:p>
          <a:p>
            <a:pPr>
              <a:defRPr sz="730">
                <a:solidFill>
                  <a:srgbClr val="333333"/>
                </a:solidFill>
              </a:defRPr>
            </a:pPr>
            <a:r>
              <a:t>- Focus on ventures with clear engineering roadmaps and component testing.</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Outlook and Investment Implications should be managed as a staged strategic</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Outlook and Investment Implications should be managed as a staged strategi</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operating takeaway is that for leadership, Nuclear Fusion Commercialization: Strategic Outlook and Investment Implications should be separated into verified facts, directional scenarios and open diligence items. That boundary keeps the report from turning</a:t>
            </a:r>
          </a:p>
          <a:p>
            <a:pPr>
              <a:spcAft>
                <a:spcPts val="600"/>
              </a:spcAft>
              <a:defRPr sz="819">
                <a:solidFill>
                  <a:srgbClr val="333333"/>
                </a:solidFill>
              </a:defRPr>
            </a:pPr>
            <a:r>
              <a:t>From a board perspective, the immediate management question is not whether the opportunity is exciting; it is whether budget, partner access or management attention should be committed now. Low-cost validation can start early, while larger capital commitments</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From a board perspective,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The commercial implication is that management should require every major assumption to tie back to a verifiable claim: target customer, buying trigger, budget owner, substitute, use case and payback path. Where public evidence is missing, the report should kee</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 implication is that every opportunity eventually returns to cost, revenue, margin, cash flow and timing. If public evidence does not support market size, ROI, unit economics or share, those items should remain validation tasks rather than report</a:t>
            </a:r>
          </a:p>
          <a:p>
            <a:pPr>
              <a:spcAft>
                <a:spcPts val="600"/>
              </a:spcAft>
              <a:defRPr sz="819">
                <a:solidFill>
                  <a:srgbClr val="333333"/>
                </a:solidFill>
              </a:defRPr>
            </a:pPr>
            <a:r>
              <a:t>The board-level question is whether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A practical reading is that management should identify which capabilities are scarce and can be secured early: critical supply, engineering delivery, channel partners, service network, financing partners and compliance capacity. Low-cost learning rights can be</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