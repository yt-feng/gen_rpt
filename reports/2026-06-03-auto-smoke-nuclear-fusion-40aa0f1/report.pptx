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 id="269" r:id="rId20"/>
    <p:sldId id="270" r:id="rId21"/>
    <p:sldId id="271" r:id="rId22"/>
    <p:sldId id="272" r:id="rId23"/>
    <p:sldId id="273" r:id="rId2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 Id="rId15" Type="http://schemas.openxmlformats.org/officeDocument/2006/relationships/slide" Target="slides/slide9.xml"/><Relationship Id="rId16" Type="http://schemas.openxmlformats.org/officeDocument/2006/relationships/slide" Target="slides/slide10.xml"/><Relationship Id="rId17" Type="http://schemas.openxmlformats.org/officeDocument/2006/relationships/slide" Target="slides/slide11.xml"/><Relationship Id="rId18" Type="http://schemas.openxmlformats.org/officeDocument/2006/relationships/slide" Target="slides/slide12.xml"/><Relationship Id="rId19" Type="http://schemas.openxmlformats.org/officeDocument/2006/relationships/slide" Target="slides/slide13.xml"/><Relationship Id="rId20" Type="http://schemas.openxmlformats.org/officeDocument/2006/relationships/slide" Target="slides/slide14.xml"/><Relationship Id="rId21" Type="http://schemas.openxmlformats.org/officeDocument/2006/relationships/slide" Target="slides/slide15.xml"/><Relationship Id="rId22" Type="http://schemas.openxmlformats.org/officeDocument/2006/relationships/slide" Target="slides/slide16.xml"/><Relationship Id="rId23" Type="http://schemas.openxmlformats.org/officeDocument/2006/relationships/slide" Target="slides/slide17.xml"/><Relationship Id="rId24" Type="http://schemas.openxmlformats.org/officeDocument/2006/relationships/slide" Target="slides/slide1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5.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6.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8.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9.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0.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1.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2.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3.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4.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5.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image" Target="../media/image1.png"/></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pic>
        <p:nvPicPr>
          <p:cNvPr id="2" name="Picture 1" descr="cover-ai.png"/>
          <p:cNvPicPr>
            <a:picLocks noChangeAspect="1"/>
          </p:cNvPicPr>
          <p:nvPr/>
        </p:nvPicPr>
        <p:blipFill>
          <a:blip r:embed="rId2"/>
          <a:stretch>
            <a:fillRect/>
          </a:stretch>
        </p:blipFill>
        <p:spPr>
          <a:xfrm>
            <a:off x="0" y="0"/>
            <a:ext cx="12191695" cy="6858000"/>
          </a:xfrm>
          <a:prstGeom prst="rect">
            <a:avLst/>
          </a:prstGeom>
        </p:spPr>
      </p:pic>
      <p:sp>
        <p:nvSpPr>
          <p:cNvPr id="3" name="Rectangle 2"/>
          <p:cNvSpPr/>
          <p:nvPr/>
        </p:nvSpPr>
        <p:spPr>
          <a:xfrm>
            <a:off x="0" y="0"/>
            <a:ext cx="12191695" cy="6858000"/>
          </a:xfrm>
          <a:prstGeom prst="rect">
            <a:avLst/>
          </a:prstGeom>
          <a:solidFill>
            <a:srgbClr val="051C2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Rectangle 3"/>
          <p:cNvSpPr/>
          <p:nvPr/>
        </p:nvSpPr>
        <p:spPr>
          <a:xfrm>
            <a:off x="658368" y="685800"/>
            <a:ext cx="4892040" cy="3429000"/>
          </a:xfrm>
          <a:prstGeom prst="rect">
            <a:avLst/>
          </a:prstGeom>
          <a:solidFill>
            <a:srgbClr val="FFFFFF"/>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Rectangle 4"/>
          <p:cNvSpPr/>
          <p:nvPr/>
        </p:nvSpPr>
        <p:spPr>
          <a:xfrm>
            <a:off x="658368" y="685800"/>
            <a:ext cx="4892040" cy="73152"/>
          </a:xfrm>
          <a:prstGeom prst="rect">
            <a:avLst/>
          </a:prstGeom>
          <a:solidFill>
            <a:srgbClr val="3273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960120" y="960120"/>
            <a:ext cx="4251960" cy="2743200"/>
          </a:xfrm>
          <a:prstGeom prst="rect">
            <a:avLst/>
          </a:prstGeom>
          <a:noFill/>
        </p:spPr>
        <p:txBody>
          <a:bodyPr wrap="square">
            <a:spAutoFit/>
          </a:bodyPr>
          <a:lstStyle/>
          <a:p>
            <a:pPr>
              <a:defRPr sz="900" b="1">
                <a:solidFill>
                  <a:srgbClr val="003087"/>
                </a:solidFill>
              </a:defRPr>
            </a:pPr>
            <a:r>
              <a:t>BLUEOCEAN</a:t>
            </a:r>
          </a:p>
          <a:p>
            <a:pPr>
              <a:spcBef>
                <a:spcPts val="1800"/>
              </a:spcBef>
              <a:defRPr sz="2300">
                <a:solidFill>
                  <a:srgbClr val="333333"/>
                </a:solidFill>
              </a:defRPr>
            </a:pPr>
            <a:r>
              <a:t>Nuclear Fusion Commercialization: Strategic Outlook and Implications for Energy Markets and Geopolitics</a:t>
            </a:r>
          </a:p>
          <a:p>
            <a:pPr>
              <a:spcBef>
                <a:spcPts val="1400"/>
              </a:spcBef>
              <a:defRPr sz="950">
                <a:solidFill>
                  <a:srgbClr val="64696E"/>
                </a:solidFill>
              </a:defRPr>
            </a:pPr>
            <a:r>
              <a:t>A Client-Ready Research Report for Senior Executives, Policymakers, and Strategic Investors</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Contents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discussion follows the management question, evidence, and implications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417320"/>
            <a:ext cx="502920" cy="274320"/>
          </a:xfrm>
          <a:prstGeom prst="rect">
            <a:avLst/>
          </a:prstGeom>
          <a:noFill/>
        </p:spPr>
        <p:txBody>
          <a:bodyPr wrap="none">
            <a:spAutoFit/>
          </a:bodyPr>
          <a:lstStyle/>
          <a:p>
            <a:pPr>
              <a:defRPr sz="950" b="1">
                <a:solidFill>
                  <a:srgbClr val="003087"/>
                </a:solidFill>
              </a:defRPr>
            </a:pPr>
            <a:r>
              <a:t>01</a:t>
            </a:r>
          </a:p>
        </p:txBody>
      </p:sp>
      <p:sp>
        <p:nvSpPr>
          <p:cNvPr id="7" name="TextBox 6"/>
          <p:cNvSpPr txBox="1"/>
          <p:nvPr/>
        </p:nvSpPr>
        <p:spPr>
          <a:xfrm>
            <a:off x="1143000" y="1417320"/>
            <a:ext cx="9601200" cy="384048"/>
          </a:xfrm>
          <a:prstGeom prst="rect">
            <a:avLst/>
          </a:prstGeom>
          <a:noFill/>
        </p:spPr>
        <p:txBody>
          <a:bodyPr wrap="none">
            <a:spAutoFit/>
          </a:bodyPr>
          <a:lstStyle/>
          <a:p>
            <a:pPr>
              <a:defRPr sz="1260">
                <a:solidFill>
                  <a:srgbClr val="333333"/>
                </a:solidFill>
              </a:defRPr>
            </a:pPr>
            <a:r>
              <a:t>Nuclear Fusion Commercialization: Strategic Outlook and Implications for Energy Markets and Geopolitics should</a:t>
            </a:r>
          </a:p>
        </p:txBody>
      </p:sp>
      <p:sp>
        <p:nvSpPr>
          <p:cNvPr id="8" name="TextBox 7"/>
          <p:cNvSpPr txBox="1"/>
          <p:nvPr/>
        </p:nvSpPr>
        <p:spPr>
          <a:xfrm>
            <a:off x="566928" y="1874520"/>
            <a:ext cx="502920" cy="274320"/>
          </a:xfrm>
          <a:prstGeom prst="rect">
            <a:avLst/>
          </a:prstGeom>
          <a:noFill/>
        </p:spPr>
        <p:txBody>
          <a:bodyPr wrap="none">
            <a:spAutoFit/>
          </a:bodyPr>
          <a:lstStyle/>
          <a:p>
            <a:pPr>
              <a:defRPr sz="950" b="1">
                <a:solidFill>
                  <a:srgbClr val="003087"/>
                </a:solidFill>
              </a:defRPr>
            </a:pPr>
            <a:r>
              <a:t>02</a:t>
            </a:r>
          </a:p>
        </p:txBody>
      </p:sp>
      <p:sp>
        <p:nvSpPr>
          <p:cNvPr id="9" name="TextBox 8"/>
          <p:cNvSpPr txBox="1"/>
          <p:nvPr/>
        </p:nvSpPr>
        <p:spPr>
          <a:xfrm>
            <a:off x="1143000" y="1874520"/>
            <a:ext cx="9601200" cy="384048"/>
          </a:xfrm>
          <a:prstGeom prst="rect">
            <a:avLst/>
          </a:prstGeom>
          <a:noFill/>
        </p:spPr>
        <p:txBody>
          <a:bodyPr wrap="none">
            <a:spAutoFit/>
          </a:bodyPr>
          <a:lstStyle/>
          <a:p>
            <a:pPr>
              <a:defRPr sz="1260">
                <a:solidFill>
                  <a:srgbClr val="333333"/>
                </a:solidFill>
              </a:defRPr>
            </a:pPr>
            <a:r>
              <a:t>Commercial readiness depends on bankability, deliverability and repeat customer proof</a:t>
            </a:r>
          </a:p>
        </p:txBody>
      </p:sp>
      <p:sp>
        <p:nvSpPr>
          <p:cNvPr id="10" name="TextBox 9"/>
          <p:cNvSpPr txBox="1"/>
          <p:nvPr/>
        </p:nvSpPr>
        <p:spPr>
          <a:xfrm>
            <a:off x="566928" y="2331720"/>
            <a:ext cx="502920" cy="274320"/>
          </a:xfrm>
          <a:prstGeom prst="rect">
            <a:avLst/>
          </a:prstGeom>
          <a:noFill/>
        </p:spPr>
        <p:txBody>
          <a:bodyPr wrap="none">
            <a:spAutoFit/>
          </a:bodyPr>
          <a:lstStyle/>
          <a:p>
            <a:pPr>
              <a:defRPr sz="950" b="1">
                <a:solidFill>
                  <a:srgbClr val="003087"/>
                </a:solidFill>
              </a:defRPr>
            </a:pPr>
            <a:r>
              <a:t>03</a:t>
            </a:r>
          </a:p>
        </p:txBody>
      </p:sp>
      <p:sp>
        <p:nvSpPr>
          <p:cNvPr id="11" name="TextBox 10"/>
          <p:cNvSpPr txBox="1"/>
          <p:nvPr/>
        </p:nvSpPr>
        <p:spPr>
          <a:xfrm>
            <a:off x="1143000" y="2331720"/>
            <a:ext cx="9601200" cy="384048"/>
          </a:xfrm>
          <a:prstGeom prst="rect">
            <a:avLst/>
          </a:prstGeom>
          <a:noFill/>
        </p:spPr>
        <p:txBody>
          <a:bodyPr wrap="none">
            <a:spAutoFit/>
          </a:bodyPr>
          <a:lstStyle/>
          <a:p>
            <a:pPr>
              <a:defRPr sz="1260">
                <a:solidFill>
                  <a:srgbClr val="333333"/>
                </a:solidFill>
              </a:defRPr>
            </a:pPr>
            <a:r>
              <a:t>Cost, return and timing will determine the real deployment window</a:t>
            </a:r>
          </a:p>
        </p:txBody>
      </p:sp>
      <p:sp>
        <p:nvSpPr>
          <p:cNvPr id="12" name="TextBox 11"/>
          <p:cNvSpPr txBox="1"/>
          <p:nvPr/>
        </p:nvSpPr>
        <p:spPr>
          <a:xfrm>
            <a:off x="566928" y="2788920"/>
            <a:ext cx="502920" cy="274320"/>
          </a:xfrm>
          <a:prstGeom prst="rect">
            <a:avLst/>
          </a:prstGeom>
          <a:noFill/>
        </p:spPr>
        <p:txBody>
          <a:bodyPr wrap="none">
            <a:spAutoFit/>
          </a:bodyPr>
          <a:lstStyle/>
          <a:p>
            <a:pPr>
              <a:defRPr sz="950" b="1">
                <a:solidFill>
                  <a:srgbClr val="003087"/>
                </a:solidFill>
              </a:defRPr>
            </a:pPr>
            <a:r>
              <a:t>04</a:t>
            </a:r>
          </a:p>
        </p:txBody>
      </p:sp>
      <p:sp>
        <p:nvSpPr>
          <p:cNvPr id="13" name="TextBox 12"/>
          <p:cNvSpPr txBox="1"/>
          <p:nvPr/>
        </p:nvSpPr>
        <p:spPr>
          <a:xfrm>
            <a:off x="1143000" y="2788920"/>
            <a:ext cx="9601200" cy="384048"/>
          </a:xfrm>
          <a:prstGeom prst="rect">
            <a:avLst/>
          </a:prstGeom>
          <a:noFill/>
        </p:spPr>
        <p:txBody>
          <a:bodyPr wrap="none">
            <a:spAutoFit/>
          </a:bodyPr>
          <a:lstStyle/>
          <a:p>
            <a:pPr>
              <a:defRPr sz="1260">
                <a:solidFill>
                  <a:srgbClr val="333333"/>
                </a:solidFill>
              </a:defRPr>
            </a:pPr>
            <a:r>
              <a:t>Regulation, policy and public acceptance can reset the speed of adoption</a:t>
            </a:r>
          </a:p>
        </p:txBody>
      </p:sp>
      <p:sp>
        <p:nvSpPr>
          <p:cNvPr id="14" name="TextBox 13"/>
          <p:cNvSpPr txBox="1"/>
          <p:nvPr/>
        </p:nvSpPr>
        <p:spPr>
          <a:xfrm>
            <a:off x="566928" y="3246120"/>
            <a:ext cx="502920" cy="274320"/>
          </a:xfrm>
          <a:prstGeom prst="rect">
            <a:avLst/>
          </a:prstGeom>
          <a:noFill/>
        </p:spPr>
        <p:txBody>
          <a:bodyPr wrap="none">
            <a:spAutoFit/>
          </a:bodyPr>
          <a:lstStyle/>
          <a:p>
            <a:pPr>
              <a:defRPr sz="950" b="1">
                <a:solidFill>
                  <a:srgbClr val="003087"/>
                </a:solidFill>
              </a:defRPr>
            </a:pPr>
            <a:r>
              <a:t>05</a:t>
            </a:r>
          </a:p>
        </p:txBody>
      </p:sp>
      <p:sp>
        <p:nvSpPr>
          <p:cNvPr id="15" name="TextBox 14"/>
          <p:cNvSpPr txBox="1"/>
          <p:nvPr/>
        </p:nvSpPr>
        <p:spPr>
          <a:xfrm>
            <a:off x="1143000" y="3246120"/>
            <a:ext cx="9601200" cy="384048"/>
          </a:xfrm>
          <a:prstGeom prst="rect">
            <a:avLst/>
          </a:prstGeom>
          <a:noFill/>
        </p:spPr>
        <p:txBody>
          <a:bodyPr wrap="none">
            <a:spAutoFit/>
          </a:bodyPr>
          <a:lstStyle/>
          <a:p>
            <a:pPr>
              <a:defRPr sz="1260">
                <a:solidFill>
                  <a:srgbClr val="333333"/>
                </a:solidFill>
              </a:defRPr>
            </a:pPr>
            <a:r>
              <a:t>Supply chain, partners and talent will decide who can act before the market is obvious</a:t>
            </a:r>
          </a:p>
        </p:txBody>
      </p:sp>
      <p:sp>
        <p:nvSpPr>
          <p:cNvPr id="16" name="TextBox 15"/>
          <p:cNvSpPr txBox="1"/>
          <p:nvPr/>
        </p:nvSpPr>
        <p:spPr>
          <a:xfrm>
            <a:off x="566928" y="3703320"/>
            <a:ext cx="502920" cy="274320"/>
          </a:xfrm>
          <a:prstGeom prst="rect">
            <a:avLst/>
          </a:prstGeom>
          <a:noFill/>
        </p:spPr>
        <p:txBody>
          <a:bodyPr wrap="none">
            <a:spAutoFit/>
          </a:bodyPr>
          <a:lstStyle/>
          <a:p>
            <a:pPr>
              <a:defRPr sz="950" b="1">
                <a:solidFill>
                  <a:srgbClr val="003087"/>
                </a:solidFill>
              </a:defRPr>
            </a:pPr>
            <a:r>
              <a:t>06</a:t>
            </a:r>
          </a:p>
        </p:txBody>
      </p:sp>
      <p:sp>
        <p:nvSpPr>
          <p:cNvPr id="17" name="TextBox 16"/>
          <p:cNvSpPr txBox="1"/>
          <p:nvPr/>
        </p:nvSpPr>
        <p:spPr>
          <a:xfrm>
            <a:off x="1143000" y="3703320"/>
            <a:ext cx="9601200" cy="384048"/>
          </a:xfrm>
          <a:prstGeom prst="rect">
            <a:avLst/>
          </a:prstGeom>
          <a:noFill/>
        </p:spPr>
        <p:txBody>
          <a:bodyPr wrap="none">
            <a:spAutoFit/>
          </a:bodyPr>
          <a:lstStyle/>
          <a:p>
            <a:pPr>
              <a:defRPr sz="1260">
                <a:solidFill>
                  <a:srgbClr val="333333"/>
                </a:solidFill>
              </a:defRPr>
            </a:pPr>
            <a:r>
              <a:t>Incumbents should protect near-term economics while preserving long-term options</a:t>
            </a:r>
          </a:p>
        </p:txBody>
      </p:sp>
      <p:sp>
        <p:nvSpPr>
          <p:cNvPr id="18" name="TextBox 17"/>
          <p:cNvSpPr txBox="1"/>
          <p:nvPr/>
        </p:nvSpPr>
        <p:spPr>
          <a:xfrm>
            <a:off x="566928" y="4160520"/>
            <a:ext cx="502920" cy="274320"/>
          </a:xfrm>
          <a:prstGeom prst="rect">
            <a:avLst/>
          </a:prstGeom>
          <a:noFill/>
        </p:spPr>
        <p:txBody>
          <a:bodyPr wrap="none">
            <a:spAutoFit/>
          </a:bodyPr>
          <a:lstStyle/>
          <a:p>
            <a:pPr>
              <a:defRPr sz="950" b="1">
                <a:solidFill>
                  <a:srgbClr val="003087"/>
                </a:solidFill>
              </a:defRPr>
            </a:pPr>
            <a:r>
              <a:t>07</a:t>
            </a:r>
          </a:p>
        </p:txBody>
      </p:sp>
      <p:sp>
        <p:nvSpPr>
          <p:cNvPr id="19" name="TextBox 18"/>
          <p:cNvSpPr txBox="1"/>
          <p:nvPr/>
        </p:nvSpPr>
        <p:spPr>
          <a:xfrm>
            <a:off x="1143000" y="4160520"/>
            <a:ext cx="9601200" cy="384048"/>
          </a:xfrm>
          <a:prstGeom prst="rect">
            <a:avLst/>
          </a:prstGeom>
          <a:noFill/>
        </p:spPr>
        <p:txBody>
          <a:bodyPr wrap="none">
            <a:spAutoFit/>
          </a:bodyPr>
          <a:lstStyle/>
          <a:p>
            <a:pPr>
              <a:defRPr sz="1260">
                <a:solidFill>
                  <a:srgbClr val="333333"/>
                </a:solidFill>
              </a:defRPr>
            </a:pPr>
            <a:r>
              <a:t>The management agenda should translate uncertainty into quarterly decision gates</a:t>
            </a:r>
          </a:p>
        </p:txBody>
      </p:sp>
      <p:sp>
        <p:nvSpPr>
          <p:cNvPr id="20" name="TextBox 19"/>
          <p:cNvSpPr txBox="1"/>
          <p:nvPr/>
        </p:nvSpPr>
        <p:spPr>
          <a:xfrm>
            <a:off x="566928" y="4617720"/>
            <a:ext cx="502920" cy="274320"/>
          </a:xfrm>
          <a:prstGeom prst="rect">
            <a:avLst/>
          </a:prstGeom>
          <a:noFill/>
        </p:spPr>
        <p:txBody>
          <a:bodyPr wrap="none">
            <a:spAutoFit/>
          </a:bodyPr>
          <a:lstStyle/>
          <a:p>
            <a:pPr>
              <a:defRPr sz="950" b="1">
                <a:solidFill>
                  <a:srgbClr val="003087"/>
                </a:solidFill>
              </a:defRPr>
            </a:pPr>
            <a:r>
              <a:t>08</a:t>
            </a:r>
          </a:p>
        </p:txBody>
      </p:sp>
      <p:sp>
        <p:nvSpPr>
          <p:cNvPr id="21" name="TextBox 20"/>
          <p:cNvSpPr txBox="1"/>
          <p:nvPr/>
        </p:nvSpPr>
        <p:spPr>
          <a:xfrm>
            <a:off x="1143000" y="4617720"/>
            <a:ext cx="9601200" cy="384048"/>
          </a:xfrm>
          <a:prstGeom prst="rect">
            <a:avLst/>
          </a:prstGeom>
          <a:noFill/>
        </p:spPr>
        <p:txBody>
          <a:bodyPr wrap="none">
            <a:spAutoFit/>
          </a:bodyPr>
          <a:lstStyle/>
          <a:p>
            <a:pPr>
              <a:defRPr sz="1260">
                <a:solidFill>
                  <a:srgbClr val="333333"/>
                </a:solidFill>
              </a:defRPr>
            </a:pPr>
            <a:r>
              <a:t>Decision-moving facts matter more than market noise</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Key highlights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analysis narrows the agenda to a focused set of management priorities</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Rectangle 5"/>
          <p:cNvSpPr/>
          <p:nvPr/>
        </p:nvSpPr>
        <p:spPr>
          <a:xfrm>
            <a:off x="566928"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Rectangle 6"/>
          <p:cNvSpPr/>
          <p:nvPr/>
        </p:nvSpPr>
        <p:spPr>
          <a:xfrm>
            <a:off x="566928"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81328"/>
            <a:ext cx="438912" cy="201168"/>
          </a:xfrm>
          <a:prstGeom prst="rect">
            <a:avLst/>
          </a:prstGeom>
          <a:noFill/>
        </p:spPr>
        <p:txBody>
          <a:bodyPr wrap="none">
            <a:spAutoFit/>
          </a:bodyPr>
          <a:lstStyle/>
          <a:p>
            <a:pPr>
              <a:defRPr sz="900" b="1">
                <a:solidFill>
                  <a:srgbClr val="003087"/>
                </a:solidFill>
              </a:defRPr>
            </a:pPr>
            <a:r>
              <a:t>01</a:t>
            </a:r>
          </a:p>
        </p:txBody>
      </p:sp>
      <p:sp>
        <p:nvSpPr>
          <p:cNvPr id="9" name="TextBox 8"/>
          <p:cNvSpPr txBox="1"/>
          <p:nvPr/>
        </p:nvSpPr>
        <p:spPr>
          <a:xfrm>
            <a:off x="1207008" y="1499616"/>
            <a:ext cx="4590288" cy="704088"/>
          </a:xfrm>
          <a:prstGeom prst="rect">
            <a:avLst/>
          </a:prstGeom>
          <a:noFill/>
        </p:spPr>
        <p:txBody>
          <a:bodyPr wrap="square">
            <a:spAutoFit/>
          </a:bodyPr>
          <a:lstStyle/>
          <a:p>
            <a:pPr>
              <a:defRPr sz="770">
                <a:solidFill>
                  <a:srgbClr val="333333"/>
                </a:solidFill>
              </a:defRPr>
            </a:pPr>
            <a:r>
              <a:t>Nuclear fusion commercialization is accelerating, with private and public investments exceeding $6 billion globally and multiple ventur</a:t>
            </a:r>
          </a:p>
        </p:txBody>
      </p:sp>
      <p:sp>
        <p:nvSpPr>
          <p:cNvPr id="10" name="Rectangle 9"/>
          <p:cNvSpPr/>
          <p:nvPr/>
        </p:nvSpPr>
        <p:spPr>
          <a:xfrm>
            <a:off x="6163056" y="1389888"/>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Rectangle 10"/>
          <p:cNvSpPr/>
          <p:nvPr/>
        </p:nvSpPr>
        <p:spPr>
          <a:xfrm>
            <a:off x="6163056" y="1389888"/>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309360" y="1481328"/>
            <a:ext cx="438912" cy="201168"/>
          </a:xfrm>
          <a:prstGeom prst="rect">
            <a:avLst/>
          </a:prstGeom>
          <a:noFill/>
        </p:spPr>
        <p:txBody>
          <a:bodyPr wrap="none">
            <a:spAutoFit/>
          </a:bodyPr>
          <a:lstStyle/>
          <a:p>
            <a:pPr>
              <a:defRPr sz="900" b="1">
                <a:solidFill>
                  <a:srgbClr val="003087"/>
                </a:solidFill>
              </a:defRPr>
            </a:pPr>
            <a:r>
              <a:t>02</a:t>
            </a:r>
          </a:p>
        </p:txBody>
      </p:sp>
      <p:sp>
        <p:nvSpPr>
          <p:cNvPr id="13" name="TextBox 12"/>
          <p:cNvSpPr txBox="1"/>
          <p:nvPr/>
        </p:nvSpPr>
        <p:spPr>
          <a:xfrm>
            <a:off x="6803136" y="1499616"/>
            <a:ext cx="4590288" cy="704088"/>
          </a:xfrm>
          <a:prstGeom prst="rect">
            <a:avLst/>
          </a:prstGeom>
          <a:noFill/>
        </p:spPr>
        <p:txBody>
          <a:bodyPr wrap="square">
            <a:spAutoFit/>
          </a:bodyPr>
          <a:lstStyle/>
          <a:p>
            <a:pPr>
              <a:defRPr sz="770">
                <a:solidFill>
                  <a:srgbClr val="333333"/>
                </a:solidFill>
              </a:defRPr>
            </a:pPr>
            <a:r>
              <a:t>Commercial viability hinges on achieving cost parity with renewables and fission, which remains uncertain due to engineering challenges</a:t>
            </a:r>
          </a:p>
        </p:txBody>
      </p:sp>
      <p:sp>
        <p:nvSpPr>
          <p:cNvPr id="14" name="Rectangle 13"/>
          <p:cNvSpPr/>
          <p:nvPr/>
        </p:nvSpPr>
        <p:spPr>
          <a:xfrm>
            <a:off x="566928"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Rectangle 14"/>
          <p:cNvSpPr/>
          <p:nvPr/>
        </p:nvSpPr>
        <p:spPr>
          <a:xfrm>
            <a:off x="566928"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713232" y="2496312"/>
            <a:ext cx="438912" cy="201168"/>
          </a:xfrm>
          <a:prstGeom prst="rect">
            <a:avLst/>
          </a:prstGeom>
          <a:noFill/>
        </p:spPr>
        <p:txBody>
          <a:bodyPr wrap="none">
            <a:spAutoFit/>
          </a:bodyPr>
          <a:lstStyle/>
          <a:p>
            <a:pPr>
              <a:defRPr sz="900" b="1">
                <a:solidFill>
                  <a:srgbClr val="003087"/>
                </a:solidFill>
              </a:defRPr>
            </a:pPr>
            <a:r>
              <a:t>03</a:t>
            </a:r>
          </a:p>
        </p:txBody>
      </p:sp>
      <p:sp>
        <p:nvSpPr>
          <p:cNvPr id="17" name="TextBox 16"/>
          <p:cNvSpPr txBox="1"/>
          <p:nvPr/>
        </p:nvSpPr>
        <p:spPr>
          <a:xfrm>
            <a:off x="1207008" y="2514600"/>
            <a:ext cx="4590288" cy="704088"/>
          </a:xfrm>
          <a:prstGeom prst="rect">
            <a:avLst/>
          </a:prstGeom>
          <a:noFill/>
        </p:spPr>
        <p:txBody>
          <a:bodyPr wrap="square">
            <a:spAutoFit/>
          </a:bodyPr>
          <a:lstStyle/>
          <a:p>
            <a:pPr>
              <a:defRPr sz="770">
                <a:solidFill>
                  <a:srgbClr val="333333"/>
                </a:solidFill>
              </a:defRPr>
            </a:pPr>
            <a:r>
              <a:t>Regulatory frameworks are nascent, posing approval risks that could delay deployment by 3–5 years.</a:t>
            </a:r>
          </a:p>
        </p:txBody>
      </p:sp>
      <p:sp>
        <p:nvSpPr>
          <p:cNvPr id="18" name="Rectangle 17"/>
          <p:cNvSpPr/>
          <p:nvPr/>
        </p:nvSpPr>
        <p:spPr>
          <a:xfrm>
            <a:off x="6163056" y="2404872"/>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Rectangle 18"/>
          <p:cNvSpPr/>
          <p:nvPr/>
        </p:nvSpPr>
        <p:spPr>
          <a:xfrm>
            <a:off x="6163056" y="2404872"/>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309360" y="2496312"/>
            <a:ext cx="438912" cy="201168"/>
          </a:xfrm>
          <a:prstGeom prst="rect">
            <a:avLst/>
          </a:prstGeom>
          <a:noFill/>
        </p:spPr>
        <p:txBody>
          <a:bodyPr wrap="none">
            <a:spAutoFit/>
          </a:bodyPr>
          <a:lstStyle/>
          <a:p>
            <a:pPr>
              <a:defRPr sz="900" b="1">
                <a:solidFill>
                  <a:srgbClr val="003087"/>
                </a:solidFill>
              </a:defRPr>
            </a:pPr>
            <a:r>
              <a:t>04</a:t>
            </a:r>
          </a:p>
        </p:txBody>
      </p:sp>
      <p:sp>
        <p:nvSpPr>
          <p:cNvPr id="21" name="TextBox 20"/>
          <p:cNvSpPr txBox="1"/>
          <p:nvPr/>
        </p:nvSpPr>
        <p:spPr>
          <a:xfrm>
            <a:off x="6803136" y="2514600"/>
            <a:ext cx="4590288" cy="704088"/>
          </a:xfrm>
          <a:prstGeom prst="rect">
            <a:avLst/>
          </a:prstGeom>
          <a:noFill/>
        </p:spPr>
        <p:txBody>
          <a:bodyPr wrap="square">
            <a:spAutoFit/>
          </a:bodyPr>
          <a:lstStyle/>
          <a:p>
            <a:pPr>
              <a:defRPr sz="770">
                <a:solidFill>
                  <a:srgbClr val="333333"/>
                </a:solidFill>
              </a:defRPr>
            </a:pPr>
            <a:r>
              <a:t>Immediate next steps include monitoring key milestones from ITER, SPARC, and leading private firms, and forming strategic partnerships</a:t>
            </a:r>
          </a:p>
        </p:txBody>
      </p:sp>
      <p:sp>
        <p:nvSpPr>
          <p:cNvPr id="22" name="Rectangle 21"/>
          <p:cNvSpPr/>
          <p:nvPr/>
        </p:nvSpPr>
        <p:spPr>
          <a:xfrm>
            <a:off x="566928"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Rectangle 22"/>
          <p:cNvSpPr/>
          <p:nvPr/>
        </p:nvSpPr>
        <p:spPr>
          <a:xfrm>
            <a:off x="566928"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4" name="TextBox 23"/>
          <p:cNvSpPr txBox="1"/>
          <p:nvPr/>
        </p:nvSpPr>
        <p:spPr>
          <a:xfrm>
            <a:off x="713232" y="3511296"/>
            <a:ext cx="438912" cy="201168"/>
          </a:xfrm>
          <a:prstGeom prst="rect">
            <a:avLst/>
          </a:prstGeom>
          <a:noFill/>
        </p:spPr>
        <p:txBody>
          <a:bodyPr wrap="none">
            <a:spAutoFit/>
          </a:bodyPr>
          <a:lstStyle/>
          <a:p>
            <a:pPr>
              <a:defRPr sz="900" b="1">
                <a:solidFill>
                  <a:srgbClr val="003087"/>
                </a:solidFill>
              </a:defRPr>
            </a:pPr>
            <a:r>
              <a:t>05</a:t>
            </a:r>
          </a:p>
        </p:txBody>
      </p:sp>
      <p:sp>
        <p:nvSpPr>
          <p:cNvPr id="25" name="TextBox 24"/>
          <p:cNvSpPr txBox="1"/>
          <p:nvPr/>
        </p:nvSpPr>
        <p:spPr>
          <a:xfrm>
            <a:off x="1207008" y="3529584"/>
            <a:ext cx="4590288" cy="704088"/>
          </a:xfrm>
          <a:prstGeom prst="rect">
            <a:avLst/>
          </a:prstGeom>
          <a:noFill/>
        </p:spPr>
        <p:txBody>
          <a:bodyPr wrap="square">
            <a:spAutoFit/>
          </a:bodyPr>
          <a:lstStyle/>
          <a:p>
            <a:pPr>
              <a:defRPr sz="770">
                <a:solidFill>
                  <a:srgbClr val="333333"/>
                </a:solidFill>
              </a:defRPr>
            </a:pPr>
            <a:r>
              <a:t>Fusion offers significant waste and safety advantages over fission, which could accelerate public acceptance and policy support.</a:t>
            </a:r>
          </a:p>
        </p:txBody>
      </p:sp>
      <p:sp>
        <p:nvSpPr>
          <p:cNvPr id="26" name="Rectangle 25"/>
          <p:cNvSpPr/>
          <p:nvPr/>
        </p:nvSpPr>
        <p:spPr>
          <a:xfrm>
            <a:off x="6163056" y="3419856"/>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7" name="Rectangle 26"/>
          <p:cNvSpPr/>
          <p:nvPr/>
        </p:nvSpPr>
        <p:spPr>
          <a:xfrm>
            <a:off x="6163056" y="3419856"/>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8" name="TextBox 27"/>
          <p:cNvSpPr txBox="1"/>
          <p:nvPr/>
        </p:nvSpPr>
        <p:spPr>
          <a:xfrm>
            <a:off x="6309360" y="3511296"/>
            <a:ext cx="438912" cy="201168"/>
          </a:xfrm>
          <a:prstGeom prst="rect">
            <a:avLst/>
          </a:prstGeom>
          <a:noFill/>
        </p:spPr>
        <p:txBody>
          <a:bodyPr wrap="none">
            <a:spAutoFit/>
          </a:bodyPr>
          <a:lstStyle/>
          <a:p>
            <a:pPr>
              <a:defRPr sz="900" b="1">
                <a:solidFill>
                  <a:srgbClr val="003087"/>
                </a:solidFill>
              </a:defRPr>
            </a:pPr>
            <a:r>
              <a:t>06</a:t>
            </a:r>
          </a:p>
        </p:txBody>
      </p:sp>
      <p:sp>
        <p:nvSpPr>
          <p:cNvPr id="29" name="TextBox 28"/>
          <p:cNvSpPr txBox="1"/>
          <p:nvPr/>
        </p:nvSpPr>
        <p:spPr>
          <a:xfrm>
            <a:off x="6803136" y="3529584"/>
            <a:ext cx="4590288" cy="704088"/>
          </a:xfrm>
          <a:prstGeom prst="rect">
            <a:avLst/>
          </a:prstGeom>
          <a:noFill/>
        </p:spPr>
        <p:txBody>
          <a:bodyPr wrap="square">
            <a:spAutoFit/>
          </a:bodyPr>
          <a:lstStyle/>
          <a:p>
            <a:pPr>
              <a:defRPr sz="770">
                <a:solidFill>
                  <a:srgbClr val="333333"/>
                </a:solidFill>
              </a:defRPr>
            </a:pPr>
            <a:r>
              <a:t>The CEO-level question is not whether Nuclear fusion commercialization outlook and strategic implications is interesting, but which dec</a:t>
            </a:r>
          </a:p>
        </p:txBody>
      </p:sp>
      <p:sp>
        <p:nvSpPr>
          <p:cNvPr id="30" name="Rectangle 29"/>
          <p:cNvSpPr/>
          <p:nvPr/>
        </p:nvSpPr>
        <p:spPr>
          <a:xfrm>
            <a:off x="566928" y="4434840"/>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Rectangle 30"/>
          <p:cNvSpPr/>
          <p:nvPr/>
        </p:nvSpPr>
        <p:spPr>
          <a:xfrm>
            <a:off x="566928" y="4434840"/>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TextBox 31"/>
          <p:cNvSpPr txBox="1"/>
          <p:nvPr/>
        </p:nvSpPr>
        <p:spPr>
          <a:xfrm>
            <a:off x="713232" y="4526280"/>
            <a:ext cx="438912" cy="201168"/>
          </a:xfrm>
          <a:prstGeom prst="rect">
            <a:avLst/>
          </a:prstGeom>
          <a:noFill/>
        </p:spPr>
        <p:txBody>
          <a:bodyPr wrap="none">
            <a:spAutoFit/>
          </a:bodyPr>
          <a:lstStyle/>
          <a:p>
            <a:pPr>
              <a:defRPr sz="900" b="1">
                <a:solidFill>
                  <a:srgbClr val="003087"/>
                </a:solidFill>
              </a:defRPr>
            </a:pPr>
            <a:r>
              <a:t>07</a:t>
            </a:r>
          </a:p>
        </p:txBody>
      </p:sp>
      <p:sp>
        <p:nvSpPr>
          <p:cNvPr id="33" name="TextBox 32"/>
          <p:cNvSpPr txBox="1"/>
          <p:nvPr/>
        </p:nvSpPr>
        <p:spPr>
          <a:xfrm>
            <a:off x="1207008" y="4544568"/>
            <a:ext cx="4590288" cy="704088"/>
          </a:xfrm>
          <a:prstGeom prst="rect">
            <a:avLst/>
          </a:prstGeom>
          <a:noFill/>
        </p:spPr>
        <p:txBody>
          <a:bodyPr wrap="square">
            <a:spAutoFit/>
          </a:bodyPr>
          <a:lstStyle/>
          <a:p>
            <a:pPr>
              <a:defRPr sz="770">
                <a:solidFill>
                  <a:srgbClr val="333333"/>
                </a:solidFill>
              </a:defRPr>
            </a:pPr>
            <a:r>
              <a:t>Management should separate verified facts, directional scenarios and missing diligence items before committing capital, partnerships or</a:t>
            </a:r>
          </a:p>
        </p:txBody>
      </p:sp>
      <p:sp>
        <p:nvSpPr>
          <p:cNvPr id="34" name="Rectangle 33"/>
          <p:cNvSpPr/>
          <p:nvPr/>
        </p:nvSpPr>
        <p:spPr>
          <a:xfrm>
            <a:off x="6163056" y="4434840"/>
            <a:ext cx="5394960" cy="868680"/>
          </a:xfrm>
          <a:prstGeom prst="rect">
            <a:avLst/>
          </a:prstGeom>
          <a:solidFill>
            <a:srgbClr val="FFFFFF"/>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5" name="Rectangle 34"/>
          <p:cNvSpPr/>
          <p:nvPr/>
        </p:nvSpPr>
        <p:spPr>
          <a:xfrm>
            <a:off x="6163056" y="4434840"/>
            <a:ext cx="54864" cy="868680"/>
          </a:xfrm>
          <a:prstGeom prst="rect">
            <a:avLst/>
          </a:prstGeom>
          <a:solidFill>
            <a:srgbClr val="003087"/>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6" name="TextBox 35"/>
          <p:cNvSpPr txBox="1"/>
          <p:nvPr/>
        </p:nvSpPr>
        <p:spPr>
          <a:xfrm>
            <a:off x="6309360" y="4526280"/>
            <a:ext cx="438912" cy="201168"/>
          </a:xfrm>
          <a:prstGeom prst="rect">
            <a:avLst/>
          </a:prstGeom>
          <a:noFill/>
        </p:spPr>
        <p:txBody>
          <a:bodyPr wrap="none">
            <a:spAutoFit/>
          </a:bodyPr>
          <a:lstStyle/>
          <a:p>
            <a:pPr>
              <a:defRPr sz="900" b="1">
                <a:solidFill>
                  <a:srgbClr val="003087"/>
                </a:solidFill>
              </a:defRPr>
            </a:pPr>
            <a:r>
              <a:t>08</a:t>
            </a:r>
          </a:p>
        </p:txBody>
      </p:sp>
      <p:sp>
        <p:nvSpPr>
          <p:cNvPr id="37" name="TextBox 36"/>
          <p:cNvSpPr txBox="1"/>
          <p:nvPr/>
        </p:nvSpPr>
        <p:spPr>
          <a:xfrm>
            <a:off x="6803136" y="4544568"/>
            <a:ext cx="4590288" cy="704088"/>
          </a:xfrm>
          <a:prstGeom prst="rect">
            <a:avLst/>
          </a:prstGeom>
          <a:noFill/>
        </p:spPr>
        <p:txBody>
          <a:bodyPr wrap="square">
            <a:spAutoFit/>
          </a:bodyPr>
          <a:lstStyle/>
          <a:p>
            <a:pPr>
              <a:defRPr sz="770">
                <a:solidFill>
                  <a:srgbClr val="333333"/>
                </a:solidFill>
              </a:defRPr>
            </a:pPr>
            <a:r>
              <a:t>The report should translate technical evidence into revenue potential, cost position, investment return, execution risk and decision ga</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Nuclear Fusion Commercialization: Strategic Outlook and Implications for Energy Markets and Geopolitics should be manage</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Nuclear Fusion Commercialization: Strategic Outlook and Implications for Energy Markets and Geopolitics should be mana</a:t>
            </a:r>
          </a:p>
          <a:p>
            <a:pPr>
              <a:defRPr sz="830">
                <a:solidFill>
                  <a:srgbClr val="64696E"/>
                </a:solidFill>
              </a:defRPr>
            </a:pPr>
            <a:r>
              <a:t>Fusion has moved from physics to engineering, with over 40 private firms targeting commercial power by the 2030s, but no operational plant exists yet, requiring staged in</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Nuclear fusion has moved from theoretical physics to engineering reality, with over 40 private companies and major government projects targeting commercial power by the 2030s. The global fusion investment landscape has shifted dramatically: private funding sur</a:t>
            </a:r>
          </a:p>
          <a:p>
            <a:pPr>
              <a:spcAft>
                <a:spcPts val="600"/>
              </a:spcAft>
              <a:defRPr sz="819">
                <a:solidFill>
                  <a:srgbClr val="333333"/>
                </a:solidFill>
              </a:defRPr>
            </a:pPr>
            <a:r>
              <a:t>The most advanced projects include Commonwealth Fusion Systems' SPARC, a tokamak aiming for Q&gt;10 by 2027, and ITER, which targets first plasma by 2027 and full deuterium-tritium operation by 2035. Helion Energy claims it will demonstrate net electricity genera</a:t>
            </a:r>
          </a:p>
          <a:p>
            <a:pPr>
              <a:spcAft>
                <a:spcPts val="600"/>
              </a:spcAft>
              <a:defRPr sz="819">
                <a:solidFill>
                  <a:srgbClr val="333333"/>
                </a:solidFill>
              </a:defRPr>
            </a:pPr>
            <a:r>
              <a:t>Despite progress, engineering challenges persist. Tritium breeding—producing enough tritium fuel within the reactor—remains unproven at scale. Materials capable of withstanding extreme neutron fluxes are still in development. Plasma stability and confinement t</a:t>
            </a:r>
          </a:p>
          <a:p>
            <a:pPr>
              <a:spcBef>
                <a:spcPts val="600"/>
              </a:spcBef>
              <a:defRPr sz="819" b="1">
                <a:solidFill>
                  <a:srgbClr val="003087"/>
                </a:solidFill>
              </a:defRPr>
            </a:pPr>
            <a:r>
              <a:t>Key implications</a:t>
            </a:r>
          </a:p>
          <a:p>
            <a:pPr>
              <a:defRPr sz="730">
                <a:solidFill>
                  <a:srgbClr val="333333"/>
                </a:solidFill>
              </a:defRPr>
            </a:pPr>
            <a:r>
              <a:t>- Fusion investment surged to $2.8 billion in 2022, but no commercial plant exists.</a:t>
            </a:r>
          </a:p>
          <a:p>
            <a:pPr>
              <a:defRPr sz="730">
                <a:solidFill>
                  <a:srgbClr val="333333"/>
                </a:solidFill>
              </a:defRPr>
            </a:pPr>
            <a:r>
              <a:t>- SPARC and ITER milestones by 2027–2028 will be critical for sector credibility.</a:t>
            </a:r>
          </a:p>
        </p:txBody>
      </p:sp>
      <p:pic>
        <p:nvPicPr>
          <p:cNvPr id="7" name="Picture 6" descr="image-1.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Commercial readiness depends on bankability, deliverability and repeat customer proof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Commercial readiness depends on bankability, deliverability and repeat customer proof</a:t>
            </a:r>
          </a:p>
          <a:p>
            <a:pPr>
              <a:defRPr sz="830">
                <a:solidFill>
                  <a:srgbClr val="64696E"/>
                </a:solidFill>
              </a:defRPr>
            </a:pPr>
            <a:r>
              <a:t>Recent Q&gt;1 achievements and HTS magnet advances have de-risked physics, but tritium breeding and materials remain unproven, requiring continued monitoring of engineering</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past five years have seen remarkable progress in fusion science. In 2022, the National Ignition Facility achieved a net energy gain (Q&gt;1) for the first time, proving that fusion can produce more energy than it consumes. While this was a laser-based inertia</a:t>
            </a:r>
          </a:p>
          <a:p>
            <a:pPr>
              <a:spcAft>
                <a:spcPts val="600"/>
              </a:spcAft>
              <a:defRPr sz="819">
                <a:solidFill>
                  <a:srgbClr val="333333"/>
                </a:solidFill>
              </a:defRPr>
            </a:pPr>
            <a:r>
              <a:t>High-temperature superconducting (HTS) magnets are a game-changer. Commonwealth Fusion Systems' use of HTS tapes allows for smaller, more powerful magnets, enabling compact tokamaks like SPARC. This reduces cost and construction time. Other ventures are explor</a:t>
            </a:r>
          </a:p>
          <a:p>
            <a:pPr>
              <a:spcAft>
                <a:spcPts val="600"/>
              </a:spcAft>
              <a:defRPr sz="819">
                <a:solidFill>
                  <a:srgbClr val="333333"/>
                </a:solidFill>
              </a:defRPr>
            </a:pPr>
            <a:r>
              <a:t>Despite these advances, key engineering challenges remain. Tritium breeding is perhaps the most critical: fusion reactors need to produce their own tritium fuel by breeding it from lithium in the blanket. No reactor has demonstrated this at scale. Materials sc</a:t>
            </a:r>
          </a:p>
          <a:p>
            <a:pPr>
              <a:spcBef>
                <a:spcPts val="600"/>
              </a:spcBef>
              <a:defRPr sz="819" b="1">
                <a:solidFill>
                  <a:srgbClr val="003087"/>
                </a:solidFill>
              </a:defRPr>
            </a:pPr>
            <a:r>
              <a:t>Key implications</a:t>
            </a:r>
          </a:p>
          <a:p>
            <a:pPr>
              <a:defRPr sz="730">
                <a:solidFill>
                  <a:srgbClr val="333333"/>
                </a:solidFill>
              </a:defRPr>
            </a:pPr>
            <a:r>
              <a:t>- Q&gt;1 achieved in 2022 validates fusion physics; engineering challenges remain.</a:t>
            </a:r>
          </a:p>
          <a:p>
            <a:pPr>
              <a:defRPr sz="730">
                <a:solidFill>
                  <a:srgbClr val="333333"/>
                </a:solidFill>
              </a:defRPr>
            </a:pPr>
            <a:r>
              <a:t>- HTS magnets enable compact designs, reducing cost and construction time.</a:t>
            </a:r>
          </a:p>
        </p:txBody>
      </p:sp>
      <p:pic>
        <p:nvPicPr>
          <p:cNvPr id="7" name="Picture 6" descr="image-2.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Cost, return and timing will determine the real deployment window</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Cost, return and timing will determine the real deployment window</a:t>
            </a:r>
          </a:p>
          <a:p>
            <a:pPr>
              <a:defRPr sz="830">
                <a:solidFill>
                  <a:srgbClr val="64696E"/>
                </a:solidFill>
              </a:defRPr>
            </a:pPr>
            <a:r>
              <a:t>Market size should not enter an investment case until the cost and return logic can be checked.</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Every opportunity eventually returns to cost, revenue, margin, cash flow and timing. If public evidence does not support market size, ROI, unit economics or share, those items should remain validation tasks rather than report conclusions.</a:t>
            </a:r>
          </a:p>
          <a:p>
            <a:pPr>
              <a:spcAft>
                <a:spcPts val="600"/>
              </a:spcAft>
              <a:defRPr sz="819">
                <a:solidFill>
                  <a:srgbClr val="333333"/>
                </a:solidFill>
              </a:defRPr>
            </a:pPr>
            <a:r>
              <a:t>Near-term action should focus on verifiable cost drivers and customer willingness to pay instead of relying on optimistic long-range scenarios. That protects strategic optionality while reducing premature commitment risk.</a:t>
            </a:r>
          </a:p>
          <a:p>
            <a:pPr>
              <a:spcAft>
                <a:spcPts val="600"/>
              </a:spcAft>
              <a:defRPr sz="819">
                <a:solidFill>
                  <a:srgbClr val="333333"/>
                </a:solidFill>
              </a:defRPr>
            </a:pPr>
            <a:r>
              <a:t>As cost, customer and financing evidence improves, management can shift resources from monitoring and partnerships toward pilots or scaled deployment.</a:t>
            </a:r>
          </a:p>
          <a:p>
            <a:pPr>
              <a:spcBef>
                <a:spcPts val="600"/>
              </a:spcBef>
              <a:defRPr sz="819" b="1">
                <a:solidFill>
                  <a:srgbClr val="003087"/>
                </a:solidFill>
              </a:defRPr>
            </a:pPr>
            <a:r>
              <a:t>Key implications</a:t>
            </a:r>
          </a:p>
          <a:p>
            <a:pPr>
              <a:defRPr sz="730">
                <a:solidFill>
                  <a:srgbClr val="333333"/>
                </a:solidFill>
              </a:defRPr>
            </a:pPr>
            <a:r>
              <a:t>- Cost and ROI are priority diligence items</a:t>
            </a:r>
          </a:p>
          <a:p>
            <a:pPr>
              <a:defRPr sz="730">
                <a:solidFill>
                  <a:srgbClr val="333333"/>
                </a:solidFill>
              </a:defRPr>
            </a:pPr>
            <a:r>
              <a:t>- Timing should move with evidence quality</a:t>
            </a:r>
          </a:p>
        </p:txBody>
      </p:sp>
      <p:pic>
        <p:nvPicPr>
          <p:cNvPr id="7" name="Picture 6" descr="image-3.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Regulation, policy and public acceptance can reset the speed of adoption</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Regulation, policy and public acceptance can reset the speed of adoption</a:t>
            </a:r>
          </a:p>
          <a:p>
            <a:pPr>
              <a:defRPr sz="830">
                <a:solidFill>
                  <a:srgbClr val="64696E"/>
                </a:solidFill>
              </a:defRPr>
            </a:pPr>
            <a:r>
              <a:t>External rules can accelerate the market or change the risk budget and project timeline.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Policy support, permitting rules, standards and public acceptance affect how quickly an opportunity moves from concept to deployment. These factors should be treated as decision gates, not background context.</a:t>
            </a:r>
          </a:p>
          <a:p>
            <a:pPr>
              <a:spcAft>
                <a:spcPts val="600"/>
              </a:spcAft>
              <a:defRPr sz="819">
                <a:solidFill>
                  <a:srgbClr val="333333"/>
                </a:solidFill>
              </a:defRPr>
            </a:pPr>
            <a:r>
              <a:t>Where the regulatory path is unclear, the better move is usually standards engagement, policy tracking and low-risk pilots rather than an early heavy-asset commitment.</a:t>
            </a:r>
          </a:p>
          <a:p>
            <a:pPr>
              <a:spcAft>
                <a:spcPts val="600"/>
              </a:spcAft>
              <a:defRPr sz="819">
                <a:solidFill>
                  <a:srgbClr val="333333"/>
                </a:solidFill>
              </a:defRPr>
            </a:pPr>
            <a:r>
              <a:t>The board should track which policy events would change investment timing, such as licensing rules, procurement requirements, subsidy treatment, local approvals or safety standards.</a:t>
            </a:r>
          </a:p>
          <a:p>
            <a:pPr>
              <a:spcBef>
                <a:spcPts val="600"/>
              </a:spcBef>
              <a:defRPr sz="819" b="1">
                <a:solidFill>
                  <a:srgbClr val="003087"/>
                </a:solidFill>
              </a:defRPr>
            </a:pPr>
            <a:r>
              <a:t>Key implications</a:t>
            </a:r>
          </a:p>
          <a:p>
            <a:pPr>
              <a:defRPr sz="730">
                <a:solidFill>
                  <a:srgbClr val="333333"/>
                </a:solidFill>
              </a:defRPr>
            </a:pPr>
            <a:r>
              <a:t>- Policy events are external decision gates</a:t>
            </a:r>
          </a:p>
          <a:p>
            <a:pPr>
              <a:defRPr sz="730">
                <a:solidFill>
                  <a:srgbClr val="333333"/>
                </a:solidFill>
              </a:defRPr>
            </a:pPr>
            <a:r>
              <a:t>- Use options while regulation remains unclear</a:t>
            </a:r>
          </a:p>
        </p:txBody>
      </p:sp>
      <p:pic>
        <p:nvPicPr>
          <p:cNvPr id="7" name="Picture 6" descr="image-4.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Supply chain, partners and talent will decide who can act before the market is obvious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Supply chain, partners and talent will decide who can act before the market is obvious</a:t>
            </a:r>
          </a:p>
          <a:p>
            <a:pPr>
              <a:defRPr sz="830">
                <a:solidFill>
                  <a:srgbClr val="64696E"/>
                </a:solidFill>
              </a:defRPr>
            </a:pPr>
            <a:r>
              <a:t>Strategic advantage comes from ecosystem position rather than standalone product capability.</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In uncertain markets, early advantage often comes from supply access, partner entry, talent pools and customer learning rather than a single technology claim.</a:t>
            </a:r>
          </a:p>
          <a:p>
            <a:pPr>
              <a:spcAft>
                <a:spcPts val="600"/>
              </a:spcAft>
              <a:defRPr sz="819">
                <a:solidFill>
                  <a:srgbClr val="333333"/>
                </a:solidFill>
              </a:defRPr>
            </a:pPr>
            <a:r>
              <a:t>Management should identify which capabilities are scarce and can be secured early: critical supply, engineering delivery, channel partners, service network, financing partners and compliance capacity. Low-cost learning rights can be more valuable than waiting</a:t>
            </a:r>
          </a:p>
          <a:p>
            <a:pPr>
              <a:spcAft>
                <a:spcPts val="600"/>
              </a:spcAft>
              <a:defRPr sz="819">
                <a:solidFill>
                  <a:srgbClr val="333333"/>
                </a:solidFill>
              </a:defRPr>
            </a:pPr>
            <a:r>
              <a:t>Partnerships should create observable proof points. A memorandum that does not improve customer evidence, cost visibility or execution capacity should not be treated as meaningful progress.</a:t>
            </a:r>
          </a:p>
          <a:p>
            <a:pPr>
              <a:spcBef>
                <a:spcPts val="600"/>
              </a:spcBef>
              <a:defRPr sz="819" b="1">
                <a:solidFill>
                  <a:srgbClr val="003087"/>
                </a:solidFill>
              </a:defRPr>
            </a:pPr>
            <a:r>
              <a:t>Key implications</a:t>
            </a:r>
          </a:p>
          <a:p>
            <a:pPr>
              <a:defRPr sz="730">
                <a:solidFill>
                  <a:srgbClr val="333333"/>
                </a:solidFill>
              </a:defRPr>
            </a:pPr>
            <a:r>
              <a:t>- Secure scarce capabilities early</a:t>
            </a:r>
          </a:p>
          <a:p>
            <a:pPr>
              <a:defRPr sz="730">
                <a:solidFill>
                  <a:srgbClr val="333333"/>
                </a:solidFill>
              </a:defRPr>
            </a:pPr>
            <a:r>
              <a:t>- Partnerships must produce proof points</a:t>
            </a:r>
          </a:p>
        </p:txBody>
      </p:sp>
      <p:pic>
        <p:nvPicPr>
          <p:cNvPr id="7" name="Picture 6" descr="image-5.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Incumbents should protect near-term economics while preserving long-term options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Incumbents should protect near-term economics while preserving long-term options</a:t>
            </a:r>
          </a:p>
          <a:p>
            <a:pPr>
              <a:defRPr sz="830">
                <a:solidFill>
                  <a:srgbClr val="64696E"/>
                </a:solidFill>
              </a:defRPr>
            </a:pPr>
            <a:r>
              <a:t>The strongest posture is neither aggressive overcommitment nor passive observation.</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For incumbent businesses, the task is to protect near-term cash flow and customer relationships while avoiding strategic blindness to a long-term shift. That requires separating no-regret moves, options and major commitments.</a:t>
            </a:r>
          </a:p>
          <a:p>
            <a:pPr>
              <a:spcAft>
                <a:spcPts val="600"/>
              </a:spcAft>
              <a:defRPr sz="819">
                <a:solidFill>
                  <a:srgbClr val="333333"/>
                </a:solidFill>
              </a:defRPr>
            </a:pPr>
            <a:r>
              <a:t>No-regret moves include evidence ledgers, customer interviews, policy monitoring, supply-chain scans and small partner discussions. Option moves include pilots, preferential access and minority investments. Major commitments should wait for stronger proof.</a:t>
            </a:r>
          </a:p>
          <a:p>
            <a:pPr>
              <a:spcAft>
                <a:spcPts val="600"/>
              </a:spcAft>
              <a:defRPr sz="819">
                <a:solidFill>
                  <a:srgbClr val="333333"/>
                </a:solidFill>
              </a:defRPr>
            </a:pPr>
            <a:r>
              <a:t>This portfolio posture keeps the organization close to the opportunity without locking strategy and capital before the evidence base is ready.</a:t>
            </a:r>
          </a:p>
          <a:p>
            <a:pPr>
              <a:spcBef>
                <a:spcPts val="600"/>
              </a:spcBef>
              <a:defRPr sz="819" b="1">
                <a:solidFill>
                  <a:srgbClr val="003087"/>
                </a:solidFill>
              </a:defRPr>
            </a:pPr>
            <a:r>
              <a:t>Key implications</a:t>
            </a:r>
          </a:p>
          <a:p>
            <a:pPr>
              <a:defRPr sz="730">
                <a:solidFill>
                  <a:srgbClr val="333333"/>
                </a:solidFill>
              </a:defRPr>
            </a:pPr>
            <a:r>
              <a:t>- Separate no-regret moves from options and big bets</a:t>
            </a:r>
          </a:p>
          <a:p>
            <a:pPr>
              <a:defRPr sz="730">
                <a:solidFill>
                  <a:srgbClr val="333333"/>
                </a:solidFill>
              </a:defRPr>
            </a:pPr>
            <a:r>
              <a:t>- Protect near-term economics</a:t>
            </a:r>
          </a:p>
        </p:txBody>
      </p:sp>
      <p:pic>
        <p:nvPicPr>
          <p:cNvPr id="7" name="Picture 6" descr="image-6.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The management agenda should translate uncertainty into quarterly decision gates</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management agenda should translate uncertainty into quarterly decision gates</a:t>
            </a:r>
          </a:p>
          <a:p>
            <a:pPr>
              <a:defRPr sz="830">
                <a:solidFill>
                  <a:srgbClr val="64696E"/>
                </a:solidFill>
              </a:defRPr>
            </a:pPr>
            <a:r>
              <a:t>The report should end in owners, evidence thresholds and review cadence.</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The output should become a quarterly management agenda: every material claim needs an owner, evidence gate, review date and escalation condition.</a:t>
            </a:r>
          </a:p>
          <a:p>
            <a:pPr>
              <a:spcAft>
                <a:spcPts val="600"/>
              </a:spcAft>
              <a:defRPr sz="819">
                <a:solidFill>
                  <a:srgbClr val="333333"/>
                </a:solidFill>
              </a:defRPr>
            </a:pPr>
            <a:r>
              <a:t>Near-term work should close source, customer, cost and timeline gaps; medium-term work should test pilots and partners; long-term work should cover capital, M&amp;A or scaled entry only when decision gates are met.</a:t>
            </a:r>
          </a:p>
          <a:p>
            <a:pPr>
              <a:spcAft>
                <a:spcPts val="600"/>
              </a:spcAft>
              <a:defRPr sz="819">
                <a:solidFill>
                  <a:srgbClr val="333333"/>
                </a:solidFill>
              </a:defRPr>
            </a:pPr>
            <a:r>
              <a:t>If the next evidence review does not improve conviction, management should keep the issue in monitoring mode. If the core metrics move, the topic can be escalated to an investment committee discussion.</a:t>
            </a:r>
          </a:p>
          <a:p>
            <a:pPr>
              <a:spcBef>
                <a:spcPts val="600"/>
              </a:spcBef>
              <a:defRPr sz="819" b="1">
                <a:solidFill>
                  <a:srgbClr val="003087"/>
                </a:solidFill>
              </a:defRPr>
            </a:pPr>
            <a:r>
              <a:t>Key implications</a:t>
            </a:r>
          </a:p>
          <a:p>
            <a:pPr>
              <a:defRPr sz="730">
                <a:solidFill>
                  <a:srgbClr val="333333"/>
                </a:solidFill>
              </a:defRPr>
            </a:pPr>
            <a:r>
              <a:t>- Create quarterly evidence gates</a:t>
            </a:r>
          </a:p>
          <a:p>
            <a:pPr>
              <a:defRPr sz="730">
                <a:solidFill>
                  <a:srgbClr val="333333"/>
                </a:solidFill>
              </a:defRPr>
            </a:pPr>
            <a:r>
              <a:t>- Assign owners and review cadence</a:t>
            </a:r>
          </a:p>
        </p:txBody>
      </p:sp>
      <p:pic>
        <p:nvPicPr>
          <p:cNvPr id="7" name="Picture 6" descr="image-7.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Decision-moving facts matter more than market noise</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Decision-moving facts matter more than market noise</a:t>
            </a:r>
          </a:p>
          <a:p>
            <a:pPr>
              <a:defRPr sz="830">
                <a:solidFill>
                  <a:srgbClr val="64696E"/>
                </a:solidFill>
              </a:defRPr>
            </a:pPr>
            <a:r>
              <a:t>The most useful monitoring lens focuses on customers, costs, regulation, competitors and financing.</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6" name="TextBox 5"/>
          <p:cNvSpPr txBox="1"/>
          <p:nvPr/>
        </p:nvSpPr>
        <p:spPr>
          <a:xfrm>
            <a:off x="566928" y="1353312"/>
            <a:ext cx="4892040" cy="4315968"/>
          </a:xfrm>
          <a:prstGeom prst="rect">
            <a:avLst/>
          </a:prstGeom>
          <a:noFill/>
        </p:spPr>
        <p:txBody>
          <a:bodyPr wrap="square" tIns="0" bIns="0">
            <a:spAutoFit/>
          </a:bodyPr>
          <a:lstStyle/>
          <a:p>
            <a:pPr>
              <a:spcAft>
                <a:spcPts val="600"/>
              </a:spcAft>
              <a:defRPr sz="819">
                <a:solidFill>
                  <a:srgbClr val="333333"/>
                </a:solidFill>
              </a:defRPr>
            </a:pPr>
            <a:r>
              <a:t>For leadership teams, management should not treat media attention, financing announcements or single technical claims as decision signals on their own. More useful signals include customer procurement, cost movement, regulatory clarity, competitor commitments</a:t>
            </a:r>
          </a:p>
          <a:p>
            <a:pPr>
              <a:spcAft>
                <a:spcPts val="600"/>
              </a:spcAft>
              <a:defRPr sz="819">
                <a:solidFill>
                  <a:srgbClr val="333333"/>
                </a:solidFill>
              </a:defRPr>
            </a:pPr>
            <a:r>
              <a:t>Each signal should map to an action: keep monitoring, start a pilot, expand a partnership, pause commitment or escalate to the board.</a:t>
            </a:r>
          </a:p>
          <a:p>
            <a:pPr>
              <a:spcAft>
                <a:spcPts val="600"/>
              </a:spcAft>
              <a:defRPr sz="819">
                <a:solidFill>
                  <a:srgbClr val="333333"/>
                </a:solidFill>
              </a:defRPr>
            </a:pPr>
            <a:r>
              <a:t>That discipline turns uncertainty into a manageable operating rhythm rather than a swing between optimism and caution.</a:t>
            </a:r>
          </a:p>
          <a:p>
            <a:pPr>
              <a:spcBef>
                <a:spcPts val="600"/>
              </a:spcBef>
              <a:defRPr sz="819" b="1">
                <a:solidFill>
                  <a:srgbClr val="003087"/>
                </a:solidFill>
              </a:defRPr>
            </a:pPr>
            <a:r>
              <a:t>Key implications</a:t>
            </a:r>
          </a:p>
          <a:p>
            <a:pPr>
              <a:defRPr sz="730">
                <a:solidFill>
                  <a:srgbClr val="333333"/>
                </a:solidFill>
              </a:defRPr>
            </a:pPr>
            <a:r>
              <a:t>- Track facts that change decisions</a:t>
            </a:r>
          </a:p>
          <a:p>
            <a:pPr>
              <a:defRPr sz="730">
                <a:solidFill>
                  <a:srgbClr val="333333"/>
                </a:solidFill>
              </a:defRPr>
            </a:pPr>
            <a:r>
              <a:t>- Tie each signal to an action</a:t>
            </a:r>
          </a:p>
        </p:txBody>
      </p:sp>
      <p:pic>
        <p:nvPicPr>
          <p:cNvPr id="7" name="Picture 6" descr="image-8.png"/>
          <p:cNvPicPr>
            <a:picLocks noChangeAspect="1"/>
          </p:cNvPicPr>
          <p:nvPr/>
        </p:nvPicPr>
        <p:blipFill>
          <a:blip r:embed="rId2"/>
          <a:stretch>
            <a:fillRect/>
          </a:stretch>
        </p:blipFill>
        <p:spPr>
          <a:xfrm>
            <a:off x="5897880" y="1371600"/>
            <a:ext cx="5650992" cy="4187952"/>
          </a:xfrm>
          <a:prstGeom prst="rect">
            <a:avLst/>
          </a:prstGeom>
        </p:spPr>
      </p:pic>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1: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1: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1.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2: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2: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2.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3: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3: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3.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4: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4: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4.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5: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5: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5.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Exhibit 6: evidence clarifies the strategic trade-off</a:t>
            </a:r>
          </a:p>
        </p:txBody>
      </p:sp>
      <p:sp>
        <p:nvSpPr>
          <p:cNvPr id="4" name="TextBox 3"/>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Exhibit 6: evidence clarifies the strategic trade-off</a:t>
            </a:r>
          </a:p>
        </p:txBody>
      </p:sp>
      <p:sp>
        <p:nvSpPr>
          <p:cNvPr id="5" name="Rectangle 4"/>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pic>
        <p:nvPicPr>
          <p:cNvPr id="6" name="Picture 5" descr="chart-6.png"/>
          <p:cNvPicPr>
            <a:picLocks noChangeAspect="1"/>
          </p:cNvPicPr>
          <p:nvPr/>
        </p:nvPicPr>
        <p:blipFill>
          <a:blip r:embed="rId2"/>
          <a:stretch>
            <a:fillRect/>
          </a:stretch>
        </p:blipFill>
        <p:spPr>
          <a:xfrm>
            <a:off x="868680" y="1188720"/>
            <a:ext cx="10378440" cy="4846320"/>
          </a:xfrm>
          <a:prstGeom prst="rect">
            <a:avLst/>
          </a:prstGeom>
        </p:spPr>
      </p:pic>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TextBox 1"/>
          <p:cNvSpPr txBox="1"/>
          <p:nvPr/>
        </p:nvSpPr>
        <p:spPr>
          <a:xfrm>
            <a:off x="10682935" y="164592"/>
            <a:ext cx="1115568" cy="219456"/>
          </a:xfrm>
          <a:prstGeom prst="rect">
            <a:avLst/>
          </a:prstGeom>
          <a:noFill/>
        </p:spPr>
        <p:txBody>
          <a:bodyPr wrap="none">
            <a:spAutoFit/>
          </a:bodyPr>
          <a:lstStyle/>
          <a:p>
            <a:pPr algn="r">
              <a:defRPr sz="800" b="1">
                <a:solidFill>
                  <a:srgbClr val="003087"/>
                </a:solidFill>
              </a:defRPr>
            </a:pPr>
            <a:r>
              <a:t>BlueOcean</a:t>
            </a:r>
          </a:p>
        </p:txBody>
      </p:sp>
      <p:sp>
        <p:nvSpPr>
          <p:cNvPr id="3" name="TextBox 2"/>
          <p:cNvSpPr txBox="1"/>
          <p:nvPr/>
        </p:nvSpPr>
        <p:spPr>
          <a:xfrm>
            <a:off x="566928" y="6601968"/>
            <a:ext cx="11057839" cy="146304"/>
          </a:xfrm>
          <a:prstGeom prst="rect">
            <a:avLst/>
          </a:prstGeom>
          <a:noFill/>
        </p:spPr>
        <p:txBody>
          <a:bodyPr wrap="none">
            <a:spAutoFit/>
          </a:bodyPr>
          <a:lstStyle/>
          <a:p>
            <a:pPr>
              <a:defRPr sz="600">
                <a:solidFill>
                  <a:srgbClr val="A0A6AD"/>
                </a:solidFill>
              </a:defRPr>
            </a:pPr>
            <a:r>
              <a:t>Closing</a:t>
            </a:r>
          </a:p>
        </p:txBody>
      </p:sp>
      <p:pic>
        <p:nvPicPr>
          <p:cNvPr id="4" name="Picture 3" descr="cover-ai.png"/>
          <p:cNvPicPr>
            <a:picLocks noChangeAspect="1"/>
          </p:cNvPicPr>
          <p:nvPr/>
        </p:nvPicPr>
        <p:blipFill>
          <a:blip r:embed="rId2"/>
          <a:stretch>
            <a:fillRect/>
          </a:stretch>
        </p:blipFill>
        <p:spPr>
          <a:xfrm>
            <a:off x="6583680" y="1051560"/>
            <a:ext cx="5074920" cy="4800600"/>
          </a:xfrm>
          <a:prstGeom prst="rect">
            <a:avLst/>
          </a:prstGeom>
        </p:spPr>
      </p:pic>
      <p:sp>
        <p:nvSpPr>
          <p:cNvPr id="5" name="TextBox 4"/>
          <p:cNvSpPr txBox="1"/>
          <p:nvPr/>
        </p:nvSpPr>
        <p:spPr>
          <a:xfrm>
            <a:off x="566928" y="347472"/>
            <a:ext cx="9692640" cy="841248"/>
          </a:xfrm>
          <a:prstGeom prst="rect">
            <a:avLst/>
          </a:prstGeom>
          <a:noFill/>
        </p:spPr>
        <p:txBody>
          <a:bodyPr wrap="square">
            <a:spAutoFit/>
          </a:bodyPr>
          <a:lstStyle/>
          <a:p>
            <a:pPr>
              <a:defRPr sz="2000" b="0">
                <a:solidFill>
                  <a:srgbClr val="333333"/>
                </a:solidFill>
              </a:defRPr>
            </a:pPr>
            <a:r>
              <a:t>The next step is to convert the research into a short list of decisions</a:t>
            </a:r>
          </a:p>
        </p:txBody>
      </p:sp>
      <p:sp>
        <p:nvSpPr>
          <p:cNvPr id="6" name="Rectangle 5"/>
          <p:cNvSpPr/>
          <p:nvPr/>
        </p:nvSpPr>
        <p:spPr>
          <a:xfrm>
            <a:off x="566928" y="1115568"/>
            <a:ext cx="11057839" cy="9144"/>
          </a:xfrm>
          <a:prstGeom prst="rect">
            <a:avLst/>
          </a:prstGeom>
          <a:solidFill>
            <a:srgbClr val="C8C8C8"/>
          </a:solidFill>
          <a:ln>
            <a:solidFill>
              <a:srgbClr val="C8C8C8"/>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66928" y="1463040"/>
            <a:ext cx="5715000" cy="2926080"/>
          </a:xfrm>
          <a:prstGeom prst="rect">
            <a:avLst/>
          </a:prstGeom>
          <a:noFill/>
        </p:spPr>
        <p:txBody>
          <a:bodyPr wrap="square">
            <a:spAutoFit/>
          </a:bodyPr>
          <a:lstStyle/>
          <a:p>
            <a:pPr>
              <a:defRPr sz="1500">
                <a:solidFill>
                  <a:srgbClr val="003087"/>
                </a:solidFill>
              </a:defRPr>
            </a:pPr>
            <a:r>
              <a:t>A Client-Ready Research Report for Senior Executives, Policymakers, and Strategic Investors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