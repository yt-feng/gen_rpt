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Strategic Assessment of Nuclear Fusion Technology: Navigating the Path to Commercial Energy</a:t>
            </a:r>
          </a:p>
          <a:p>
            <a:pPr>
              <a:spcBef>
                <a:spcPts val="1400"/>
              </a:spcBef>
              <a:defRPr sz="950">
                <a:solidFill>
                  <a:srgbClr val="64696E"/>
                </a:solidFill>
              </a:defRPr>
            </a:pPr>
            <a:r>
              <a:t>A BlueOcean Research Report for Senior Executives and Strategic Planners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Is Approaching Technical Feasibility but Commercial Viability Remains a Decade or More Away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Public and Private Fusion Projects Are Accelerating with Significant Funding and Milestones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 Faces Stiff Competition from Rapidly Improving Renewables and Storage Technologies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Key Technical Hurdles Include Plasma Confinement, Materials, and Tritium Breeding</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Strategic Entry Should Focus on Near-Term Partnerships and Monitoring Key Milestones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Regulatory and Public Acceptance Challenges Could Delay Fusion Deployment</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Geopolitical Risks Include Supply Chain Dependencies and Export Controls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Recommended Next Steps: Engage with Leading Private Fusion Firms and Assess Internal R&amp;D Capabilities</a:t>
            </a:r>
          </a:p>
        </p:txBody>
      </p:sp>
      <p:sp>
        <p:nvSpPr>
          <p:cNvPr id="22" name="TextBox 21"/>
          <p:cNvSpPr txBox="1"/>
          <p:nvPr/>
        </p:nvSpPr>
        <p:spPr>
          <a:xfrm>
            <a:off x="566928" y="5074920"/>
            <a:ext cx="502920" cy="274320"/>
          </a:xfrm>
          <a:prstGeom prst="rect">
            <a:avLst/>
          </a:prstGeom>
          <a:noFill/>
        </p:spPr>
        <p:txBody>
          <a:bodyPr wrap="none">
            <a:spAutoFit/>
          </a:bodyPr>
          <a:lstStyle/>
          <a:p>
            <a:pPr>
              <a:defRPr sz="950" b="1">
                <a:solidFill>
                  <a:srgbClr val="003087"/>
                </a:solidFill>
              </a:defRPr>
            </a:pPr>
            <a:r>
              <a:t>09</a:t>
            </a:r>
          </a:p>
        </p:txBody>
      </p:sp>
      <p:sp>
        <p:nvSpPr>
          <p:cNvPr id="23" name="TextBox 22"/>
          <p:cNvSpPr txBox="1"/>
          <p:nvPr/>
        </p:nvSpPr>
        <p:spPr>
          <a:xfrm>
            <a:off x="1143000" y="5074920"/>
            <a:ext cx="9601200" cy="384048"/>
          </a:xfrm>
          <a:prstGeom prst="rect">
            <a:avLst/>
          </a:prstGeom>
          <a:noFill/>
        </p:spPr>
        <p:txBody>
          <a:bodyPr wrap="none">
            <a:spAutoFit/>
          </a:bodyPr>
          <a:lstStyle/>
          <a:p>
            <a:pPr>
              <a:defRPr sz="1260">
                <a:solidFill>
                  <a:srgbClr val="333333"/>
                </a:solidFill>
              </a:defRPr>
            </a:pPr>
            <a:r>
              <a:t>Fusion's Hype Cycle: Managing Expectations vs. Real Progress</a:t>
            </a:r>
          </a:p>
        </p:txBody>
      </p:sp>
      <p:sp>
        <p:nvSpPr>
          <p:cNvPr id="24" name="TextBox 23"/>
          <p:cNvSpPr txBox="1"/>
          <p:nvPr/>
        </p:nvSpPr>
        <p:spPr>
          <a:xfrm>
            <a:off x="566928" y="5532120"/>
            <a:ext cx="502920" cy="274320"/>
          </a:xfrm>
          <a:prstGeom prst="rect">
            <a:avLst/>
          </a:prstGeom>
          <a:noFill/>
        </p:spPr>
        <p:txBody>
          <a:bodyPr wrap="none">
            <a:spAutoFit/>
          </a:bodyPr>
          <a:lstStyle/>
          <a:p>
            <a:pPr>
              <a:defRPr sz="950" b="1">
                <a:solidFill>
                  <a:srgbClr val="003087"/>
                </a:solidFill>
              </a:defRPr>
            </a:pPr>
            <a:r>
              <a:t>10</a:t>
            </a:r>
          </a:p>
        </p:txBody>
      </p:sp>
      <p:sp>
        <p:nvSpPr>
          <p:cNvPr id="25" name="TextBox 24"/>
          <p:cNvSpPr txBox="1"/>
          <p:nvPr/>
        </p:nvSpPr>
        <p:spPr>
          <a:xfrm>
            <a:off x="1143000" y="5532120"/>
            <a:ext cx="9601200" cy="384048"/>
          </a:xfrm>
          <a:prstGeom prst="rect">
            <a:avLst/>
          </a:prstGeom>
          <a:noFill/>
        </p:spPr>
        <p:txBody>
          <a:bodyPr wrap="none">
            <a:spAutoFit/>
          </a:bodyPr>
          <a:lstStyle/>
          <a:p>
            <a:pPr>
              <a:defRPr sz="1260">
                <a:solidFill>
                  <a:srgbClr val="333333"/>
                </a:solidFill>
              </a:defRPr>
            </a:pPr>
            <a:r>
              <a:t>The Tritium Bottleneck: Why Fuel Supply Is a Critical Risk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approaching technical feasibility after decades of research, with multiple public and private projects targeting net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Is Approaching Technical Feasibility but Commercial Viability Remains a Decade or More Away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Is Approaching Technical Feasibility but Commercial Viability Remains a Decade or More Away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considered the holy grail of clean energy, promising near-limitless power with minimal waste. After decades of incremental progress, the field has entered a new era of accelerated development, driven by both public megaprojects and</a:t>
            </a:r>
          </a:p>
          <a:p>
            <a:pPr>
              <a:spcAft>
                <a:spcPts val="600"/>
              </a:spcAft>
              <a:defRPr sz="819">
                <a:solidFill>
                  <a:srgbClr val="333333"/>
                </a:solidFill>
              </a:defRPr>
            </a:pPr>
            <a:r>
              <a:t>The technical challenges are formidable. Sustaining a plasma at temperatures exceeding 150 million degrees Celsius while maintaining stability and confinement requires advances in superconducting magnets, plasma control, and materials that can withstand extrem</a:t>
            </a:r>
          </a:p>
          <a:p>
            <a:pPr>
              <a:spcAft>
                <a:spcPts val="600"/>
              </a:spcAft>
              <a:defRPr sz="819">
                <a:solidFill>
                  <a:srgbClr val="333333"/>
                </a:solidFill>
              </a:defRPr>
            </a:pPr>
            <a:r>
              <a:t>Despite these hurdles, the pace of progress has accelerated. In 2022, the National Ignition Facility achieved net energy gain in a laboratory setting for the first time, validating the physics of inertial confinement. Private companies have raised over $5 bill</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Public and Private Fusion Projects Are Accelerating with Significant Funding and Milestones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Public and Private Fusion Projects Are Accelerating with Significant Funding and Milestones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is characterized by a dynamic interplay between large public projects and agile private ventures. ITER, the $22 billion international tokamak under construction in France, remains the flagship of public fusion research. Despite repeated de</a:t>
            </a:r>
          </a:p>
          <a:p>
            <a:pPr>
              <a:spcAft>
                <a:spcPts val="600"/>
              </a:spcAft>
              <a:defRPr sz="819">
                <a:solidFill>
                  <a:srgbClr val="333333"/>
                </a:solidFill>
              </a:defRPr>
            </a:pPr>
            <a:r>
              <a:t>Private fusion companies have emerged as a disruptive force, attracting over $5 billion in investment since 2020. Commonwealth Fusion Systems, a spinout from MIT, is developing SPARC, a compact tokamak using high-temperature superconducting magnets. SPARC is d</a:t>
            </a:r>
          </a:p>
          <a:p>
            <a:pPr>
              <a:spcAft>
                <a:spcPts val="600"/>
              </a:spcAft>
              <a:defRPr sz="819">
                <a:solidFill>
                  <a:srgbClr val="333333"/>
                </a:solidFill>
              </a:defRPr>
            </a:pPr>
            <a:r>
              <a:t>Government policies are also evolving to support fusion. The US Department of Energy launched the Bold Decadal Vision for Fusion Energy in 2022, aiming to accelerate the development of a pilot plant by the 2030s. The UK has committed £650 million to the STEP p</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Faces Stiff Competition from Rapidly Improving Renewables and Storage Technologies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Faces Stiff Competition from Rapidly Improving Renewables and Storage Technologies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While fusion offers the promise of baseload clean power, it must compete with a rapidly evolving energy landscape. Solar and wind energy have seen dramatic cost declines over the past decade, with levelized cost of electricity (LCOE) for utility-scale solar fa</a:t>
            </a:r>
          </a:p>
          <a:p>
            <a:pPr>
              <a:spcAft>
                <a:spcPts val="600"/>
              </a:spcAft>
              <a:defRPr sz="819">
                <a:solidFill>
                  <a:srgbClr val="333333"/>
                </a:solidFill>
              </a:defRPr>
            </a:pPr>
            <a:r>
              <a:t>Advanced fission technologies, including small modular reactors (SMRs) and molten salt reactors, are also advancing. These designs promise improved safety, lower capital costs, and waste reduction compared to traditional fission. While fission faces its own re</a:t>
            </a:r>
          </a:p>
          <a:p>
            <a:pPr>
              <a:spcAft>
                <a:spcPts val="600"/>
              </a:spcAft>
              <a:defRPr sz="819">
                <a:solidFill>
                  <a:srgbClr val="333333"/>
                </a:solidFill>
              </a:defRPr>
            </a:pPr>
            <a:r>
              <a:t>The economic viability of fusion depends on several factors: capital costs, operational costs, capacity factor, and regulatory costs. Early estimates suggest that fusion plants could have capital costs of $5–10 billion per GW, similar to fission, but with lowe</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Technical Hurdles Include Plasma Confinement, Materials, and Tritium Breeding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Key Technical Hurdles Include Plasma Confinement, Materials, and Tritium Breeding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Plasma confinement remains the central technical challenge for fusion. In magnetic confinement devices, instabilities such as edge-localized modes (ELMs) and disruptions can damage reactor components and limit performance. Advanced control systems and plasma s</a:t>
            </a:r>
          </a:p>
          <a:p>
            <a:pPr>
              <a:spcAft>
                <a:spcPts val="600"/>
              </a:spcAft>
              <a:defRPr sz="819">
                <a:solidFill>
                  <a:srgbClr val="333333"/>
                </a:solidFill>
              </a:defRPr>
            </a:pPr>
            <a:r>
              <a:t>Materials science is another critical bottleneck. Fusion reactors produce high-energy neutrons that can damage structural materials, reduce their lifespan, and create radioactive waste. Developing materials that can withstand neutron fluxes for extended period</a:t>
            </a:r>
          </a:p>
          <a:p>
            <a:pPr>
              <a:spcAft>
                <a:spcPts val="600"/>
              </a:spcAft>
              <a:defRPr sz="819">
                <a:solidFill>
                  <a:srgbClr val="333333"/>
                </a:solidFill>
              </a:defRPr>
            </a:pPr>
            <a:r>
              <a:t>Tritium breeding is a third major hurdle. Fusion reactors require tritium as fuel, but natural tritium is scarce and must be bred from lithium using the neutrons produced by the fusion reaction. This requires a breeding blanket that surrounds the plasma and ca</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Entry Should Focus on Near-Term Partnerships and Monitoring Key Milestones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Entry Should Focus on Near-Term Partnerships and Monitoring Key Milestones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Given the long timeline and high technical risk, a phased approach to fusion investment is recommended. In the near term (2025–2030), the priority should be to build relationships with leading private fusion companies and monitor their progress against milesto</a:t>
            </a:r>
          </a:p>
          <a:p>
            <a:pPr>
              <a:spcAft>
                <a:spcPts val="600"/>
              </a:spcAft>
              <a:defRPr sz="819">
                <a:solidFill>
                  <a:srgbClr val="333333"/>
                </a:solidFill>
              </a:defRPr>
            </a:pPr>
            <a:r>
              <a:t>Equity investments in private fusion companies offer the potential for high returns but carry significant risk. Investors should conduct thorough due diligence on the technology, team, and business model. Key factors to assess include the company's approach to</a:t>
            </a:r>
          </a:p>
          <a:p>
            <a:pPr>
              <a:spcAft>
                <a:spcPts val="600"/>
              </a:spcAft>
              <a:defRPr sz="819">
                <a:solidFill>
                  <a:srgbClr val="333333"/>
                </a:solidFill>
              </a:defRPr>
            </a:pPr>
            <a:r>
              <a:t>R&amp;D partnerships can provide a lower-risk entry point. Organizations with expertise in materials science, plasma physics, or engineering can collaborate with fusion companies on specific challenges, such as developing advanced materials or tritium breeding sys</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and Public Acceptance Challenges Could Delay Fusion Deployment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and Public Acceptance Challenges Could Delay Fusion Deployment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energy faces a complex regulatory landscape that is still being defined. Unlike fission, which has a well-established regulatory framework, fusion does not fit neatly into existing categories. Some regulators treat fusion as a nuclear technology, subjec</a:t>
            </a:r>
          </a:p>
          <a:p>
            <a:pPr>
              <a:spcAft>
                <a:spcPts val="600"/>
              </a:spcAft>
              <a:defRPr sz="819">
                <a:solidFill>
                  <a:srgbClr val="333333"/>
                </a:solidFill>
              </a:defRPr>
            </a:pPr>
            <a:r>
              <a:t>Public acceptance is another potential barrier. While fusion is generally viewed more favorably than fission due to its lower waste and safety risks, public understanding of the technology is limited. Misinformation or fear of anything 'nuclear' could lead to</a:t>
            </a:r>
          </a:p>
          <a:p>
            <a:pPr>
              <a:spcAft>
                <a:spcPts val="600"/>
              </a:spcAft>
              <a:defRPr sz="819">
                <a:solidFill>
                  <a:srgbClr val="333333"/>
                </a:solidFill>
              </a:defRPr>
            </a:pPr>
            <a:r>
              <a:t>Safety considerations for fusion are fundamentally different from fission. Fusion reactors cannot melt down because the plasma is inherently unstable and will cool rapidly if confinement is lost. The radioactive waste from fusion is primarily activated materia</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Geopolitical Risks Include Supply Chain Dependencies and Export Controls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Geopolitical Risks Include Supply Chain Dependencies and Export Controls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supply chain is global and concentrated in a few countries, creating potential vulnerabilities. High-temperature superconductors, for example, are produced primarily in the US, Japan, and South Korea. Rare earth elements used in magnets and other co</a:t>
            </a:r>
          </a:p>
          <a:p>
            <a:pPr>
              <a:spcAft>
                <a:spcPts val="600"/>
              </a:spcAft>
              <a:defRPr sz="819">
                <a:solidFill>
                  <a:srgbClr val="333333"/>
                </a:solidFill>
              </a:defRPr>
            </a:pPr>
            <a:r>
              <a:t>Export controls and intellectual property protection are also concerns. Fusion technology has dual-use potential, as it could be used to produce materials for nuclear weapons. As a result, governments may impose export controls on key components and know-how.</a:t>
            </a:r>
          </a:p>
          <a:p>
            <a:pPr>
              <a:spcAft>
                <a:spcPts val="600"/>
              </a:spcAft>
              <a:defRPr sz="819">
                <a:solidFill>
                  <a:srgbClr val="333333"/>
                </a:solidFill>
              </a:defRPr>
            </a:pPr>
            <a:r>
              <a:t>China's rapid progress in fusion research adds a geopolitical dimension. China has invested heavily in its fusion program, including the EAST tokamak and the CFETR reactor, and is building a large fusion research facility. China could emerge as a leader in fus</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Recommended Next Steps: Engage with Leading Private Fusion Firms and Assess Internal R&amp;D Capabilities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Recommended Next Steps: Engage with Leading Private Fusion Firms and Assess Internal R&amp;D Capabilities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Based on the analysis, the following next steps are recommended for organizations considering entry into the fusion space. First, establish a dedicated fusion strategy team to monitor developments and coordinate activities. This team should include experts in</a:t>
            </a:r>
          </a:p>
          <a:p>
            <a:pPr>
              <a:spcAft>
                <a:spcPts val="600"/>
              </a:spcAft>
              <a:defRPr sz="819">
                <a:solidFill>
                  <a:srgbClr val="333333"/>
                </a:solidFill>
              </a:defRPr>
            </a:pPr>
            <a:r>
              <a:t>Second, initiate engagement with leading private fusion companies. This could begin with confidential discussions to understand their technology, business plans, and partnership opportunities. Organizations should evaluate potential partners based on technical</a:t>
            </a:r>
          </a:p>
          <a:p>
            <a:pPr>
              <a:spcAft>
                <a:spcPts val="600"/>
              </a:spcAft>
              <a:defRPr sz="819">
                <a:solidFill>
                  <a:srgbClr val="333333"/>
                </a:solidFill>
              </a:defRPr>
            </a:pPr>
            <a:r>
              <a:t>Third, assess internal R&amp;D capabilities and identify areas where the organization can contribute to fusion development. This could include materials science, plasma physics, advanced manufacturing, or tritium handling. Building internal expertise will enhance</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Hype Cycle: Managing Expectations vs. Real Progress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Hype Cycle: Managing Expectations vs. Real Progress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a long history of hype cycles, with periodic announcements of breakthroughs that raise expectations only to be followed by delays and setbacks. The recent surge of private investment and technical achievements has generated renewed excitemen</a:t>
            </a:r>
          </a:p>
          <a:p>
            <a:pPr>
              <a:spcAft>
                <a:spcPts val="600"/>
              </a:spcAft>
              <a:defRPr sz="819">
                <a:solidFill>
                  <a:srgbClr val="333333"/>
                </a:solidFill>
              </a:defRPr>
            </a:pPr>
            <a:r>
              <a:t>To manage expectations, organizations should focus on verifiable milestones rather than promises. Key milestones include achieving net energy gain (Q&gt;1) in a sustained manner, demonstrating tritium breeding, and operating a pilot plant for extended periods. Th</a:t>
            </a:r>
          </a:p>
          <a:p>
            <a:pPr>
              <a:spcAft>
                <a:spcPts val="600"/>
              </a:spcAft>
              <a:defRPr sz="819">
                <a:solidFill>
                  <a:srgbClr val="333333"/>
                </a:solidFill>
              </a:defRPr>
            </a:pPr>
            <a:r>
              <a:t>Despite the hype, the underlying progress in fusion is real. Advances in high-temperature superconductors, plasma modeling, and materials science have brought fusion closer to reality than ever before. The influx of private capital and talent has accelerated i</a:t>
            </a:r>
          </a:p>
        </p:txBody>
      </p:sp>
      <p:pic>
        <p:nvPicPr>
          <p:cNvPr id="7" name="Picture 6" descr="image-9.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Tritium Bottleneck: Why Fuel Supply Is a Critical Risk</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Tritium Bottleneck: Why Fuel Supply Is a Critical Risk</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Tritium is a key fuel for fusion reactors, but it is scarce and difficult to produce. Natural tritium exists only in trace amounts, produced by cosmic rays in the atmosphere. The current supply comes from fission reactors, primarily CANDU reactors in Canada, w</a:t>
            </a:r>
          </a:p>
          <a:p>
            <a:pPr>
              <a:spcAft>
                <a:spcPts val="600"/>
              </a:spcAft>
              <a:defRPr sz="819">
                <a:solidFill>
                  <a:srgbClr val="333333"/>
                </a:solidFill>
              </a:defRPr>
            </a:pPr>
            <a:r>
              <a:t>To address this shortage, fusion reactors must breed their own tritium using a lithium blanket. The blanket captures neutrons from the fusion reaction and converts lithium into tritium. The design of an efficient breeding blanket is a major engineering challen</a:t>
            </a:r>
          </a:p>
          <a:p>
            <a:pPr>
              <a:spcAft>
                <a:spcPts val="600"/>
              </a:spcAft>
              <a:defRPr sz="819">
                <a:solidFill>
                  <a:srgbClr val="333333"/>
                </a:solidFill>
              </a:defRPr>
            </a:pPr>
            <a:r>
              <a:t>The tritium bottleneck has significant implications for fusion deployment. If breeding blankets cannot achieve a TBR &gt; 1, fusion reactors will need an external tritium supply, which may not be available. This could limit the number of reactors that can be buil</a:t>
            </a:r>
          </a:p>
        </p:txBody>
      </p:sp>
      <p:pic>
        <p:nvPicPr>
          <p:cNvPr id="7" name="Picture 6" descr="image-10.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background.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BlueOcean Research Report for Senior Executives and Strategic Planners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