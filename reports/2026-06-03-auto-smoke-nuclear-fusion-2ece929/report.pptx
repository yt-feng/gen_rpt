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Analysis for Senior Executives and Strategic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Feasibility but Commercial Deployment Remains at Least a Decade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Economic Competitiveness of Fusion Will Depend on Achieving Cost Parity with Renewables and Fission</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Strategic Implications Include Potential for Baseload Clean Energy and Reduced Geopolitical Energy Dependencie</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Investment Landscape Is Shifting from Public Megaprojects to Agile Private Ventures with Diverse Approaches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feasibility, with several private ventures targeting commercial demonstration by the early 2030</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commercial implication is that fusion could provide baseload clean energy, potentially disrupting renewables, fission, and fossil f</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Evidence from public sources is limited; key cost and timeline data are unverified or based on projections.</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primary risk is that fusion fails to achieve cost parity with rapidly improving renewables and storage.</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Management should immediately establish a cross-functional fusion monitoring team, engage with leading private ventures for pilot partn</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Feasibility but Commercial Deployment Remains at Least a Decade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Feasibility but Commercial Deployment Remains at Least a Decade Away</a:t>
            </a:r>
          </a:p>
          <a:p>
            <a:pPr>
              <a:defRPr sz="830">
                <a:solidFill>
                  <a:srgbClr val="64696E"/>
                </a:solidFill>
              </a:defRPr>
            </a:pPr>
            <a:r>
              <a:t>The fusion landscape has shifted dramatically in the past five years, with private ventures targeting net-energy gain by 2025–2026, but unresolved technical hurdles and u</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ventures, backed by over $5 billion in investment, are pursuing multiple technical pathways—tokamaks, stellarators, inertial confinement, and novel approaches like field-reversed configurations. Commonwealth Fusion Systems' SPARC project aims to demons</a:t>
            </a:r>
          </a:p>
          <a:p>
            <a:pPr>
              <a:spcAft>
                <a:spcPts val="600"/>
              </a:spcAft>
              <a:defRPr sz="819">
                <a:solidFill>
                  <a:srgbClr val="333333"/>
                </a:solidFill>
              </a:defRPr>
            </a:pPr>
            <a:r>
              <a:t>Key technical hurdles remain unresolved. Plasma confinement at the required temperatures (over 100 million degrees Celsius) and durations (minutes to hours) has not been demonstrated in a sustained, reactor-relevant regime. Materials capable of withstanding in</a:t>
            </a:r>
          </a:p>
          <a:p>
            <a:pPr>
              <a:spcAft>
                <a:spcPts val="600"/>
              </a:spcAft>
              <a:defRPr sz="819">
                <a:solidFill>
                  <a:srgbClr val="333333"/>
                </a:solidFill>
              </a:defRPr>
            </a:pPr>
            <a:r>
              <a:t>Despite these hurdles, the pace of innovation is accelerating. Advances in computational modeling, additive manufacturing, and high-field magnets are compressing development cycles. Several private companies have announced plans for pilot plants by the early 2</a:t>
            </a:r>
          </a:p>
          <a:p>
            <a:pPr>
              <a:spcBef>
                <a:spcPts val="600"/>
              </a:spcBef>
              <a:defRPr sz="819" b="1">
                <a:solidFill>
                  <a:srgbClr val="003087"/>
                </a:solidFill>
              </a:defRPr>
            </a:pPr>
            <a:r>
              <a:t>Key implications</a:t>
            </a:r>
          </a:p>
          <a:p>
            <a:pPr>
              <a:defRPr sz="730">
                <a:solidFill>
                  <a:srgbClr val="333333"/>
                </a:solidFill>
              </a:defRPr>
            </a:pPr>
            <a:r>
              <a:t>- Private fusion ventures are advancing faster than public projects, but timelines remain unverifi</a:t>
            </a:r>
          </a:p>
          <a:p>
            <a:pPr>
              <a:defRPr sz="730">
                <a:solidFill>
                  <a:srgbClr val="333333"/>
                </a:solidFill>
              </a:defRPr>
            </a:pPr>
            <a:r>
              <a:t>- Key technical hurdles (plasma confinement, materials, tritium breeding) could delay commercial o</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Competitiveness of Fusion Will Depend on Achieving Cost Parity with Renewables and Fission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Competitiveness of Fusion Will Depend on Achieving Cost Parity with Renewables and Fission</a:t>
            </a:r>
          </a:p>
          <a:p>
            <a:pPr>
              <a:defRPr sz="830">
                <a:solidFill>
                  <a:srgbClr val="64696E"/>
                </a:solidFill>
              </a:defRPr>
            </a:pPr>
            <a:r>
              <a:t>The levelized cost of fusion energy is highly uncertain, with estimates ranging from $50 to over $200 per MWh, and must compete with rapidly declining solar and wind cost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energy (LCOE) from fusion is highly uncertain, with estimates ranging from $50 to over $200 per MWh. For comparison, solar and wind LCOE have fallen to $20–$60/MWh, and with storage, firm power costs are around $60–$100/MWh. Nuclear fissi</a:t>
            </a:r>
          </a:p>
          <a:p>
            <a:pPr>
              <a:spcAft>
                <a:spcPts val="600"/>
              </a:spcAft>
              <a:defRPr sz="819">
                <a:solidFill>
                  <a:srgbClr val="333333"/>
                </a:solidFill>
              </a:defRPr>
            </a:pPr>
            <a:r>
              <a:t>Financing models for fusion are still nascent. Public-private partnerships, government loan guarantees, and power purchase agreements with utilities could reduce risk premiums. Some ventures are exploring modular designs that could be factory-built and scaled,</a:t>
            </a:r>
          </a:p>
          <a:p>
            <a:pPr>
              <a:spcAft>
                <a:spcPts val="600"/>
              </a:spcAft>
              <a:defRPr sz="819">
                <a:solidFill>
                  <a:srgbClr val="333333"/>
                </a:solidFill>
              </a:defRPr>
            </a:pPr>
            <a:r>
              <a:t>Regulatory and licensing pathways are another source of economic uncertainty. No country has a comprehensive fusion-specific regulatory framework. The U.S. Nuclear Regulatory Commission is developing a risk-informed approach, but timelines are unclear. Lessons</a:t>
            </a:r>
          </a:p>
          <a:p>
            <a:pPr>
              <a:spcBef>
                <a:spcPts val="600"/>
              </a:spcBef>
              <a:defRPr sz="819" b="1">
                <a:solidFill>
                  <a:srgbClr val="003087"/>
                </a:solidFill>
              </a:defRPr>
            </a:pPr>
            <a:r>
              <a:t>Key implications</a:t>
            </a:r>
          </a:p>
          <a:p>
            <a:pPr>
              <a:defRPr sz="730">
                <a:solidFill>
                  <a:srgbClr val="333333"/>
                </a:solidFill>
              </a:defRPr>
            </a:pPr>
            <a:r>
              <a:t>- Fusion must achieve LCOE below $100/MWh to compete with renewables plus storage.</a:t>
            </a:r>
          </a:p>
          <a:p>
            <a:pPr>
              <a:defRPr sz="730">
                <a:solidFill>
                  <a:srgbClr val="333333"/>
                </a:solidFill>
              </a:defRPr>
            </a:pPr>
            <a:r>
              <a:t>- High capital costs and long construction times make fusion vulnerable to financing risks.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Include Potential for Baseload Clean Energy and Reduced Geopolitical Energy Dependencies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Include Potential for Baseload Clean Energy and Reduced Geopolitical Energy Dependencies</a:t>
            </a:r>
          </a:p>
          <a:p>
            <a:pPr>
              <a:defRPr sz="830">
                <a:solidFill>
                  <a:srgbClr val="64696E"/>
                </a:solidFill>
              </a:defRPr>
            </a:pPr>
            <a:r>
              <a:t>Fusion offers virtually unlimited, carbon-free baseload power with minimal fuel cost, but the scale of deployment required to impact climate goals is enormous.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offers the promise of virtually unlimited, carbon-free baseload power with no long-lived radioactive waste and minimal fuel cost. This could transform the global energy mix, displacing coal and natural gas for electricity generation and enabling deep de</a:t>
            </a:r>
          </a:p>
          <a:p>
            <a:pPr>
              <a:spcAft>
                <a:spcPts val="600"/>
              </a:spcAft>
              <a:defRPr sz="819">
                <a:solidFill>
                  <a:srgbClr val="333333"/>
                </a:solidFill>
              </a:defRPr>
            </a:pPr>
            <a:r>
              <a:t>Geopolitically, fusion could reduce dependence on fossil fuel imports and mitigate resource conflicts. Fusion fuel—deuterium from seawater and tritium bred from lithium—is abundant and widely distributed. This contrasts with oil, gas, and uranium, which are co</a:t>
            </a:r>
          </a:p>
          <a:p>
            <a:pPr>
              <a:spcAft>
                <a:spcPts val="600"/>
              </a:spcAft>
              <a:defRPr sz="819">
                <a:solidFill>
                  <a:srgbClr val="333333"/>
                </a:solidFill>
              </a:defRPr>
            </a:pPr>
            <a:r>
              <a:t>Disruption to existing energy industries would be profound. Oil and gas companies face the risk of stranded assets if fusion becomes cost-competitive. Nuclear fission utilities may struggle to compete with fusion's lower fuel costs and waste profile. Renewable</a:t>
            </a:r>
          </a:p>
          <a:p>
            <a:pPr>
              <a:spcBef>
                <a:spcPts val="600"/>
              </a:spcBef>
              <a:defRPr sz="819" b="1">
                <a:solidFill>
                  <a:srgbClr val="003087"/>
                </a:solidFill>
              </a:defRPr>
            </a:pPr>
            <a:r>
              <a:t>Key implications</a:t>
            </a:r>
          </a:p>
          <a:p>
            <a:pPr>
              <a:defRPr sz="730">
                <a:solidFill>
                  <a:srgbClr val="333333"/>
                </a:solidFill>
              </a:defRPr>
            </a:pPr>
            <a:r>
              <a:t>- Fusion could provide baseload clean energy, complementing renewables and reducing storage needs.</a:t>
            </a:r>
          </a:p>
          <a:p>
            <a:pPr>
              <a:defRPr sz="730">
                <a:solidFill>
                  <a:srgbClr val="333333"/>
                </a:solidFill>
              </a:defRPr>
            </a:pPr>
            <a:r>
              <a:t>- Geopolitical benefits include energy independence and reduced fossil fuel dependence.</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Investment Landscape Is Shifting from Public Megaprojects to Agile Private Ventures with Diverse Approaches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Investment Landscape Is Shifting from Public Megaprojects to Agile Private Ventures with Diverse Approaches</a:t>
            </a:r>
          </a:p>
          <a:p>
            <a:pPr>
              <a:defRPr sz="830">
                <a:solidFill>
                  <a:srgbClr val="64696E"/>
                </a:solidFill>
              </a:defRPr>
            </a:pPr>
            <a:r>
              <a:t>Private fusion companies have raised over $5 billion since 2020, with strategic alliances forming between ventures and established energy players.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Public investment in fusion has historically been dominated by ITER, with total costs exceeding $20 billion and contributions from 35 countries. However, budget overruns and delays have led to frustration and calls for alternative approaches. In response, priv</a:t>
            </a:r>
          </a:p>
          <a:p>
            <a:pPr>
              <a:spcAft>
                <a:spcPts val="600"/>
              </a:spcAft>
              <a:defRPr sz="819">
                <a:solidFill>
                  <a:srgbClr val="333333"/>
                </a:solidFill>
              </a:defRPr>
            </a:pPr>
            <a:r>
              <a:t>Strategic alliances are forming between fusion companies and established energy players. For example, Helion has signed a power purchase agreement with Microsoft for electricity from its first commercial plant, planned for 2028. Such agreements provide revenue</a:t>
            </a:r>
          </a:p>
          <a:p>
            <a:pPr>
              <a:spcAft>
                <a:spcPts val="600"/>
              </a:spcAft>
              <a:defRPr sz="819">
                <a:solidFill>
                  <a:srgbClr val="333333"/>
                </a:solidFill>
              </a:defRPr>
            </a:pPr>
            <a:r>
              <a:t>Public funding continues to play a role, with national programs in the U.S., UK, Japan, and China supporting both ITER and domestic initiatives. The U.S. Department of Energy's Fusion Energy Sciences program has a budget of around $1 billion annually, with inc</a:t>
            </a:r>
          </a:p>
          <a:p>
            <a:pPr>
              <a:spcBef>
                <a:spcPts val="600"/>
              </a:spcBef>
              <a:defRPr sz="819" b="1">
                <a:solidFill>
                  <a:srgbClr val="003087"/>
                </a:solidFill>
              </a:defRPr>
            </a:pPr>
            <a:r>
              <a:t>Key implications</a:t>
            </a:r>
          </a:p>
          <a:p>
            <a:pPr>
              <a:defRPr sz="730">
                <a:solidFill>
                  <a:srgbClr val="333333"/>
                </a:solidFill>
              </a:defRPr>
            </a:pPr>
            <a:r>
              <a:t>- Private fusion funding has surged, but public investment remains critical for foundational resea</a:t>
            </a:r>
          </a:p>
          <a:p>
            <a:pPr>
              <a:defRPr sz="730">
                <a:solidFill>
                  <a:srgbClr val="333333"/>
                </a:solidFill>
              </a:defRPr>
            </a:pPr>
            <a:r>
              <a:t>- Strategic alliances with utilities and energy companies provide validation and revenue visibilit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Outlook and Strategic Implications should be separated into verified facts, directional scenarios and open diligence items. That boundary keeps the report from turning market enthusiasm or technical narrative in</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Strategic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