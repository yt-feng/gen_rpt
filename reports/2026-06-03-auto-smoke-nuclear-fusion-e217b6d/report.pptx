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Energy Markets</a:t>
            </a:r>
          </a:p>
          <a:p>
            <a:pPr>
              <a:spcBef>
                <a:spcPts val="1400"/>
              </a:spcBef>
              <a:defRPr sz="950">
                <a:solidFill>
                  <a:srgbClr val="64696E"/>
                </a:solidFill>
              </a:defRPr>
            </a:pPr>
            <a:r>
              <a:t>A CEO-Ready Assessment of Technology, Economics, and Competitive Dynamics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Fusion Commercialization Is Accelerating but Remains a Decade Away from Grid-Scale Deployment</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Tokamak Designs Lead in Maturity, but Alternative Concepts May Offer Faster Paths to Market</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Economic Viability Hinges on Achieving Cost Parity with Renewables and Fission by 2040</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Nuclear Fusion Commercialization: Strategic Outlook and Implications for Energy Markets should be managed as a</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Fusion commercialization is accelerating but remains a decade away from grid-scale deployment.</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Private investment has surpassed public funding for the first time, exceeding $6 billion in 2024, signaling growing commercial confiden</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Key technical challenges—particularly tritium supply and materials durability—remain unresolved.</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The levelized cost of fusion electricity is projected to reach parity with renewables and fission by 2040, but rapid cost declines in 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Regulatory frameworks are nascent, with no harmonized licensing pathways, posing deployment risks.</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Fusion Commercialization Is Accelerating but Remains a Decade Away from Grid-Scale Deployment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Fusion Commercialization Is Accelerating but Remains a Decade Away from Grid-Scale Deployment</a:t>
            </a:r>
          </a:p>
          <a:p>
            <a:pPr>
              <a:defRPr sz="830">
                <a:solidFill>
                  <a:srgbClr val="64696E"/>
                </a:solidFill>
              </a:defRPr>
            </a:pPr>
            <a:r>
              <a:t>Nuclear fusion is no longer a distant dream; private investment has surged, and multiple startups have achieved key plasma milestones, but significant engineering challen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long been described as 30 years away, but that narrative is shifting. Over the past five years, private investment has surged, multiple startups have achieved key plasma milestones, and governments have committed to building demonstration pl</a:t>
            </a:r>
          </a:p>
          <a:p>
            <a:pPr>
              <a:spcAft>
                <a:spcPts val="600"/>
              </a:spcAft>
              <a:defRPr sz="819">
                <a:solidFill>
                  <a:srgbClr val="333333"/>
                </a:solidFill>
              </a:defRPr>
            </a:pPr>
            <a:r>
              <a:t>Current roadmaps from leading companies target net-positive energy by 2030 and grid-connected pilot plants by 2035. However, significant engineering challenges remain, particularly in materials that can withstand extreme neutron fluxes and in tritium breeding</a:t>
            </a:r>
          </a:p>
          <a:p>
            <a:pPr>
              <a:spcAft>
                <a:spcPts val="600"/>
              </a:spcAft>
              <a:defRPr sz="819">
                <a:solidFill>
                  <a:srgbClr val="333333"/>
                </a:solidFill>
              </a:defRPr>
            </a:pPr>
            <a:r>
              <a:t>For leadership teams, this means that fusion is not an immediate threat or opportunity, but it will reshape energy markets within a planning horizon that many companies already use for capital investments. The key is to start positioning now, through targeted</a:t>
            </a:r>
          </a:p>
          <a:p>
            <a:pPr>
              <a:spcBef>
                <a:spcPts val="600"/>
              </a:spcBef>
              <a:defRPr sz="819" b="1">
                <a:solidFill>
                  <a:srgbClr val="003087"/>
                </a:solidFill>
              </a:defRPr>
            </a:pPr>
            <a:r>
              <a:t>Key implications</a:t>
            </a:r>
          </a:p>
          <a:p>
            <a:pPr>
              <a:defRPr sz="730">
                <a:solidFill>
                  <a:srgbClr val="333333"/>
                </a:solidFill>
              </a:defRPr>
            </a:pPr>
            <a:r>
              <a:t>- Fusion is 10–15 years from grid-scale deployment, but the window for strategic positioning is no</a:t>
            </a:r>
          </a:p>
          <a:p>
            <a:pPr>
              <a:defRPr sz="730">
                <a:solidFill>
                  <a:srgbClr val="333333"/>
                </a:solidFill>
              </a:defRPr>
            </a:pPr>
            <a:r>
              <a:t>- Private investment has surpassed public funding, signaling commercial viability.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Tokamak Designs Lead in Maturity, but Alternative Concepts May Offer Faster Paths to Market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Tokamak Designs Lead in Maturity, but Alternative Concepts May Offer Faster Paths to Market</a:t>
            </a:r>
          </a:p>
          <a:p>
            <a:pPr>
              <a:defRPr sz="830">
                <a:solidFill>
                  <a:srgbClr val="64696E"/>
                </a:solidFill>
              </a:defRPr>
            </a:pPr>
            <a:r>
              <a:t>The tokamak is the most mature fusion approach, but alternative concepts like stellarators and inertial confinement could offer faster, cheaper paths to commercialization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tokamak, a doughnut-shaped magnetic confinement device, is the most mature fusion approach, with decades of research and large-scale experiments like ITER and JET. ITER, the international tokamak under construction in France, is designed to produce 500 MW</a:t>
            </a:r>
          </a:p>
          <a:p>
            <a:pPr>
              <a:spcAft>
                <a:spcPts val="600"/>
              </a:spcAft>
              <a:defRPr sz="819">
                <a:solidFill>
                  <a:srgbClr val="333333"/>
                </a:solidFill>
              </a:defRPr>
            </a:pPr>
            <a:r>
              <a:t>Private tokamak projects, such as Commonwealth Fusion Systems' SPARC, aim to demonstrate net-positive energy by 2025 using high-temperature superconducting magnets. These projects benefit from decades of public research and are considered the lowest-risk path</a:t>
            </a:r>
          </a:p>
          <a:p>
            <a:pPr>
              <a:spcAft>
                <a:spcPts val="600"/>
              </a:spcAft>
              <a:defRPr sz="819">
                <a:solidFill>
                  <a:srgbClr val="333333"/>
                </a:solidFill>
              </a:defRPr>
            </a:pPr>
            <a:r>
              <a:t>Stellarators, which use twisted magnetic fields to confine plasma without the need for a large current, offer inherent stability advantages but are more complex to build. The Wendelstein 7-X in Germany has demonstrated excellent plasma confinement, and private</a:t>
            </a:r>
          </a:p>
          <a:p>
            <a:pPr>
              <a:spcBef>
                <a:spcPts val="600"/>
              </a:spcBef>
              <a:defRPr sz="819" b="1">
                <a:solidFill>
                  <a:srgbClr val="003087"/>
                </a:solidFill>
              </a:defRPr>
            </a:pPr>
            <a:r>
              <a:t>Key implications</a:t>
            </a:r>
          </a:p>
          <a:p>
            <a:pPr>
              <a:defRPr sz="730">
                <a:solidFill>
                  <a:srgbClr val="333333"/>
                </a:solidFill>
              </a:defRPr>
            </a:pPr>
            <a:r>
              <a:t>- Tokamaks are the most mature approach, but alternative concepts could offer faster paths to mark</a:t>
            </a:r>
          </a:p>
          <a:p>
            <a:pPr>
              <a:defRPr sz="730">
                <a:solidFill>
                  <a:srgbClr val="333333"/>
                </a:solidFill>
              </a:defRPr>
            </a:pPr>
            <a:r>
              <a:t>- A diversified portfolio across multiple fusion approaches reduces technology risk.</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Economic Viability Hinges on Achieving Cost Parity with Renewables and Fission by 2040</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Economic Viability Hinges on Achieving Cost Parity with Renewables and Fission by 2040</a:t>
            </a:r>
          </a:p>
          <a:p>
            <a:pPr>
              <a:defRPr sz="830">
                <a:solidFill>
                  <a:srgbClr val="64696E"/>
                </a:solidFill>
              </a:defRPr>
            </a:pPr>
            <a:r>
              <a:t>Fusion's economic case depends on achieving cost parity with renewables and fission by 2040, but rapid cost declines in solar and wind could narrow this window, making fu</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levelized cost of electricity (LCOE) from fusion is highly uncertain, with estimates ranging from $50 to $100 per MWh for first-of-a-kind plants, potentially falling to $30–$50 per MWh as the technology matures. For comparison, solar and wind LCOE in many</a:t>
            </a:r>
          </a:p>
          <a:p>
            <a:pPr>
              <a:spcAft>
                <a:spcPts val="600"/>
              </a:spcAft>
              <a:defRPr sz="819">
                <a:solidFill>
                  <a:srgbClr val="333333"/>
                </a:solidFill>
              </a:defRPr>
            </a:pPr>
            <a:r>
              <a:t>Nuclear fission LCOE is typically $100–$150 per MWh for new builds. Fusion's economic case therefore depends on its ability to provide baseload power with high capacity factors, complementing intermittent renewables. In a future grid with high renewable penetr</a:t>
            </a:r>
          </a:p>
          <a:p>
            <a:pPr>
              <a:spcAft>
                <a:spcPts val="600"/>
              </a:spcAft>
              <a:defRPr sz="819">
                <a:solidFill>
                  <a:srgbClr val="333333"/>
                </a:solidFill>
              </a:defRPr>
            </a:pPr>
            <a:r>
              <a:t>Capital expenditure for a first commercial fusion plant is estimated at $5–$10 billion, similar to large fission plants, but learning curves could reduce costs by 10–20% per doubling of installed capacity. The market size for fusion electricity is projected to</a:t>
            </a:r>
          </a:p>
          <a:p>
            <a:pPr>
              <a:spcBef>
                <a:spcPts val="600"/>
              </a:spcBef>
              <a:defRPr sz="819" b="1">
                <a:solidFill>
                  <a:srgbClr val="003087"/>
                </a:solidFill>
              </a:defRPr>
            </a:pPr>
            <a:r>
              <a:t>Key implications</a:t>
            </a:r>
          </a:p>
          <a:p>
            <a:pPr>
              <a:defRPr sz="730">
                <a:solidFill>
                  <a:srgbClr val="333333"/>
                </a:solidFill>
              </a:defRPr>
            </a:pPr>
            <a:r>
              <a:t>- Fusion LCOE could reach $50–$100/MWh by 2040, but solar and wind costs are declining faster.</a:t>
            </a:r>
          </a:p>
          <a:p>
            <a:pPr>
              <a:defRPr sz="730">
                <a:solidFill>
                  <a:srgbClr val="333333"/>
                </a:solidFill>
              </a:defRPr>
            </a:pPr>
            <a:r>
              <a:t>- Fusion's value proposition is more about reliability and grid stability than pure cost.</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Outlook and Implications for Energy Markets should be managed as a staged st</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Outlook and Implications for Energy Markets should be managed as a staged</a:t>
            </a:r>
          </a:p>
          <a:p>
            <a:pPr>
              <a:defRPr sz="830">
                <a:solidFill>
                  <a:srgbClr val="64696E"/>
                </a:solidFill>
              </a:defRPr>
            </a:pPr>
            <a:r>
              <a:t>The CEO question is which moves are safe now and which should wait for stronger evidence.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operating takeaway is that for leadership, Nuclear Fusion Commercialization: Strategic Outlook and Implications for Energy Markets should be separated into verified facts, directional scenarios and open diligence items. That boundary keeps the report from</a:t>
            </a:r>
          </a:p>
          <a:p>
            <a:pPr>
              <a:spcAft>
                <a:spcPts val="600"/>
              </a:spcAft>
              <a:defRPr sz="819">
                <a:solidFill>
                  <a:srgbClr val="333333"/>
                </a:solidFill>
              </a:defRPr>
            </a:pPr>
            <a:r>
              <a:t>From a board perspective, the immediate management question is not whether the opportunity is exciting; it is whether budget, partner access or management attention should be committed now. Low-cost validation can start early, while larger capital commitments</a:t>
            </a:r>
          </a:p>
          <a:p>
            <a:pPr>
              <a:spcAft>
                <a:spcPts val="600"/>
              </a:spcAft>
              <a:defRPr sz="819">
                <a:solidFill>
                  <a:srgbClr val="333333"/>
                </a:solidFill>
              </a:defRPr>
            </a:pPr>
            <a:r>
              <a:t>The current evidence posture is: Public evidence retained in the source backup; additional validation is required for unsupported claims. This makes a quarterly decision cadence more useful than a one-time yes-or-no judgment.</a:t>
            </a:r>
          </a:p>
          <a:p>
            <a:pPr>
              <a:spcBef>
                <a:spcPts val="600"/>
              </a:spcBef>
              <a:defRPr sz="819" b="1">
                <a:solidFill>
                  <a:srgbClr val="003087"/>
                </a:solidFill>
              </a:defRPr>
            </a:pPr>
            <a:r>
              <a:t>Key implications</a:t>
            </a:r>
          </a:p>
          <a:p>
            <a:pPr>
              <a:defRPr sz="730">
                <a:solidFill>
                  <a:srgbClr val="333333"/>
                </a:solidFill>
              </a:defRPr>
            </a:pPr>
            <a:r>
              <a:t>- Start with low-cost validation</a:t>
            </a:r>
          </a:p>
          <a:p>
            <a:pPr>
              <a:defRPr sz="730">
                <a:solidFill>
                  <a:srgbClr val="333333"/>
                </a:solidFill>
              </a:defRPr>
            </a:pPr>
            <a:r>
              <a:t>- Hold major commitments behind evidence gates</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Technical feasibility matters only when it changes customer value, cost position and execution confidence.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From a board perspective, commercial readiness should be judged through customer adoption, cost structure, delivery cycle, service capability and financing availability. A technical milestone alone does not prove bankability or repeat demand.</a:t>
            </a:r>
          </a:p>
          <a:p>
            <a:pPr>
              <a:spcAft>
                <a:spcPts val="600"/>
              </a:spcAft>
              <a:defRPr sz="819">
                <a:solidFill>
                  <a:srgbClr val="333333"/>
                </a:solidFill>
              </a:defRPr>
            </a:pPr>
            <a:r>
              <a:t>The commercial implication is that management should require every major assumption to tie back to a verifiable claim: target customer, buying trigger, budget owner, substitute, use case and payback path. Where public evidence is missing, the report should kee</a:t>
            </a:r>
          </a:p>
          <a:p>
            <a:pPr>
              <a:spcAft>
                <a:spcPts val="600"/>
              </a:spcAft>
              <a:defRPr sz="819">
                <a:solidFill>
                  <a:srgbClr val="333333"/>
                </a:solidFill>
              </a:defRPr>
            </a:pPr>
            <a:r>
              <a:t>A more robust path is to build credible proof through pilots, partner diligence and third-party validation before moving into larger commitments.</a:t>
            </a:r>
          </a:p>
          <a:p>
            <a:pPr>
              <a:spcBef>
                <a:spcPts val="600"/>
              </a:spcBef>
              <a:defRPr sz="819" b="1">
                <a:solidFill>
                  <a:srgbClr val="003087"/>
                </a:solidFill>
              </a:defRPr>
            </a:pPr>
            <a:r>
              <a:t>Key implications</a:t>
            </a:r>
          </a:p>
          <a:p>
            <a:pPr>
              <a:defRPr sz="730">
                <a:solidFill>
                  <a:srgbClr val="333333"/>
                </a:solidFill>
              </a:defRPr>
            </a:pPr>
            <a:r>
              <a:t>- Customer value changes decisions more than technical narrative</a:t>
            </a:r>
          </a:p>
          <a:p>
            <a:pPr>
              <a:defRPr sz="730">
                <a:solidFill>
                  <a:srgbClr val="333333"/>
                </a:solidFill>
              </a:defRPr>
            </a:pPr>
            <a:r>
              <a:t>- Validate bankability and delivery risk first</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commercial implication is that every opportunity eventually returns to cost, revenue, margin, cash flow and timing. If public evidence does not support market size, ROI, unit economics or share, those items should remain validation tasks rather than report</a:t>
            </a:r>
          </a:p>
          <a:p>
            <a:pPr>
              <a:spcAft>
                <a:spcPts val="600"/>
              </a:spcAft>
              <a:defRPr sz="819">
                <a:solidFill>
                  <a:srgbClr val="333333"/>
                </a:solidFill>
              </a:defRPr>
            </a:pPr>
            <a:r>
              <a:t>The board-level question is whether 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A practical reading is that management should identify which capabilities are scarce and can be secured early: critical supply, engineering delivery, channel partners, service network, financing partners and compliance capacity. Low-cost learning rights can be</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CEO-Ready Assessment of Technology, Economics, and Competitive Dynamics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