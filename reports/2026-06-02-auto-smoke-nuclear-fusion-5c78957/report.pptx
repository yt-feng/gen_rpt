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Crossroads for Energy Markets</a:t>
            </a:r>
          </a:p>
          <a:p>
            <a:pPr>
              <a:spcBef>
                <a:spcPts val="1400"/>
              </a:spcBef>
              <a:defRPr sz="950">
                <a:solidFill>
                  <a:srgbClr val="64696E"/>
                </a:solidFill>
              </a:defRPr>
            </a:pPr>
            <a:r>
              <a:t>A Decision-Ready Assessment of Technology, Economics, and Geopolitical Implications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Section 1</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Section 2</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Section 3</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Section 4</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Section 5</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Section 6</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Section 7</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Nuclear Fusion Commercialization: Strategic Crossroads for Energy Markets should be managed as a staged strate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energy is approaching a pivotal inflection point, with multiple projects targeting net energy gain by the early 2030s. H</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evidence base is limited: no verified cost data from operational fusion plants exists, and key technical challenges—such as tritium</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For senior executives, the strategic implication is clear: early engagement through targeted partnerships or venture investments offers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immediate next step is to establish a cross-functional fusion monitoring team to track milestones from leading projects (ITER, SPAR</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Fusion's potential to disrupt energy markets and reshape geopolitical dynamics warrants proactive monitoring and scenario planning, but</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1</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1</a:t>
            </a:r>
          </a:p>
          <a:p>
            <a:pPr>
              <a:defRPr sz="830">
                <a:solidFill>
                  <a:srgbClr val="64696E"/>
                </a:solidFill>
              </a:defRPr>
            </a:pPr>
            <a:r>
              <a:t>This chapter concludes that while fusion technology has achieved net energy gain in the lab, sustained commercial operation is at least 10-15 years away, requiring execut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the process that powers the sun, has long been considered the holy grail of clean energy. In 2022, the National Ignition Facility (NIF) achieved a net energy gain of approximately 1.5 times the input energy, a historic first. However, this was</a:t>
            </a:r>
          </a:p>
          <a:p>
            <a:pPr>
              <a:spcAft>
                <a:spcPts val="600"/>
              </a:spcAft>
              <a:defRPr sz="819">
                <a:solidFill>
                  <a:srgbClr val="333333"/>
                </a:solidFill>
              </a:defRPr>
            </a:pPr>
            <a:r>
              <a:t>Leading projects are pursuing different technical approaches. ITER, the international tokamak under construction in France, aims for first plasma in 2035 and deuterium-tritium operation around 2040. Private ventures like Commonwealth Fusion Systems' SPARC (a c</a:t>
            </a:r>
          </a:p>
          <a:p>
            <a:pPr>
              <a:spcAft>
                <a:spcPts val="600"/>
              </a:spcAft>
              <a:defRPr sz="819">
                <a:solidFill>
                  <a:srgbClr val="333333"/>
                </a:solidFill>
              </a:defRPr>
            </a:pPr>
            <a:r>
              <a:t>Despite progress, critical engineering challenges remain. Plasma confinement and stability require advanced magnetic fields and control systems. Materials must withstand extreme neutron bombardment and heat fluxes. Tritium breeding—producing tritium from lithi</a:t>
            </a:r>
          </a:p>
          <a:p>
            <a:pPr>
              <a:spcBef>
                <a:spcPts val="600"/>
              </a:spcBef>
              <a:defRPr sz="819" b="1">
                <a:solidFill>
                  <a:srgbClr val="003087"/>
                </a:solidFill>
              </a:defRPr>
            </a:pPr>
            <a:r>
              <a:t>Key implications</a:t>
            </a:r>
          </a:p>
          <a:p>
            <a:pPr>
              <a:defRPr sz="730">
                <a:solidFill>
                  <a:srgbClr val="333333"/>
                </a:solidFill>
              </a:defRPr>
            </a:pPr>
            <a:r>
              <a:t>- Fusion has achieved net energy gain in the lab, but sustained operation is not yet demonstrated.</a:t>
            </a:r>
          </a:p>
          <a:p>
            <a:pPr>
              <a:defRPr sz="730">
                <a:solidFill>
                  <a:srgbClr val="333333"/>
                </a:solidFill>
              </a:defRPr>
            </a:pPr>
            <a:r>
              <a:t>- Leading projects target commercial power in the 2030s, but historical delays suggest a 10-15 yea</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2</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2</a:t>
            </a:r>
          </a:p>
          <a:p>
            <a:pPr>
              <a:defRPr sz="830">
                <a:solidFill>
                  <a:srgbClr val="64696E"/>
                </a:solidFill>
              </a:defRPr>
            </a:pPr>
            <a:r>
              <a:t>This chapter concludes that fusion's economic viability is unproven, with modeled LCOE projections ranging from $30 to $100 per MWh, and that it must compete with rapidly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case for fusion rests on its ability to deliver low-carbon baseload power at a cost competitive with other sources. Projected levelized cost of energy (LCOE) for fusion ranges from $30 to $100 per megawatt-hour (MWh), according to various studies.</a:t>
            </a:r>
          </a:p>
          <a:p>
            <a:pPr>
              <a:spcAft>
                <a:spcPts val="600"/>
              </a:spcAft>
              <a:defRPr sz="819">
                <a:solidFill>
                  <a:srgbClr val="333333"/>
                </a:solidFill>
              </a:defRPr>
            </a:pPr>
            <a:r>
              <a:t>Capital expenditure for a fusion plant is estimated at $5-10 billion for a 1 GW facility, comparable to nuclear fission but with higher uncertainty. Operational costs are expected to be lower due to abundant fuel (deuterium from water, lithium for tritium bree</a:t>
            </a:r>
          </a:p>
          <a:p>
            <a:pPr>
              <a:spcAft>
                <a:spcPts val="600"/>
              </a:spcAft>
              <a:defRPr sz="819">
                <a:solidFill>
                  <a:srgbClr val="333333"/>
                </a:solidFill>
              </a:defRPr>
            </a:pPr>
            <a:r>
              <a:t>Regulatory and licensing pathways are another economic uncertainty. No country has a comprehensive licensing framework for fusion power plants. The U.S. Nuclear Regulatory Commission is developing a framework, but it may take years to finalize. Licensing costs</a:t>
            </a:r>
          </a:p>
          <a:p>
            <a:pPr>
              <a:spcBef>
                <a:spcPts val="600"/>
              </a:spcBef>
              <a:defRPr sz="819" b="1">
                <a:solidFill>
                  <a:srgbClr val="003087"/>
                </a:solidFill>
              </a:defRPr>
            </a:pPr>
            <a:r>
              <a:t>Key implications</a:t>
            </a:r>
          </a:p>
          <a:p>
            <a:pPr>
              <a:defRPr sz="730">
                <a:solidFill>
                  <a:srgbClr val="333333"/>
                </a:solidFill>
              </a:defRPr>
            </a:pPr>
            <a:r>
              <a:t>- Fusion LCOE projections ($30-$100/MWh) are modeled, not verified, and face competition from rene</a:t>
            </a:r>
          </a:p>
          <a:p>
            <a:pPr>
              <a:defRPr sz="730">
                <a:solidFill>
                  <a:srgbClr val="333333"/>
                </a:solidFill>
              </a:defRPr>
            </a:pPr>
            <a:r>
              <a:t>- Capital costs ($5-10B/GW) are comparable to fission but with higher uncertainty.</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3</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3</a:t>
            </a:r>
          </a:p>
          <a:p>
            <a:pPr>
              <a:defRPr sz="830">
                <a:solidFill>
                  <a:srgbClr val="64696E"/>
                </a:solidFill>
              </a:defRPr>
            </a:pPr>
            <a:r>
              <a:t>This chapter concludes that fusion could reshape geopolitical dynamics by reducing dependence on fossil fuel imports, but also risks creating new dependencies on technolo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has profound geopolitical implications. The primary fuels—deuterium and lithium—are abundant and widely distributed. Deuterium can be extracted from seawater, and lithium is found in many regions. Successful fusion commercialization would reduce</a:t>
            </a:r>
          </a:p>
          <a:p>
            <a:pPr>
              <a:spcAft>
                <a:spcPts val="600"/>
              </a:spcAft>
              <a:defRPr sz="819">
                <a:solidFill>
                  <a:srgbClr val="333333"/>
                </a:solidFill>
              </a:defRPr>
            </a:pPr>
            <a:r>
              <a:t>Countries investing heavily in fusion, such as China with its CFETR project, could leapfrog Western efforts and gain a strategic advantage. China's state-backed fusion program is well-funded and progressing rapidly. If China achieves commercial fusion before t</a:t>
            </a:r>
          </a:p>
          <a:p>
            <a:pPr>
              <a:spcAft>
                <a:spcPts val="600"/>
              </a:spcAft>
              <a:defRPr sz="819">
                <a:solidFill>
                  <a:srgbClr val="333333"/>
                </a:solidFill>
              </a:defRPr>
            </a:pPr>
            <a:r>
              <a:t>For corporations, fusion offers a long-term hedge against energy price volatility and supply disruptions. Companies with large energy footprints, such as data center operators, industrial manufacturers, and chemical producers, could benefit from stable, low-co</a:t>
            </a:r>
          </a:p>
          <a:p>
            <a:pPr>
              <a:spcBef>
                <a:spcPts val="600"/>
              </a:spcBef>
              <a:defRPr sz="819" b="1">
                <a:solidFill>
                  <a:srgbClr val="003087"/>
                </a:solidFill>
              </a:defRPr>
            </a:pPr>
            <a:r>
              <a:t>Key implications</a:t>
            </a:r>
          </a:p>
          <a:p>
            <a:pPr>
              <a:defRPr sz="730">
                <a:solidFill>
                  <a:srgbClr val="333333"/>
                </a:solidFill>
              </a:defRPr>
            </a:pPr>
            <a:r>
              <a:t>- Fusion could reduce dependence on fossil fuel imports, shifting geopolitical power.</a:t>
            </a:r>
          </a:p>
          <a:p>
            <a:pPr>
              <a:defRPr sz="730">
                <a:solidFill>
                  <a:srgbClr val="333333"/>
                </a:solidFill>
              </a:defRPr>
            </a:pPr>
            <a:r>
              <a:t>- China's rapid progress poses a strategic risk if it achieves fusion before the West.</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4</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4</a:t>
            </a:r>
          </a:p>
          <a:p>
            <a:pPr>
              <a:defRPr sz="830">
                <a:solidFill>
                  <a:srgbClr val="64696E"/>
                </a:solidFill>
              </a:defRPr>
            </a:pPr>
            <a:r>
              <a:t>This chapter concludes that private fusion investment has surged to over $5 billion since 2020, but all ventures remain pre-revenue, requiring disciplined, milestone-base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investment in fusion has grown dramatically, with over $5 billion raised since 2020. Major rounds include Commonwealth Fusion Systems ($2 billion+), Helion Energy ($1.7 billion), and TAE Technologies ($1.2 billion). Investors include venture capital fi</a:t>
            </a:r>
          </a:p>
          <a:p>
            <a:pPr>
              <a:spcAft>
                <a:spcPts val="600"/>
              </a:spcAft>
              <a:defRPr sz="819">
                <a:solidFill>
                  <a:srgbClr val="333333"/>
                </a:solidFill>
              </a:defRPr>
            </a:pPr>
            <a:r>
              <a:t>Despite the funding surge, fusion companies remain pre-revenue and face significant technical and market risks. Valuations are based on future potential, not current earnings. The risk of failure is high, and investors should expect a long wait for returns. Ho</a:t>
            </a:r>
          </a:p>
          <a:p>
            <a:pPr>
              <a:spcAft>
                <a:spcPts val="600"/>
              </a:spcAft>
              <a:defRPr sz="819">
                <a:solidFill>
                  <a:srgbClr val="333333"/>
                </a:solidFill>
              </a:defRPr>
            </a:pPr>
            <a:r>
              <a:t>Corporate strategies vary. Some companies, like Google and Microsoft, have made strategic investments to gain insight and optionality. Others, like Chevron, are investing to hedge against a low-carbon future. Utilities are generally more cautious, waiting for</a:t>
            </a:r>
          </a:p>
          <a:p>
            <a:pPr>
              <a:spcBef>
                <a:spcPts val="600"/>
              </a:spcBef>
              <a:defRPr sz="819" b="1">
                <a:solidFill>
                  <a:srgbClr val="003087"/>
                </a:solidFill>
              </a:defRPr>
            </a:pPr>
            <a:r>
              <a:t>Key implications</a:t>
            </a:r>
          </a:p>
          <a:p>
            <a:pPr>
              <a:defRPr sz="730">
                <a:solidFill>
                  <a:srgbClr val="333333"/>
                </a:solidFill>
              </a:defRPr>
            </a:pPr>
            <a:r>
              <a:t>- Private fusion funding has exceeded $5 billion since 2020, but all ventures are pre-revenue.</a:t>
            </a:r>
          </a:p>
          <a:p>
            <a:pPr>
              <a:defRPr sz="730">
                <a:solidFill>
                  <a:srgbClr val="333333"/>
                </a:solidFill>
              </a:defRPr>
            </a:pPr>
            <a:r>
              <a:t>- Valuations are based on future potential, not current earnings, implying high risk.</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5</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5</a:t>
            </a:r>
          </a:p>
          <a:p>
            <a:pPr>
              <a:defRPr sz="830">
                <a:solidFill>
                  <a:srgbClr val="64696E"/>
                </a:solidFill>
              </a:defRPr>
            </a:pPr>
            <a:r>
              <a:t>This chapter concludes that technical risks—including plasma stability, materials durability, and tritium supply—remain significant and could delay or derail commercializ</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primary technical risk is that fusion may fail to achieve sustained, economically viable plasma conditions. While NIF's 2022 achievement was a milestone, it was a single pulse lasting nanoseconds. Commercial fusion requires continuous or long-pulse operati</a:t>
            </a:r>
          </a:p>
          <a:p>
            <a:pPr>
              <a:spcAft>
                <a:spcPts val="600"/>
              </a:spcAft>
              <a:defRPr sz="819">
                <a:solidFill>
                  <a:srgbClr val="333333"/>
                </a:solidFill>
              </a:defRPr>
            </a:pPr>
            <a:r>
              <a:t>Materials science is another critical risk. The fusion environment produces high-energy neutrons that can damage reactor components, reducing their lifetime. Advanced materials, such as reduced-activation ferritic-martensitic steels and tungsten alloys, are be</a:t>
            </a:r>
          </a:p>
          <a:p>
            <a:pPr>
              <a:spcAft>
                <a:spcPts val="600"/>
              </a:spcAft>
              <a:defRPr sz="819">
                <a:solidFill>
                  <a:srgbClr val="333333"/>
                </a:solidFill>
              </a:defRPr>
            </a:pPr>
            <a:r>
              <a:t>Tritium supply is a potential showstopper. Tritium is radioactive with a 12.3-year half-life and is not naturally abundant. Current supplies come from CANDU reactors, but these are limited. Fusion reactors must breed their own tritium using lithium blankets, b</a:t>
            </a:r>
          </a:p>
          <a:p>
            <a:pPr>
              <a:spcBef>
                <a:spcPts val="600"/>
              </a:spcBef>
              <a:defRPr sz="819" b="1">
                <a:solidFill>
                  <a:srgbClr val="003087"/>
                </a:solidFill>
              </a:defRPr>
            </a:pPr>
            <a:r>
              <a:t>Key implications</a:t>
            </a:r>
          </a:p>
          <a:p>
            <a:pPr>
              <a:defRPr sz="730">
                <a:solidFill>
                  <a:srgbClr val="333333"/>
                </a:solidFill>
              </a:defRPr>
            </a:pPr>
            <a:r>
              <a:t>- Sustained plasma operation remains unproven; instabilities are a key challenge.</a:t>
            </a:r>
          </a:p>
          <a:p>
            <a:pPr>
              <a:defRPr sz="730">
                <a:solidFill>
                  <a:srgbClr val="333333"/>
                </a:solidFill>
              </a:defRPr>
            </a:pPr>
            <a:r>
              <a:t>- Materials must withstand extreme neutron damage; testing is incomplete.</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6</a:t>
            </a:r>
          </a:p>
          <a:p>
            <a:pPr>
              <a:defRPr sz="830">
                <a:solidFill>
                  <a:srgbClr val="64696E"/>
                </a:solidFill>
              </a:defRPr>
            </a:pPr>
            <a:r>
              <a:t>This chapter concludes that immature regulatory frameworks and potential public opposition could add 5-10 years to fusion deployment timelines, requiring proactive engage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regulation is in its infancy. No country has a comprehensive licensing framework for fusion power plants. The U.S. Nuclear Regulatory Commission (NRC) is developing a framework, but it is not expected to be finalized until the late 2020s. The European U</a:t>
            </a:r>
          </a:p>
          <a:p>
            <a:pPr>
              <a:spcAft>
                <a:spcPts val="600"/>
              </a:spcAft>
              <a:defRPr sz="819">
                <a:solidFill>
                  <a:srgbClr val="333333"/>
                </a:solidFill>
              </a:defRPr>
            </a:pPr>
            <a:r>
              <a:t>Public acceptance is another potential barrier. Fusion is often perceived as safe, but concerns about tritium handling, radioactive waste (activated materials), and potential accidents could emerge. Public awareness of fusion is low, and misinformation could s</a:t>
            </a:r>
          </a:p>
          <a:p>
            <a:pPr>
              <a:spcAft>
                <a:spcPts val="600"/>
              </a:spcAft>
              <a:defRPr sz="819">
                <a:solidFill>
                  <a:srgbClr val="333333"/>
                </a:solidFill>
              </a:defRPr>
            </a:pPr>
            <a:r>
              <a:t>The regulatory and public acceptance risks are manageable but require attention. Companies should engage with regulators early to shape efficient frameworks. Investment in public education and transparent safety practices can mitigate opposition. Early-mover m</a:t>
            </a:r>
          </a:p>
          <a:p>
            <a:pPr>
              <a:spcBef>
                <a:spcPts val="600"/>
              </a:spcBef>
              <a:defRPr sz="819" b="1">
                <a:solidFill>
                  <a:srgbClr val="003087"/>
                </a:solidFill>
              </a:defRPr>
            </a:pPr>
            <a:r>
              <a:t>Key implications</a:t>
            </a:r>
          </a:p>
          <a:p>
            <a:pPr>
              <a:defRPr sz="730">
                <a:solidFill>
                  <a:srgbClr val="333333"/>
                </a:solidFill>
              </a:defRPr>
            </a:pPr>
            <a:r>
              <a:t>- No comprehensive fusion licensing framework exists; NRC framework expected late 2020s.</a:t>
            </a:r>
          </a:p>
          <a:p>
            <a:pPr>
              <a:defRPr sz="730">
                <a:solidFill>
                  <a:srgbClr val="333333"/>
                </a:solidFill>
              </a:defRPr>
            </a:pPr>
            <a:r>
              <a:t>- Public acceptance risks include tritium handling and waste concerns.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7</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7</a:t>
            </a:r>
          </a:p>
          <a:p>
            <a:pPr>
              <a:defRPr sz="830">
                <a:solidFill>
                  <a:srgbClr val="64696E"/>
                </a:solidFill>
              </a:defRPr>
            </a:pPr>
            <a:r>
              <a:t>This chapter concludes that fusion faces strong competition from rapidly improving renewables and advanced fission, which may limit its market to niche applications unles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faces strong competition from other low-carbon technologies. Solar and wind power have seen dramatic cost declines, with LCOE below $30 per MWh in many markets. With the addition of battery storage, they are increasingly able to provide dispatchable pow</a:t>
            </a:r>
          </a:p>
          <a:p>
            <a:pPr>
              <a:spcAft>
                <a:spcPts val="600"/>
              </a:spcAft>
              <a:defRPr sz="819">
                <a:solidFill>
                  <a:srgbClr val="333333"/>
                </a:solidFill>
              </a:defRPr>
            </a:pPr>
            <a:r>
              <a:t>Fusion's unique value proposition is its potential for abundant, continuous, low-carbon power with minimal waste and no risk of meltdown. However, this value must be weighed against the cost and timeline advantages of renewables and fission. If fusion's LCOE r</a:t>
            </a:r>
          </a:p>
          <a:p>
            <a:pPr>
              <a:spcAft>
                <a:spcPts val="600"/>
              </a:spcAft>
              <a:defRPr sz="819">
                <a:solidFill>
                  <a:srgbClr val="333333"/>
                </a:solidFill>
              </a:defRPr>
            </a:pPr>
            <a:r>
              <a:t>The competitive landscape is dynamic. Renewables plus storage are becoming more reliable and cost-effective. Advanced fission offers a similar value proposition to fusion but with more mature technology and clearer regulatory pathways. Fusion must demonstrate</a:t>
            </a:r>
          </a:p>
          <a:p>
            <a:pPr>
              <a:spcBef>
                <a:spcPts val="600"/>
              </a:spcBef>
              <a:defRPr sz="819" b="1">
                <a:solidFill>
                  <a:srgbClr val="003087"/>
                </a:solidFill>
              </a:defRPr>
            </a:pPr>
            <a:r>
              <a:t>Key implications</a:t>
            </a:r>
          </a:p>
          <a:p>
            <a:pPr>
              <a:defRPr sz="730">
                <a:solidFill>
                  <a:srgbClr val="333333"/>
                </a:solidFill>
              </a:defRPr>
            </a:pPr>
            <a:r>
              <a:t>- Renewables plus storage are becoming more competitive, with LCOE below $30/MWh.</a:t>
            </a:r>
          </a:p>
          <a:p>
            <a:pPr>
              <a:defRPr sz="730">
                <a:solidFill>
                  <a:srgbClr val="333333"/>
                </a:solidFill>
              </a:defRPr>
            </a:pPr>
            <a:r>
              <a:t>- Advanced fission (SMRs) offers a similar value proposition with more mature technology.</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Crossroads for Energy Markets should be managed as a staged strategic 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Crossroads for Energy Markets should be managed as a staged strategic opti</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Crossroads for Energy Markets should be separated into verified facts, directional scenarios and open diligence items. That boundary keeps the report from turning market enthusiasm or technical narrat</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of Technology, Economics, and Geopolitical Implications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