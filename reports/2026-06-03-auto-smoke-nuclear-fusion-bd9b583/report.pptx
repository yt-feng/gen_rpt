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Outlook and Investment Implications</a:t>
            </a:r>
          </a:p>
          <a:p>
            <a:pPr>
              <a:spcBef>
                <a:spcPts val="1400"/>
              </a:spcBef>
              <a:defRPr sz="950">
                <a:solidFill>
                  <a:srgbClr val="64696E"/>
                </a:solidFill>
              </a:defRPr>
            </a:pPr>
            <a:r>
              <a:t>A Decision-Ready Analysis for Senior Executives and Policy Advisors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Accelerating but Still Faces Decade-Long Hurdles</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Technological Breakthroughs Are Narrowing the Gap to Net-Positive Energy</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Economic Viability Remains Uncertain with High Capital Costs and Unvalidated LCOE</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Nuclear Fusion Commercialization: Strategic Outlook and Investment Implications should be managed as a staged</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Supply chain, partners and talent will decide who can act before the market is obvious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commercialization is accelerating but remains a decade or more from grid-scale deployment. Private investment surged to a record</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Where the evidence pack does not support a number, the right output is a validation placeholder and diligence task rather than an inven</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near-term agenda should prioritize no-regret evidence building, medium-term strategic options and long-term commitments only after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Accelerating but Still Faces Decade-Long Hurdles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Accelerating but Still Faces Decade-Long Hurdles</a:t>
            </a:r>
          </a:p>
          <a:p>
            <a:pPr>
              <a:defRPr sz="830">
                <a:solidFill>
                  <a:srgbClr val="64696E"/>
                </a:solidFill>
              </a:defRPr>
            </a:pPr>
            <a:r>
              <a:t>This chapter concludes that fusion energy is attracting record investment but remains at least a decade from commercial deployment, requiring risk-adjusted capital alloca</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energy landscape has shifted dramatically in the past five years. Private investment has surged, with cumulative funding exceeding $6 billion and a record $3 billion in 2024 alone. This influx of capital has enabled a wave of startups to pursue dive</a:t>
            </a:r>
          </a:p>
          <a:p>
            <a:pPr>
              <a:spcAft>
                <a:spcPts val="600"/>
              </a:spcAft>
              <a:defRPr sz="819">
                <a:solidFill>
                  <a:srgbClr val="333333"/>
                </a:solidFill>
              </a:defRPr>
            </a:pPr>
            <a:r>
              <a:t>Private ventures like Commonwealth Fusion Systems and TAE Technologies have announced ambitious timelines for net-positive energy by the early 2030s, but these projections remain unvalidated by independent third parties. The gap between funding and technical a</a:t>
            </a:r>
          </a:p>
          <a:p>
            <a:pPr>
              <a:spcAft>
                <a:spcPts val="600"/>
              </a:spcAft>
              <a:defRPr sz="819">
                <a:solidFill>
                  <a:srgbClr val="333333"/>
                </a:solidFill>
              </a:defRPr>
            </a:pPr>
            <a:r>
              <a:t>For CEOs, the key commercial implication is that fusion is not yet a near-term solution for energy needs. The record investment signals strong market confidence, but the lack of demonstrated net-positive energy means that any investment must be treated as high</a:t>
            </a:r>
          </a:p>
          <a:p>
            <a:pPr>
              <a:spcBef>
                <a:spcPts val="600"/>
              </a:spcBef>
              <a:defRPr sz="819" b="1">
                <a:solidFill>
                  <a:srgbClr val="003087"/>
                </a:solidFill>
              </a:defRPr>
            </a:pPr>
            <a:r>
              <a:t>Key implications</a:t>
            </a:r>
          </a:p>
          <a:p>
            <a:pPr>
              <a:defRPr sz="730">
                <a:solidFill>
                  <a:srgbClr val="333333"/>
                </a:solidFill>
              </a:defRPr>
            </a:pPr>
            <a:r>
              <a:t>- Private fusion investment reached $3 billion in 2024, cumulative $6 billion.</a:t>
            </a:r>
          </a:p>
          <a:p>
            <a:pPr>
              <a:defRPr sz="730">
                <a:solidFill>
                  <a:srgbClr val="333333"/>
                </a:solidFill>
              </a:defRPr>
            </a:pPr>
            <a:r>
              <a:t>- No fusion reactor has yet demonstrated net-positive energy.</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Technological Breakthroughs Are Narrowing the Gap to Net-Positive Energy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Technological Breakthroughs Are Narrowing the Gap to Net-Positive Energy</a:t>
            </a:r>
          </a:p>
          <a:p>
            <a:pPr>
              <a:defRPr sz="830">
                <a:solidFill>
                  <a:srgbClr val="64696E"/>
                </a:solidFill>
              </a:defRPr>
            </a:pPr>
            <a:r>
              <a:t>This chapter concludes that while high-temperature superconductors and other advances are promising, unresolved engineering challenges—especially tritium breeding—pose si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Recent advances in high-temperature superconductors (HTS) have been a game-changer for magnetic confinement fusion. HTS magnets can generate stronger magnetic fields in smaller devices, potentially reducing the size and cost of fusion reactors. Companies like</a:t>
            </a:r>
          </a:p>
          <a:p>
            <a:pPr>
              <a:spcAft>
                <a:spcPts val="600"/>
              </a:spcAft>
              <a:defRPr sz="819">
                <a:solidFill>
                  <a:srgbClr val="333333"/>
                </a:solidFill>
              </a:defRPr>
            </a:pPr>
            <a:r>
              <a:t>no existing material can withstand the intense radiation inside a commercial fusion reactor for extended periods. Tritium breeding is perhaps the most underappreciated bottleneck. Deuterium-tritium (D-T) fusion requires tritium, a radioactive isotope of hydrog</a:t>
            </a:r>
          </a:p>
          <a:p>
            <a:pPr>
              <a:spcAft>
                <a:spcPts val="600"/>
              </a:spcAft>
              <a:defRPr sz="819">
                <a:solidFill>
                  <a:srgbClr val="333333"/>
                </a:solidFill>
              </a:defRPr>
            </a:pPr>
            <a:r>
              <a:t>For CEOs, the commercial implication is that tritium supply is a potential showstopper for fusion commercialization. Any investment in D-T fusion must include a credible plan for tritium breeding or alternative fuel cycles. The management implication is to pri</a:t>
            </a:r>
          </a:p>
          <a:p>
            <a:pPr>
              <a:spcBef>
                <a:spcPts val="600"/>
              </a:spcBef>
              <a:defRPr sz="819" b="1">
                <a:solidFill>
                  <a:srgbClr val="003087"/>
                </a:solidFill>
              </a:defRPr>
            </a:pPr>
            <a:r>
              <a:t>Key implications</a:t>
            </a:r>
          </a:p>
          <a:p>
            <a:pPr>
              <a:defRPr sz="730">
                <a:solidFill>
                  <a:srgbClr val="333333"/>
                </a:solidFill>
              </a:defRPr>
            </a:pPr>
            <a:r>
              <a:t>- HTS magnets enable smaller, cheaper reactors.</a:t>
            </a:r>
          </a:p>
          <a:p>
            <a:pPr>
              <a:defRPr sz="730">
                <a:solidFill>
                  <a:srgbClr val="333333"/>
                </a:solidFill>
              </a:defRPr>
            </a:pPr>
            <a:r>
              <a:t>- Plasma confinement, materials degradation, and tritium breeding remain unresolved.</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Economic Viability Remains Uncertain with High Capital Costs and Unvalidated LCOE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Economic Viability Remains Uncertain with High Capital Costs and Unvalidated LCOE</a:t>
            </a:r>
          </a:p>
          <a:p>
            <a:pPr>
              <a:defRPr sz="830">
                <a:solidFill>
                  <a:srgbClr val="64696E"/>
                </a:solidFill>
              </a:defRPr>
            </a:pPr>
            <a:r>
              <a:t>This chapter concludes that fusion's economic viability is unproven, with high capital costs and uncertain levelized cost of energy, making it a high-risk investment comp</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levelized cost of energy (LCOE) for fusion is highly uncertain, with projections ranging from $50 to $100 per MWh by 2050, depending on assumptions about capital costs, operational efficiency, and plant lifespan. For comparison, solar and wind LCOE have al</a:t>
            </a:r>
          </a:p>
          <a:p>
            <a:pPr>
              <a:spcAft>
                <a:spcPts val="600"/>
              </a:spcAft>
              <a:defRPr sz="819">
                <a:solidFill>
                  <a:srgbClr val="333333"/>
                </a:solidFill>
              </a:defRPr>
            </a:pPr>
            <a:r>
              <a:t>Financing models are evolving, with a mix of venture capital, government grants, and strategic corporate investments. However, no fusion project has yet reached the stage where traditional project finance is applicable. The evidence boundary for this section i</a:t>
            </a:r>
          </a:p>
          <a:p>
            <a:pPr>
              <a:spcAft>
                <a:spcPts val="600"/>
              </a:spcAft>
              <a:defRPr sz="819">
                <a:solidFill>
                  <a:srgbClr val="333333"/>
                </a:solidFill>
              </a:defRPr>
            </a:pPr>
            <a:r>
              <a:t>For CEOs, the commercial implication is that fusion is unlikely to compete with renewables on cost in the near to medium term. The high capital costs and uncertain operational expenses mean that fusion will require significant subsidies or carbon pricing to be</a:t>
            </a:r>
          </a:p>
          <a:p>
            <a:pPr>
              <a:spcBef>
                <a:spcPts val="600"/>
              </a:spcBef>
              <a:defRPr sz="819" b="1">
                <a:solidFill>
                  <a:srgbClr val="003087"/>
                </a:solidFill>
              </a:defRPr>
            </a:pPr>
            <a:r>
              <a:t>Key implications</a:t>
            </a:r>
          </a:p>
          <a:p>
            <a:pPr>
              <a:defRPr sz="730">
                <a:solidFill>
                  <a:srgbClr val="333333"/>
                </a:solidFill>
              </a:defRPr>
            </a:pPr>
            <a:r>
              <a:t>- Fusion LCOE projections range from $50 to $100 per MWh by 2050.</a:t>
            </a:r>
          </a:p>
          <a:p>
            <a:pPr>
              <a:defRPr sz="730">
                <a:solidFill>
                  <a:srgbClr val="333333"/>
                </a:solidFill>
              </a:defRPr>
            </a:pPr>
            <a:r>
              <a:t>- Solar and wind LCOE already below $30 per MWh.</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Outlook and Investment Implications should be managed as a staged strategic</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Outlook and Investment Implications should be managed as a staged strategi</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Nuclear Fusion Commercialization: Strategic Outlook and Investment Implications should be separated into verified facts, directional scenarios and open diligence items. That boundary keeps the report from turning market enthusiasm or technical</a:t>
            </a:r>
          </a:p>
          <a:p>
            <a:pPr>
              <a:spcAft>
                <a:spcPts val="600"/>
              </a:spcAft>
              <a:defRPr sz="819">
                <a:solidFill>
                  <a:srgbClr val="333333"/>
                </a:solidFill>
              </a:defRPr>
            </a:pPr>
            <a:r>
              <a:t>The immediate management question is not whether the opportunity is exciting; it is whether budget, partner access or management attention should be committed now. Low-cost validation can start early, while larger capital commitments should wait for customer,</a:t>
            </a:r>
          </a:p>
          <a:p>
            <a:pPr>
              <a:spcAft>
                <a:spcPts val="600"/>
              </a:spcAft>
              <a:defRPr sz="819">
                <a:solidFill>
                  <a:srgbClr val="333333"/>
                </a:solidFill>
              </a:defRPr>
            </a:pPr>
            <a:r>
              <a:t>The current evidence posture is: Public evidence retained in the source backup; additional validation is required for unsupported claims. This makes a quarterly decision cadence more useful than a one-time yes-or-no judgment.</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Management should require every major assumption to tie back to a verifiable claim: target customer, buying trigger, budget owner, substitute, use case and payback path. Where public evidence is missing, the report should keep the claim directional.</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Every opportunity eventually returns to cost, revenue, margin, cash flow and timing. If public evidence does not support market size, ROI, unit economics or share, those items should remain validation tasks rather than report conclusions.</a:t>
            </a:r>
          </a:p>
          <a:p>
            <a:pPr>
              <a:spcAft>
                <a:spcPts val="600"/>
              </a:spcAft>
              <a:defRPr sz="819">
                <a:solidFill>
                  <a:srgbClr val="333333"/>
                </a:solidFill>
              </a:defRPr>
            </a:pPr>
            <a:r>
              <a:t>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gates</a:t>
            </a:r>
          </a:p>
          <a:p>
            <a:pPr>
              <a:defRPr sz="730">
                <a:solidFill>
                  <a:srgbClr val="333333"/>
                </a:solidFill>
              </a:defRPr>
            </a:pPr>
            <a:r>
              <a:t>- Use options while regulation remains unclear</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Supply chain, partners and talent will decide who can act before the market is obvious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Supply chain, partners and talent will decide who can act before the market is obvious</a:t>
            </a:r>
          </a:p>
          <a:p>
            <a:pPr>
              <a:defRPr sz="830">
                <a:solidFill>
                  <a:srgbClr val="64696E"/>
                </a:solidFill>
              </a:defRPr>
            </a:pPr>
            <a:r>
              <a:t>Strategic advantage comes from ecosystem position rather than standalone product capability.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 uncertain markets, early advantage often comes from supply access, partner entry, talent pools and customer learning rather than a single technology claim.</a:t>
            </a:r>
          </a:p>
          <a:p>
            <a:pPr>
              <a:spcAft>
                <a:spcPts val="600"/>
              </a:spcAft>
              <a:defRPr sz="819">
                <a:solidFill>
                  <a:srgbClr val="333333"/>
                </a:solidFill>
              </a:defRPr>
            </a:pPr>
            <a:r>
              <a:t>Management should identify which capabilities are scarce and can be secured early: critical supply, engineering delivery, channel partners, service network, financing partners and compliance capacity. Low-cost learning rights can be more valuable than waiting</a:t>
            </a:r>
          </a:p>
          <a:p>
            <a:pPr>
              <a:spcAft>
                <a:spcPts val="600"/>
              </a:spcAft>
              <a:defRPr sz="819">
                <a:solidFill>
                  <a:srgbClr val="333333"/>
                </a:solidFill>
              </a:defRPr>
            </a:pPr>
            <a:r>
              <a:t>Partnerships should create observable proof points. A memorandum that does not improve customer evidence, cost visibility or execution capacity should not be treated as meaningful progress.</a:t>
            </a:r>
          </a:p>
          <a:p>
            <a:pPr>
              <a:spcBef>
                <a:spcPts val="600"/>
              </a:spcBef>
              <a:defRPr sz="819" b="1">
                <a:solidFill>
                  <a:srgbClr val="003087"/>
                </a:solidFill>
              </a:defRPr>
            </a:pPr>
            <a:r>
              <a:t>Key implications</a:t>
            </a:r>
          </a:p>
          <a:p>
            <a:pPr>
              <a:defRPr sz="730">
                <a:solidFill>
                  <a:srgbClr val="333333"/>
                </a:solidFill>
              </a:defRPr>
            </a:pPr>
            <a:r>
              <a:t>- Secure scarce capabilities early</a:t>
            </a:r>
          </a:p>
          <a:p>
            <a:pPr>
              <a:defRPr sz="730">
                <a:solidFill>
                  <a:srgbClr val="333333"/>
                </a:solidFill>
              </a:defRPr>
            </a:pPr>
            <a:r>
              <a:t>- Partnerships must produce proof points</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Analysis for Senior Executives and Policy Advisors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