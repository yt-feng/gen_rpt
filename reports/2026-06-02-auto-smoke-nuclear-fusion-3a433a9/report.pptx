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ai.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Nuclear Fusion Commercialization: Strategic Implications for Energy Markets and Investment</a:t>
            </a:r>
          </a:p>
          <a:p>
            <a:pPr>
              <a:spcBef>
                <a:spcPts val="1400"/>
              </a:spcBef>
              <a:defRPr sz="950">
                <a:solidFill>
                  <a:srgbClr val="64696E"/>
                </a:solidFill>
              </a:defRPr>
            </a:pPr>
            <a:r>
              <a:t>A Decision-Ready Analysis for Senior Executives and Investors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Nuclear Fusion Is Approaching Technical Feasibility but Commercialization Remains a Decade Away</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Private Investment Is Accelerating Fusion Development Beyond Government-Led Projects</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Fusion's Economic Competitiveness Hinges on Overcoming Engineering and Cost Hurdles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Nuclear fusion is approaching technical feasibility, but commercialization remains a decade away. Private investment has surged past $6</a:t>
            </a:r>
          </a:p>
        </p:txBody>
      </p:sp>
      <p:sp>
        <p:nvSpPr>
          <p:cNvPr id="10" name="Rectangle 9"/>
          <p:cNvSpPr/>
          <p:nvPr/>
        </p:nvSpPr>
        <p:spPr>
          <a:xfrm>
            <a:off x="6163056"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481328"/>
            <a:ext cx="438912" cy="201168"/>
          </a:xfrm>
          <a:prstGeom prst="rect">
            <a:avLst/>
          </a:prstGeom>
          <a:noFill/>
        </p:spPr>
        <p:txBody>
          <a:bodyPr wrap="none">
            <a:spAutoFit/>
          </a:bodyPr>
          <a:lstStyle/>
          <a:p>
            <a:pPr>
              <a:defRPr sz="900" b="1">
                <a:solidFill>
                  <a:srgbClr val="003087"/>
                </a:solidFill>
              </a:defRPr>
            </a:pPr>
            <a:r>
              <a:t>02</a:t>
            </a:r>
          </a:p>
        </p:txBody>
      </p:sp>
      <p:sp>
        <p:nvSpPr>
          <p:cNvPr id="13" name="TextBox 12"/>
          <p:cNvSpPr txBox="1"/>
          <p:nvPr/>
        </p:nvSpPr>
        <p:spPr>
          <a:xfrm>
            <a:off x="6803136" y="1499616"/>
            <a:ext cx="4590288" cy="704088"/>
          </a:xfrm>
          <a:prstGeom prst="rect">
            <a:avLst/>
          </a:prstGeom>
          <a:noFill/>
        </p:spPr>
        <p:txBody>
          <a:bodyPr wrap="square">
            <a:spAutoFit/>
          </a:bodyPr>
          <a:lstStyle/>
          <a:p>
            <a:pPr>
              <a:defRPr sz="770">
                <a:solidFill>
                  <a:srgbClr val="333333"/>
                </a:solidFill>
              </a:defRPr>
            </a:pPr>
            <a:r>
              <a:t>The CEO-level question is not whether Nuclear fusion commercialization outlook and strategic implications is interesting, but which dec</a:t>
            </a:r>
          </a:p>
        </p:txBody>
      </p:sp>
      <p:sp>
        <p:nvSpPr>
          <p:cNvPr id="14" name="Rectangle 13"/>
          <p:cNvSpPr/>
          <p:nvPr/>
        </p:nvSpPr>
        <p:spPr>
          <a:xfrm>
            <a:off x="566928"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496312"/>
            <a:ext cx="438912" cy="201168"/>
          </a:xfrm>
          <a:prstGeom prst="rect">
            <a:avLst/>
          </a:prstGeom>
          <a:noFill/>
        </p:spPr>
        <p:txBody>
          <a:bodyPr wrap="none">
            <a:spAutoFit/>
          </a:bodyPr>
          <a:lstStyle/>
          <a:p>
            <a:pPr>
              <a:defRPr sz="900" b="1">
                <a:solidFill>
                  <a:srgbClr val="003087"/>
                </a:solidFill>
              </a:defRPr>
            </a:pPr>
            <a:r>
              <a:t>03</a:t>
            </a:r>
          </a:p>
        </p:txBody>
      </p:sp>
      <p:sp>
        <p:nvSpPr>
          <p:cNvPr id="17" name="TextBox 16"/>
          <p:cNvSpPr txBox="1"/>
          <p:nvPr/>
        </p:nvSpPr>
        <p:spPr>
          <a:xfrm>
            <a:off x="1207008" y="2514600"/>
            <a:ext cx="4590288" cy="704088"/>
          </a:xfrm>
          <a:prstGeom prst="rect">
            <a:avLst/>
          </a:prstGeom>
          <a:noFill/>
        </p:spPr>
        <p:txBody>
          <a:bodyPr wrap="square">
            <a:spAutoFit/>
          </a:bodyPr>
          <a:lstStyle/>
          <a:p>
            <a:pPr>
              <a:defRPr sz="770">
                <a:solidFill>
                  <a:srgbClr val="333333"/>
                </a:solidFill>
              </a:defRPr>
            </a:pPr>
            <a:r>
              <a:t>Management should separate verified facts, directional scenarios and missing diligence items before committing capital, partnerships or</a:t>
            </a:r>
          </a:p>
        </p:txBody>
      </p:sp>
      <p:sp>
        <p:nvSpPr>
          <p:cNvPr id="18" name="Rectangle 17"/>
          <p:cNvSpPr/>
          <p:nvPr/>
        </p:nvSpPr>
        <p:spPr>
          <a:xfrm>
            <a:off x="6163056"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3056"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496312"/>
            <a:ext cx="438912" cy="201168"/>
          </a:xfrm>
          <a:prstGeom prst="rect">
            <a:avLst/>
          </a:prstGeom>
          <a:noFill/>
        </p:spPr>
        <p:txBody>
          <a:bodyPr wrap="none">
            <a:spAutoFit/>
          </a:bodyPr>
          <a:lstStyle/>
          <a:p>
            <a:pPr>
              <a:defRPr sz="900" b="1">
                <a:solidFill>
                  <a:srgbClr val="003087"/>
                </a:solidFill>
              </a:defRPr>
            </a:pPr>
            <a:r>
              <a:t>04</a:t>
            </a:r>
          </a:p>
        </p:txBody>
      </p:sp>
      <p:sp>
        <p:nvSpPr>
          <p:cNvPr id="21" name="TextBox 20"/>
          <p:cNvSpPr txBox="1"/>
          <p:nvPr/>
        </p:nvSpPr>
        <p:spPr>
          <a:xfrm>
            <a:off x="6803136" y="2514600"/>
            <a:ext cx="4590288" cy="704088"/>
          </a:xfrm>
          <a:prstGeom prst="rect">
            <a:avLst/>
          </a:prstGeom>
          <a:noFill/>
        </p:spPr>
        <p:txBody>
          <a:bodyPr wrap="square">
            <a:spAutoFit/>
          </a:bodyPr>
          <a:lstStyle/>
          <a:p>
            <a:pPr>
              <a:defRPr sz="770">
                <a:solidFill>
                  <a:srgbClr val="333333"/>
                </a:solidFill>
              </a:defRPr>
            </a:pPr>
            <a:r>
              <a:t>The report should translate technical evidence into revenue potential, cost position, investment return, execution risk and decision ga</a:t>
            </a:r>
          </a:p>
        </p:txBody>
      </p:sp>
      <p:sp>
        <p:nvSpPr>
          <p:cNvPr id="22" name="Rectangle 21"/>
          <p:cNvSpPr/>
          <p:nvPr/>
        </p:nvSpPr>
        <p:spPr>
          <a:xfrm>
            <a:off x="566928"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3511296"/>
            <a:ext cx="438912" cy="201168"/>
          </a:xfrm>
          <a:prstGeom prst="rect">
            <a:avLst/>
          </a:prstGeom>
          <a:noFill/>
        </p:spPr>
        <p:txBody>
          <a:bodyPr wrap="none">
            <a:spAutoFit/>
          </a:bodyPr>
          <a:lstStyle/>
          <a:p>
            <a:pPr>
              <a:defRPr sz="900" b="1">
                <a:solidFill>
                  <a:srgbClr val="003087"/>
                </a:solidFill>
              </a:defRPr>
            </a:pPr>
            <a:r>
              <a:t>05</a:t>
            </a:r>
          </a:p>
        </p:txBody>
      </p:sp>
      <p:sp>
        <p:nvSpPr>
          <p:cNvPr id="25" name="TextBox 24"/>
          <p:cNvSpPr txBox="1"/>
          <p:nvPr/>
        </p:nvSpPr>
        <p:spPr>
          <a:xfrm>
            <a:off x="1207008" y="3529584"/>
            <a:ext cx="4590288" cy="704088"/>
          </a:xfrm>
          <a:prstGeom prst="rect">
            <a:avLst/>
          </a:prstGeom>
          <a:noFill/>
        </p:spPr>
        <p:txBody>
          <a:bodyPr wrap="square">
            <a:spAutoFit/>
          </a:bodyPr>
          <a:lstStyle/>
          <a:p>
            <a:pPr>
              <a:defRPr sz="770">
                <a:solidFill>
                  <a:srgbClr val="333333"/>
                </a:solidFill>
              </a:defRPr>
            </a:pPr>
            <a:r>
              <a:t>Where the evidence pack does not support a number, the right output is a validation placeholder and diligence task rather than an inven</a:t>
            </a:r>
          </a:p>
        </p:txBody>
      </p:sp>
      <p:sp>
        <p:nvSpPr>
          <p:cNvPr id="26" name="Rectangle 25"/>
          <p:cNvSpPr/>
          <p:nvPr/>
        </p:nvSpPr>
        <p:spPr>
          <a:xfrm>
            <a:off x="6163056"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63056"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511296"/>
            <a:ext cx="438912" cy="201168"/>
          </a:xfrm>
          <a:prstGeom prst="rect">
            <a:avLst/>
          </a:prstGeom>
          <a:noFill/>
        </p:spPr>
        <p:txBody>
          <a:bodyPr wrap="none">
            <a:spAutoFit/>
          </a:bodyPr>
          <a:lstStyle/>
          <a:p>
            <a:pPr>
              <a:defRPr sz="900" b="1">
                <a:solidFill>
                  <a:srgbClr val="003087"/>
                </a:solidFill>
              </a:defRPr>
            </a:pPr>
            <a:r>
              <a:t>06</a:t>
            </a:r>
          </a:p>
        </p:txBody>
      </p:sp>
      <p:sp>
        <p:nvSpPr>
          <p:cNvPr id="29" name="TextBox 28"/>
          <p:cNvSpPr txBox="1"/>
          <p:nvPr/>
        </p:nvSpPr>
        <p:spPr>
          <a:xfrm>
            <a:off x="6803136" y="3529584"/>
            <a:ext cx="4590288" cy="704088"/>
          </a:xfrm>
          <a:prstGeom prst="rect">
            <a:avLst/>
          </a:prstGeom>
          <a:noFill/>
        </p:spPr>
        <p:txBody>
          <a:bodyPr wrap="square">
            <a:spAutoFit/>
          </a:bodyPr>
          <a:lstStyle/>
          <a:p>
            <a:pPr>
              <a:defRPr sz="770">
                <a:solidFill>
                  <a:srgbClr val="333333"/>
                </a:solidFill>
              </a:defRPr>
            </a:pPr>
            <a:r>
              <a:t>The near-term agenda should prioritize no-regret evidence building, medium-term strategic options and long-term commitments only after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Nuclear Fusion Is Approaching Technical Feasibility but Commercialization Remains a Decade Away</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Nuclear Fusion Is Approaching Technical Feasibility but Commercialization Remains a Decade Away</a:t>
            </a:r>
          </a:p>
          <a:p>
            <a:pPr>
              <a:defRPr sz="830">
                <a:solidFill>
                  <a:srgbClr val="64696E"/>
                </a:solidFill>
              </a:defRPr>
            </a:pPr>
            <a:r>
              <a:t>This chapter concludes that fusion technology is advancing but still faces significant engineering hurdles, meaning executives should treat near-term timelines as aspirat</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Nuclear fusion has long been considered the holy grail of energy—a virtually limitless, clean, and safe power source. In recent years, significant progress has been made in both magnetic confinement (tokamaks and stellarators) and inertial confinement approach</a:t>
            </a:r>
          </a:p>
          <a:p>
            <a:pPr>
              <a:spcAft>
                <a:spcPts val="600"/>
              </a:spcAft>
              <a:defRPr sz="819">
                <a:solidFill>
                  <a:srgbClr val="333333"/>
                </a:solidFill>
              </a:defRPr>
            </a:pPr>
            <a:r>
              <a:t>Meanwhile, alternative approaches such as magnetized target fusion (General Fusion) and electrostatic confinement (TAE Technologies) offer different trade-offs in complexity and cost.</a:t>
            </a:r>
          </a:p>
          <a:p>
            <a:pPr>
              <a:spcAft>
                <a:spcPts val="600"/>
              </a:spcAft>
              <a:defRPr sz="819">
                <a:solidFill>
                  <a:srgbClr val="333333"/>
                </a:solidFill>
              </a:defRPr>
            </a:pPr>
            <a:r>
              <a:t>Despite these advances, key physics and engineering challenges remain. Sustaining a stable plasma for long durations, managing extreme heat fluxes, and developing materials that can withstand neutron bombardment are all unsolved problems. The transition from e</a:t>
            </a:r>
          </a:p>
          <a:p>
            <a:pPr>
              <a:spcBef>
                <a:spcPts val="600"/>
              </a:spcBef>
              <a:defRPr sz="819" b="1">
                <a:solidFill>
                  <a:srgbClr val="003087"/>
                </a:solidFill>
              </a:defRPr>
            </a:pPr>
            <a:r>
              <a:t>Key implications</a:t>
            </a:r>
          </a:p>
          <a:p>
            <a:pPr>
              <a:defRPr sz="730">
                <a:solidFill>
                  <a:srgbClr val="333333"/>
                </a:solidFill>
              </a:defRPr>
            </a:pPr>
            <a:r>
              <a:t>- Fusion technology is advancing but remains unproven at commercial scale.</a:t>
            </a:r>
          </a:p>
          <a:p>
            <a:pPr>
              <a:defRPr sz="730">
                <a:solidFill>
                  <a:srgbClr val="333333"/>
                </a:solidFill>
              </a:defRPr>
            </a:pPr>
            <a:r>
              <a:t>- Key engineering challenges (plasma stability, materials, tritium breeding) are unresolved.</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Private Investment Is Accelerating Fusion Development Beyond Government-Led Projects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Private Investment Is Accelerating Fusion Development Beyond Government-Led Projects</a:t>
            </a:r>
          </a:p>
          <a:p>
            <a:pPr>
              <a:defRPr sz="830">
                <a:solidFill>
                  <a:srgbClr val="64696E"/>
                </a:solidFill>
              </a:defRPr>
            </a:pPr>
            <a:r>
              <a:t>This chapter concludes that the surge in private capital is driving faster innovation but also creating a funding gap risk, so executives should prioritize startups with</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fusion funding landscape has shifted dramatically in the past decade. Government programs like ITER and national fusion labs remain important, but private investment has surged. By 2024, private fusion companies had raised over $6 billion cumulatively, wit</a:t>
            </a:r>
          </a:p>
          <a:p>
            <a:pPr>
              <a:spcAft>
                <a:spcPts val="600"/>
              </a:spcAft>
              <a:defRPr sz="819">
                <a:solidFill>
                  <a:srgbClr val="333333"/>
                </a:solidFill>
              </a:defRPr>
            </a:pPr>
            <a:r>
              <a:t>Private investment brings a different risk appetite and timeline pressure. Startups are targeting demonstration plants by the early 2030s, a pace that government projects cannot match. However, the 'valley of death' between demonstration and commercial deploym</a:t>
            </a:r>
          </a:p>
          <a:p>
            <a:pPr>
              <a:spcAft>
                <a:spcPts val="600"/>
              </a:spcAft>
              <a:defRPr sz="819">
                <a:solidFill>
                  <a:srgbClr val="333333"/>
                </a:solidFill>
              </a:defRPr>
            </a:pPr>
            <a:r>
              <a:t>For decision-makers, the implication is that the fusion ecosystem is becoming more dynamic and competitive. Early engagement with startups can provide strategic advantages, but due diligence must be rigorous. The evidence boundary includes funding amounts from</a:t>
            </a:r>
          </a:p>
          <a:p>
            <a:pPr>
              <a:spcBef>
                <a:spcPts val="600"/>
              </a:spcBef>
              <a:defRPr sz="819" b="1">
                <a:solidFill>
                  <a:srgbClr val="003087"/>
                </a:solidFill>
              </a:defRPr>
            </a:pPr>
            <a:r>
              <a:t>Key implications</a:t>
            </a:r>
          </a:p>
          <a:p>
            <a:pPr>
              <a:defRPr sz="730">
                <a:solidFill>
                  <a:srgbClr val="333333"/>
                </a:solidFill>
              </a:defRPr>
            </a:pPr>
            <a:r>
              <a:t>- Private investment has exceeded $6 billion, accelerating development.</a:t>
            </a:r>
          </a:p>
          <a:p>
            <a:pPr>
              <a:defRPr sz="730">
                <a:solidFill>
                  <a:srgbClr val="333333"/>
                </a:solidFill>
              </a:defRPr>
            </a:pPr>
            <a:r>
              <a:t>- The 'valley of death' between demonstration and commercial scale is a key risk.</a:t>
            </a:r>
          </a:p>
        </p:txBody>
      </p:sp>
      <p:pic>
        <p:nvPicPr>
          <p:cNvPr id="7" name="Picture 6" descr="image-2.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Fusion's Economic Competitiveness Hinges on Overcoming Engineering and Cost Hurdles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Fusion's Economic Competitiveness Hinges on Overcoming Engineering and Cost Hurdles</a:t>
            </a:r>
          </a:p>
          <a:p>
            <a:pPr>
              <a:defRPr sz="830">
                <a:solidFill>
                  <a:srgbClr val="64696E"/>
                </a:solidFill>
              </a:defRPr>
            </a:pPr>
            <a:r>
              <a:t>This chapter concludes that fusion's cost competitiveness is uncertain and depends on unproven engineering, so executives should focus on niche applications and monitor c</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economic viability of fusion energy is a subject of intense debate. Proponents argue that fusion's fuel is virtually free and abundant, and that advanced designs can achieve high efficiency and low operating costs. However, the capital costs of fusion plan</a:t>
            </a:r>
          </a:p>
          <a:p>
            <a:pPr>
              <a:spcAft>
                <a:spcPts val="600"/>
              </a:spcAft>
              <a:defRPr sz="819">
                <a:solidFill>
                  <a:srgbClr val="333333"/>
                </a:solidFill>
              </a:defRPr>
            </a:pPr>
            <a:r>
              <a:t>Comparisons with renewables are instructive. Solar and wind LCOE have fallen below $30/MWh in many regions, and battery storage costs are declining rapidly. Fusion's value proposition may lie in providing baseload power and high-temperature heat for industrial</a:t>
            </a:r>
          </a:p>
          <a:p>
            <a:pPr>
              <a:spcAft>
                <a:spcPts val="600"/>
              </a:spcAft>
              <a:defRPr sz="819">
                <a:solidFill>
                  <a:srgbClr val="333333"/>
                </a:solidFill>
              </a:defRPr>
            </a:pPr>
            <a:r>
              <a:t>For executives, the key takeaway is that fusion's economic competitiveness is not guaranteed. Investment decisions should be based on a realistic assessment of costs and a clear understanding of the market niche. The evidence boundary includes company projecti</a:t>
            </a:r>
          </a:p>
          <a:p>
            <a:pPr>
              <a:spcBef>
                <a:spcPts val="600"/>
              </a:spcBef>
              <a:defRPr sz="819" b="1">
                <a:solidFill>
                  <a:srgbClr val="003087"/>
                </a:solidFill>
              </a:defRPr>
            </a:pPr>
            <a:r>
              <a:t>Key implications</a:t>
            </a:r>
          </a:p>
          <a:p>
            <a:pPr>
              <a:defRPr sz="730">
                <a:solidFill>
                  <a:srgbClr val="333333"/>
                </a:solidFill>
              </a:defRPr>
            </a:pPr>
            <a:r>
              <a:t>- Fusion LCOE projections are highly uncertain and range from $50 to over $200/MWh.</a:t>
            </a:r>
          </a:p>
          <a:p>
            <a:pPr>
              <a:defRPr sz="730">
                <a:solidFill>
                  <a:srgbClr val="333333"/>
                </a:solidFill>
              </a:defRPr>
            </a:pPr>
            <a:r>
              <a:t>- Fusion may be more competitive in niche applications (industrial heat, hydrogen) than grid elect</a:t>
            </a:r>
          </a:p>
        </p:txBody>
      </p:sp>
      <p:pic>
        <p:nvPicPr>
          <p:cNvPr id="7" name="Picture 6" descr="image-3.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pic>
        <p:nvPicPr>
          <p:cNvPr id="4" name="Picture 3" descr="cover-ai.png"/>
          <p:cNvPicPr>
            <a:picLocks noChangeAspect="1"/>
          </p:cNvPicPr>
          <p:nvPr/>
        </p:nvPicPr>
        <p:blipFill>
          <a:blip r:embed="rId2"/>
          <a:stretch>
            <a:fillRect/>
          </a:stretch>
        </p:blipFill>
        <p:spPr>
          <a:xfrm>
            <a:off x="6583680" y="1051560"/>
            <a:ext cx="5074920" cy="4800600"/>
          </a:xfrm>
          <a:prstGeom prst="rect">
            <a:avLst/>
          </a:prstGeom>
        </p:spPr>
      </p:pic>
      <p:sp>
        <p:nvSpPr>
          <p:cNvPr id="5" name="TextBox 4"/>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6" name="Rectangle 5"/>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63040"/>
            <a:ext cx="5715000" cy="2926080"/>
          </a:xfrm>
          <a:prstGeom prst="rect">
            <a:avLst/>
          </a:prstGeom>
          <a:noFill/>
        </p:spPr>
        <p:txBody>
          <a:bodyPr wrap="square">
            <a:spAutoFit/>
          </a:bodyPr>
          <a:lstStyle/>
          <a:p>
            <a:pPr>
              <a:defRPr sz="1500">
                <a:solidFill>
                  <a:srgbClr val="003087"/>
                </a:solidFill>
              </a:defRPr>
            </a:pPr>
            <a:r>
              <a:t>A Decision-Ready Analysis for Senior Executives and Investors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