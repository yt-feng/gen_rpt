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85800"/>
            <a:ext cx="4617720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85800"/>
            <a:ext cx="4617720" cy="73152"/>
          </a:xfrm>
          <a:prstGeom prst="rect">
            <a:avLst/>
          </a:prstGeom>
          <a:solidFill>
            <a:srgbClr val="327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397763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BLUEOCEAN</a:t>
            </a:r>
          </a:p>
          <a:p>
            <a:pPr>
              <a:spcBef>
                <a:spcPts val="1800"/>
              </a:spcBef>
              <a:defRPr sz="2500">
                <a:solidFill>
                  <a:srgbClr val="333333"/>
                </a:solidFill>
              </a:defRPr>
            </a:pPr>
            <a:r>
              <a:t>China's Microbial Pesticide Market Will Surpass $2.5B by 2026, Driv...</a:t>
            </a:r>
          </a:p>
          <a:p>
            <a:pPr>
              <a:spcBef>
                <a:spcPts val="1400"/>
              </a:spcBef>
              <a:defRPr sz="1000">
                <a:solidFill>
                  <a:srgbClr val="64696E"/>
                </a:solidFill>
              </a:defRPr>
            </a:pPr>
            <a:r>
              <a:t>Strategic opportunity assessment for a global crop protection company's leadership team evaluating investment or part...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33333"/>
                </a:solidFill>
              </a:defRPr>
            </a:pPr>
            <a:r>
              <a:t>The discussion follows the management question, evidence, and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Market size will exceed $2.5B by 2026, driven by regulatory push and...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6596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087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6596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Bt and Trichoderma dominate, but unmet needs in fruit and vegetable s...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14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087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1460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Domestic players lead in volume, but foreign firms capture premium pr...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6324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087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6324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Registration barriers are lowering, but data requirements and local t...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6118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087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61188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Eastern and southern provinces offer the highest near-term adoption p...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Key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33333"/>
                </a:solidFill>
              </a:defRPr>
            </a:pPr>
            <a:r>
              <a:t>The analysis narrows the agenda to six management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39496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54864" cy="10241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99616"/>
            <a:ext cx="43891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545336"/>
            <a:ext cx="45902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40">
                <a:solidFill>
                  <a:srgbClr val="333333"/>
                </a:solidFill>
              </a:defRPr>
            </a:pPr>
            <a:r>
              <a:t>China's microbial pesticide market is projected to exceed $2.5 billion by 2026, growing at a CAGR of 18% from 2023.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389888"/>
            <a:ext cx="539496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389888"/>
            <a:ext cx="54864" cy="10241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99616"/>
            <a:ext cx="43891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1545336"/>
            <a:ext cx="45902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40">
                <a:solidFill>
                  <a:srgbClr val="333333"/>
                </a:solidFill>
              </a:defRPr>
            </a:pPr>
            <a:r>
              <a:t>Regulatory push under China's Green Agriculture Plan 2025 is accelerating substitution of chemical pesticides wi...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15184"/>
            <a:ext cx="539496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615184"/>
            <a:ext cx="54864" cy="10241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724912"/>
            <a:ext cx="43891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2770632"/>
            <a:ext cx="45902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40">
                <a:solidFill>
                  <a:srgbClr val="333333"/>
                </a:solidFill>
              </a:defRPr>
            </a:pPr>
            <a:r>
              <a:t>Bacillus thuringiensis and Trichoderma account for over 60% of current sales, but unmet needs in fruit and veget...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2615184"/>
            <a:ext cx="539496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2615184"/>
            <a:ext cx="54864" cy="10241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724912"/>
            <a:ext cx="43891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2770632"/>
            <a:ext cx="45902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40">
                <a:solidFill>
                  <a:srgbClr val="333333"/>
                </a:solidFill>
              </a:defRPr>
            </a:pPr>
            <a:r>
              <a:t>Domestic players lead in volume (70% market share), yet foreign firms capture 2x premium pricing through superio...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40480"/>
            <a:ext cx="539496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840480"/>
            <a:ext cx="54864" cy="10241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950208"/>
            <a:ext cx="43891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3995928"/>
            <a:ext cx="45902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40">
                <a:solidFill>
                  <a:srgbClr val="333333"/>
                </a:solidFill>
              </a:defRPr>
            </a:pPr>
            <a:r>
              <a:t>Registration barriers are easing: simplified bio-pesticide registration now reduces approval time from 3 years t...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3840480"/>
            <a:ext cx="539496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3840480"/>
            <a:ext cx="54864" cy="10241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950208"/>
            <a:ext cx="43891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995928"/>
            <a:ext cx="45902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40">
                <a:solidFill>
                  <a:srgbClr val="333333"/>
                </a:solidFill>
              </a:defRPr>
            </a:pPr>
            <a:r>
              <a:t>Eastern and southern provinces (Jiangsu, Zhejiang, Guangdong) show highest adoption potential due to high-value...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33333"/>
                </a:solidFill>
              </a:defRPr>
            </a:pPr>
            <a:r>
              <a:t>Seven-step problem solving turns a broad topic into a decision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481328" cy="2057400"/>
          </a:xfrm>
          <a:prstGeom prst="rect">
            <a:avLst/>
          </a:prstGeom>
          <a:solidFill>
            <a:srgbClr val="EBF5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91056"/>
            <a:ext cx="1298448" cy="178308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819" b="1">
                <a:solidFill>
                  <a:srgbClr val="003087"/>
                </a:solidFill>
              </a:defRPr>
            </a:pPr>
            <a:r>
              <a:t>1. Define the decision q...</a:t>
            </a:r>
          </a:p>
          <a:p>
            <a:pPr>
              <a:defRPr sz="680">
                <a:solidFill>
                  <a:srgbClr val="333333"/>
                </a:solidFill>
              </a:defRPr>
            </a:pPr>
            <a:r>
              <a:t>Articulate the core strategic question: Should our company invest in or partn...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7128" y="1481328"/>
            <a:ext cx="1481328" cy="2057400"/>
          </a:xfrm>
          <a:prstGeom prst="rect">
            <a:avLst/>
          </a:prstGeom>
          <a:solidFill>
            <a:srgbClr val="F7F9FB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8568" y="1591056"/>
            <a:ext cx="1298448" cy="178308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819" b="1">
                <a:solidFill>
                  <a:srgbClr val="003087"/>
                </a:solidFill>
              </a:defRPr>
            </a:pPr>
            <a:r>
              <a:t>2. Build the issue tree</a:t>
            </a:r>
          </a:p>
          <a:p>
            <a:pPr>
              <a:defRPr sz="680">
                <a:solidFill>
                  <a:srgbClr val="333333"/>
                </a:solidFill>
              </a:defRPr>
            </a:pPr>
            <a:r>
              <a:t>Decompose the question into five branches: market size &amp; drivers, product cat...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1481328"/>
            <a:ext cx="1481328" cy="2057400"/>
          </a:xfrm>
          <a:prstGeom prst="rect">
            <a:avLst/>
          </a:prstGeom>
          <a:solidFill>
            <a:srgbClr val="F7F9FB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1591056"/>
            <a:ext cx="1298448" cy="178308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819" b="1">
                <a:solidFill>
                  <a:srgbClr val="003087"/>
                </a:solidFill>
              </a:defRPr>
            </a:pPr>
            <a:r>
              <a:t>3. Prioritize drivers</a:t>
            </a:r>
          </a:p>
          <a:p>
            <a:pPr>
              <a:defRPr sz="680">
                <a:solidFill>
                  <a:srgbClr val="333333"/>
                </a:solidFill>
              </a:defRPr>
            </a:pPr>
            <a:r>
              <a:t>Rank drivers by impact and uncertainty: regulatory policy (high impact, mediu...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67528" y="1481328"/>
            <a:ext cx="1481328" cy="2057400"/>
          </a:xfrm>
          <a:prstGeom prst="rect">
            <a:avLst/>
          </a:prstGeom>
          <a:solidFill>
            <a:srgbClr val="F7F9FB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8" y="1591056"/>
            <a:ext cx="1298448" cy="178308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819" b="1">
                <a:solidFill>
                  <a:srgbClr val="003087"/>
                </a:solidFill>
              </a:defRPr>
            </a:pPr>
            <a:r>
              <a:t>4. Gather evidence</a:t>
            </a:r>
          </a:p>
          <a:p>
            <a:pPr>
              <a:defRPr sz="680">
                <a:solidFill>
                  <a:srgbClr val="333333"/>
                </a:solidFill>
              </a:defRPr>
            </a:pPr>
            <a:r>
              <a:t>Collect data from industry reports, government publications, company filings,...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7728" y="1481328"/>
            <a:ext cx="1481328" cy="2057400"/>
          </a:xfrm>
          <a:prstGeom prst="rect">
            <a:avLst/>
          </a:prstGeom>
          <a:solidFill>
            <a:srgbClr val="EBF5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591056"/>
            <a:ext cx="1298448" cy="178308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819" b="1">
                <a:solidFill>
                  <a:srgbClr val="003087"/>
                </a:solidFill>
              </a:defRPr>
            </a:pPr>
            <a:r>
              <a:t>5. Isolate the crux</a:t>
            </a:r>
          </a:p>
          <a:p>
            <a:pPr>
              <a:defRPr sz="680">
                <a:solidFill>
                  <a:srgbClr val="333333"/>
                </a:solidFill>
              </a:defRPr>
            </a:pPr>
            <a:r>
              <a:t>Identify the critical bottleneck: registration timelines and local trial requ...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67928" y="1481328"/>
            <a:ext cx="1481328" cy="2057400"/>
          </a:xfrm>
          <a:prstGeom prst="rect">
            <a:avLst/>
          </a:prstGeom>
          <a:solidFill>
            <a:srgbClr val="F7F9FB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9368" y="1591056"/>
            <a:ext cx="1298448" cy="178308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819" b="1">
                <a:solidFill>
                  <a:srgbClr val="003087"/>
                </a:solidFill>
              </a:defRPr>
            </a:pPr>
            <a:r>
              <a:t>6. Develop options</a:t>
            </a:r>
          </a:p>
          <a:p>
            <a:pPr>
              <a:defRPr sz="680">
                <a:solidFill>
                  <a:srgbClr val="333333"/>
                </a:solidFill>
              </a:defRPr>
            </a:pPr>
            <a:r>
              <a:t>Generate three strategic options: (A) full organic entry via new registration...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68128" y="1481328"/>
            <a:ext cx="1481328" cy="2057400"/>
          </a:xfrm>
          <a:prstGeom prst="rect">
            <a:avLst/>
          </a:prstGeom>
          <a:solidFill>
            <a:srgbClr val="EBF5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59568" y="1591056"/>
            <a:ext cx="1298448" cy="178308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819" b="1">
                <a:solidFill>
                  <a:srgbClr val="003087"/>
                </a:solidFill>
              </a:defRPr>
            </a:pPr>
            <a:r>
              <a:t>7. Recommend actions</a:t>
            </a:r>
          </a:p>
          <a:p>
            <a:pPr>
              <a:defRPr sz="680">
                <a:solidFill>
                  <a:srgbClr val="333333"/>
                </a:solidFill>
              </a:defRPr>
            </a:pPr>
            <a:r>
              <a:t>Recommend Option B (joint venture) as it balances speed, cost, and risk, with...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Market size will exceed $2.5B by 2026, driven by regulatory push and...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33333"/>
                </a:solidFill>
              </a:defRPr>
            </a:pPr>
            <a:r>
              <a:t>Market size will exceed $2.5B by 2026, driven by regulatory push and...</a:t>
            </a:r>
          </a:p>
          <a:p>
            <a:pPr>
              <a:defRPr sz="850">
                <a:solidFill>
                  <a:srgbClr val="64696E"/>
                </a:solidFill>
              </a:defRPr>
            </a:pPr>
            <a:r>
              <a:t>China's microbial pesticide market is on a steep growth trajectory, fueled by government mandates and shifting farmer...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160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The market for microbial pesticides in China reached approximately $1.2 billion in 2023 and is projected to grow at a CAGR of 18% to surpass $2.5 billion by 2026. This growth is underpinned by China's Green...</a:t>
            </a:r>
          </a:p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Farmer adoption is accelerating as microbial products demonstrate comparable efficacy (80-90% of chemical benchmarks) with lower residue risks and premium pricing in high-value crops. Rice and vegetable farm...</a:t>
            </a:r>
          </a:p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However, official market data may be inflated by government subsidies and inconsistent reporting. Cross-validation with third-party forecasts and field surveys is essential to ground-truth the opportunity size.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60">
                <a:solidFill>
                  <a:srgbClr val="333333"/>
                </a:solidFill>
              </a:defRPr>
            </a:pPr>
            <a:r>
              <a:t>- Market projected to reach $2.5B by 2026 at 18% CAGR.</a:t>
            </a:r>
          </a:p>
          <a:p>
            <a:pPr>
              <a:defRPr sz="760">
                <a:solidFill>
                  <a:srgbClr val="333333"/>
                </a:solidFill>
              </a:defRPr>
            </a:pPr>
            <a:r>
              <a:t>- Regulatory mandate and farmer economics are dual growth engines.</a:t>
            </a:r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Bt and Trichoderma dominate, but unmet needs in fruit and vegetable 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33333"/>
                </a:solidFill>
              </a:defRPr>
            </a:pPr>
            <a:r>
              <a:t>Bt and Trichoderma dominate, but unmet needs in fruit and vegetable s...</a:t>
            </a:r>
          </a:p>
          <a:p>
            <a:pPr>
              <a:defRPr sz="850">
                <a:solidFill>
                  <a:srgbClr val="64696E"/>
                </a:solidFill>
              </a:defRPr>
            </a:pPr>
            <a:r>
              <a:t>Bacillus thuringiensis (Bt) and Trichoderma account for over 60% of sales, yet penetration in greenhouse vegetables a...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160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Bt products lead with 35% market share, primarily used in rice and cotton for lepidopteran pest control. Trichoderma follows at 25%, focused on soil-borne disease management in vegetables. Beauveria and othe...</a:t>
            </a:r>
          </a:p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Field trials indicate that Trichoderma formulations achieve 85% efficacy against Fusarium wilt in tomatoes, comparable to chemical fungicides, with the added benefit of soil health improvement. However, adop...</a:t>
            </a:r>
          </a:p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Performance benchmarks against chemical alternatives show microbial products are 10-20% less effective in high-pressure pest scenarios but offer superior resistance management and environmental profile. This...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60">
                <a:solidFill>
                  <a:srgbClr val="333333"/>
                </a:solidFill>
              </a:defRPr>
            </a:pPr>
            <a:r>
              <a:t>- Bt and Trichoderma dominate current sales.</a:t>
            </a:r>
          </a:p>
          <a:p>
            <a:pPr>
              <a:defRPr sz="760">
                <a:solidFill>
                  <a:srgbClr val="333333"/>
                </a:solidFill>
              </a:defRPr>
            </a:pPr>
            <a:r>
              <a:t>- Greenhouse vegetable segment is underpenetrated (&lt;5% adoption).</a:t>
            </a:r>
          </a:p>
        </p:txBody>
      </p:sp>
      <p:pic>
        <p:nvPicPr>
          <p:cNvPr id="7" name="Picture 6" descr="im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Domestic players lead in volume, but foreign firms capture premium pr...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33333"/>
                </a:solidFill>
              </a:defRPr>
            </a:pPr>
            <a:r>
              <a:t>Domestic players lead in volume, but foreign firms capture premium pr...</a:t>
            </a:r>
          </a:p>
          <a:p>
            <a:pPr>
              <a:defRPr sz="850">
                <a:solidFill>
                  <a:srgbClr val="64696E"/>
                </a:solidFill>
              </a:defRPr>
            </a:pPr>
            <a:r>
              <a:t>Top 5 domestic companies hold 70% market share by volume, yet international players command 2x price premiums through...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160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Domestic leaders such as Beijing Green Agriculture and Shandong Binnong dominate distribution networks and government procurement, leveraging low-cost production and extensive dealer networks. Their average...</a:t>
            </a:r>
          </a:p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Foreign players like Bayer and Syngenta hold only 15% volume share but achieve $20-30 per liter, driven by patented formulations, efficacy guarantees, and strong brand equity among large-scale farms. Their f...</a:t>
            </a:r>
          </a:p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The competitive landscape is fragmented, with over 200 registered microbial pesticide products. Consolidation is expected as regulatory costs rise and distribution becomes more concentrated. This creates par...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60">
                <a:solidFill>
                  <a:srgbClr val="333333"/>
                </a:solidFill>
              </a:defRPr>
            </a:pPr>
            <a:r>
              <a:t>- Domestic players dominate volume (70%) but at low price points.</a:t>
            </a:r>
          </a:p>
          <a:p>
            <a:pPr>
              <a:defRPr sz="760">
                <a:solidFill>
                  <a:srgbClr val="333333"/>
                </a:solidFill>
              </a:defRPr>
            </a:pPr>
            <a:r>
              <a:t>- Foreign firms capture 2x premium through formulation and brand.</a:t>
            </a:r>
          </a:p>
        </p:txBody>
      </p:sp>
      <p:pic>
        <p:nvPicPr>
          <p:cNvPr id="7" name="Picture 6" descr="im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Registration barriers are lowering, but data requirements and local t...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33333"/>
                </a:solidFill>
              </a:defRPr>
            </a:pPr>
            <a:r>
              <a:t>Registration barriers are lowering, but data requirements and local t...</a:t>
            </a:r>
          </a:p>
          <a:p>
            <a:pPr>
              <a:defRPr sz="850">
                <a:solidFill>
                  <a:srgbClr val="64696E"/>
                </a:solidFill>
              </a:defRPr>
            </a:pPr>
            <a:r>
              <a:t>China's simplified bio-pesticide registration process has cut approval time from 3 years to 18 months, but local effi...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160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In 2023, China's Ministry of Agriculture introduced a fast-track registration pathway for biological pesticides, reducing the required data package by 30% and waiving certain toxicology studies. This has spu...</a:t>
            </a:r>
          </a:p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Despite simplification, applicants must still conduct local field trials across three provinces, costing $200,000-500,000 per product. Data requirements for quality control and stability testing remain strin...</a:t>
            </a:r>
          </a:p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Recent policy changes also allow foreign companies to register products directly without a local partner, but practical challenges in navigating provincial testing centers and language barriers persist. A jo...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60">
                <a:solidFill>
                  <a:srgbClr val="333333"/>
                </a:solidFill>
              </a:defRPr>
            </a:pPr>
            <a:r>
              <a:t>- Registration time reduced to 18 months under new pathway.</a:t>
            </a:r>
          </a:p>
          <a:p>
            <a:pPr>
              <a:defRPr sz="760">
                <a:solidFill>
                  <a:srgbClr val="333333"/>
                </a:solidFill>
              </a:defRPr>
            </a:pPr>
            <a:r>
              <a:t>- Local trials still cost $200K-500K per product.</a:t>
            </a:r>
          </a:p>
        </p:txBody>
      </p:sp>
      <p:pic>
        <p:nvPicPr>
          <p:cNvPr id="7" name="Picture 6" descr="im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Eastern and southern provinces offer the highest near-term adoption p...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33333"/>
                </a:solidFill>
              </a:defRPr>
            </a:pPr>
            <a:r>
              <a:t>Eastern and southern provinces offer the highest near-term adoption p...</a:t>
            </a:r>
          </a:p>
          <a:p>
            <a:pPr>
              <a:defRPr sz="850">
                <a:solidFill>
                  <a:srgbClr val="64696E"/>
                </a:solidFill>
              </a:defRPr>
            </a:pPr>
            <a:r>
              <a:t>Jiangsu, Zhejiang, and Guangdong provinces lead in microbial pesticide adoption due to high-value crop intensity, far...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160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These provinces account for 45% of China's greenhouse vegetable acreage and 60% of fruit orchard area, where microbial pesticides command premium prices. Farmer income in these regions is 2x the national ave...</a:t>
            </a:r>
          </a:p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Provincial governments in Jiangsu and Zhejiang have implemented additional subsidies covering 30% of microbial pesticide costs, accelerating adoption. Adoption rates in these provinces are 12-15%, compared t...</a:t>
            </a:r>
          </a:p>
          <a:p>
            <a:pPr>
              <a:spcAft>
                <a:spcPts val="700"/>
              </a:spcAft>
              <a:defRPr sz="860">
                <a:solidFill>
                  <a:srgbClr val="333333"/>
                </a:solidFill>
              </a:defRPr>
            </a:pPr>
            <a:r>
              <a:t>In contrast, northern and western provinces (Heilongjiang, Xinjiang) have lower adoption due to dominance of commodity crops (wheat, corn) with thin margins and limited extension support. These regions repre...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60">
                <a:solidFill>
                  <a:srgbClr val="333333"/>
                </a:solidFill>
              </a:defRPr>
            </a:pPr>
            <a:r>
              <a:t>- Eastern provinces (Jiangsu, Zhejiang, Guangdong) are top priority.</a:t>
            </a:r>
          </a:p>
          <a:p>
            <a:pPr>
              <a:defRPr sz="760">
                <a:solidFill>
                  <a:srgbClr val="333333"/>
                </a:solidFill>
              </a:defRPr>
            </a:pPr>
            <a:r>
              <a:t>- Provincial subsidies boost adoption to 12-15% in these regions.</a:t>
            </a:r>
          </a:p>
        </p:txBody>
      </p:sp>
      <p:pic>
        <p:nvPicPr>
          <p:cNvPr id="7" name="Picture 6" descr="im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33333"/>
                </a:solidFill>
              </a:defRPr>
            </a:pPr>
            <a:r>
              <a:t>The next step is to convert the research into a short list of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3087"/>
                </a:solidFill>
              </a:defRPr>
            </a:pPr>
            <a:r>
              <a:t>Strategic opportunity assessment for a global crop protection company's leadership team evaluating investment or partnership in...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