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85800"/>
            <a:ext cx="4892040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685800"/>
            <a:ext cx="4892040" cy="73152"/>
          </a:xfrm>
          <a:prstGeom prst="rect">
            <a:avLst/>
          </a:prstGeom>
          <a:solidFill>
            <a:srgbClr val="3273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960120"/>
            <a:ext cx="4251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BLUEOCEAN</a:t>
            </a:r>
          </a:p>
          <a:p>
            <a:pPr>
              <a:spcBef>
                <a:spcPts val="1800"/>
              </a:spcBef>
              <a:defRPr sz="2300">
                <a:solidFill>
                  <a:srgbClr val="333333"/>
                </a:solidFill>
              </a:defRPr>
            </a:pPr>
            <a:r>
              <a:t>Global Tech M&amp;A Surged Last Week: AI and Cybersecurity Deals Dominate as Cross-Border Activity Reshapes t</a:t>
            </a:r>
          </a:p>
          <a:p>
            <a:pPr>
              <a:spcBef>
                <a:spcPts val="1400"/>
              </a:spcBef>
              <a:defRPr sz="950">
                <a:solidFill>
                  <a:srgbClr val="64696E"/>
                </a:solidFill>
              </a:defRPr>
            </a:pPr>
            <a:r>
              <a:t>A comprehensive weekly intelligence brief for investment bankers, corporate development professionals, private equity investors, and tech executives.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discussion follows the management question, evidence, and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17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417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Global Tech M&amp;A Activity Surged Last Week with Record Deal Value in AI and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4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74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North America Dominated Deal Volume While Asia-Pacific Saw Largest Cross-Border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31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Software and AI Sub-Sectors Accounted for Over 60% of Total Deal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788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788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Top 5 Deals by Value: Mega-Acquisitions Reshape Cloud and Data Analytics Landscape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46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46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Strategic Rationale Behind the Largest Deal: Buyer A Acquires Target X to Accelerate AI Capabilities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7033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7033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Emerging Trend: Private Equity Firms Drive Consolidation in Mid-Market 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1605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Valuation Multiples Compressed Slightly Amid Rising Interest Rates but Premiums Paid for AI Startups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46177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6177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Regulatory Scrutiny Intensifies: Two Deals Face Antitrust Delays in Europe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0749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0749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Cross-Border Activity Highlights Shift Toward Asian Tech Assets by Western Buyers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53212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3087"/>
                </a:solidFill>
              </a:defRPr>
            </a:pPr>
            <a: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532120"/>
            <a:ext cx="9601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60">
                <a:solidFill>
                  <a:srgbClr val="333333"/>
                </a:solidFill>
              </a:defRPr>
            </a:pPr>
            <a:r>
              <a:t>Outlook: Pipeline Remains Strong with Several Unannounced Deals Expected to Close Next Week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Key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analysis narrows the agenda to a focused set of management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5394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89888"/>
            <a:ext cx="54864" cy="868680"/>
          </a:xfrm>
          <a:prstGeom prst="rect">
            <a:avLst/>
          </a:prstGeom>
          <a:solidFill>
            <a:srgbClr val="0030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43891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3087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99616"/>
            <a:ext cx="459028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70">
                <a:solidFill>
                  <a:srgbClr val="333333"/>
                </a:solidFill>
              </a:defRPr>
            </a:pPr>
            <a:r>
              <a:t>Global technology M&amp;A activity accelerated sharply last week, with total disclosed deal value exceeding $45 billion—the highest weekly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Global Tech M&amp;A Activity Surged Last Week with Record Deal Value in AI and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Global Tech M&amp;A Activity Surged Last Week with Record Deal Value in AI and Cybersecurity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Global Tech M&amp;A Activity Surged Last Week with Record Deal Value in AI and Cybersecurity</a:t>
            </a:r>
          </a:p>
        </p:txBody>
      </p:sp>
      <p:pic>
        <p:nvPicPr>
          <p:cNvPr id="7" name="Picture 6" descr="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North America Dominated Deal Volume While Asia-Pacific Saw Largest Cross-Border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North America Dominated Deal Volume While Asia-Pacific Saw Largest Cross-Border Transactions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North America Dominated Deal Volume While Asia-Pacific Saw Largest Cross-Border Transactions</a:t>
            </a:r>
          </a:p>
        </p:txBody>
      </p:sp>
      <p:pic>
        <p:nvPicPr>
          <p:cNvPr id="7" name="Picture 6" descr="im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Software and AI Sub-Sectors Accounted for Over 60% of Total Deal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Software and AI Sub-Sectors Accounted for Over 60% of Total Deal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Software and AI Sub-Sectors Accounted for Over 60% of Total Deal Value</a:t>
            </a:r>
          </a:p>
        </p:txBody>
      </p:sp>
      <p:pic>
        <p:nvPicPr>
          <p:cNvPr id="7" name="Picture 6" descr="im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Top 5 Deals by Value: Mega-Acquisitions Reshape Cloud and Data Analytics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Top 5 Deals by Value: Mega-Acquisitions Reshape Cloud and Data Analytics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Top 5 Deals by Value: Mega-Acquisitions Reshape Cloud and Data Analytics Landscape</a:t>
            </a:r>
          </a:p>
        </p:txBody>
      </p:sp>
      <p:pic>
        <p:nvPicPr>
          <p:cNvPr id="7" name="Picture 6" descr="im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Strategic Rationale Behind the Largest Deal: Buyer A Acquires Target X to Accelerate 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Strategic Rationale Behind the Largest Deal: Buyer A Acquires Target X to Accelerate AI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Strategic Rationale Behind the Largest Deal: Buyer A Acquires Target X to Accelerate AI Capabilities</a:t>
            </a:r>
          </a:p>
        </p:txBody>
      </p:sp>
      <p:pic>
        <p:nvPicPr>
          <p:cNvPr id="7" name="Picture 6" descr="im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Emerging Trend: Private Equity Firms Drive Consolidation in Mid-Market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Emerging Trend: Private Equity Firms Drive Consolidation in Mid-Market Tech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Emerging Trend: Private Equity Firms Drive Consolidation in Mid-Market Tech</a:t>
            </a:r>
          </a:p>
        </p:txBody>
      </p:sp>
      <p:pic>
        <p:nvPicPr>
          <p:cNvPr id="7" name="Picture 6" descr="im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Valuation Multiples Compressed Slightly Amid Rising Interest Rates but Premiums Paid for AI Startups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Valuation Multiples Compressed Slightly Amid Rising Interest Rates but Premiums Paid for AI Startups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Valuation Multiples Compressed Slightly Amid Rising Interest Rates but Premiums Paid for AI Startups</a:t>
            </a:r>
          </a:p>
        </p:txBody>
      </p:sp>
      <p:pic>
        <p:nvPicPr>
          <p:cNvPr id="7" name="Picture 6" descr="im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Regulatory Scrutiny Intensifies: Two Deals Face Antitrust Delays in Europe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Regulatory Scrutiny Intensifies: Two Deals Face Antitrust Delays in Europe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Regulatory Scrutiny Intensifies: Two Deals Face Antitrust Delays in Europe</a:t>
            </a:r>
          </a:p>
        </p:txBody>
      </p:sp>
      <p:pic>
        <p:nvPicPr>
          <p:cNvPr id="7" name="Picture 6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Cross-Border Activity Highlights Shift Toward Asian Tech Assets by Western Buyers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Cross-Border Activity Highlights Shift Toward Asian Tech Assets by Western Buyers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Cross-Border Activity Highlights Shift Toward Asian Tech Assets by Western Buyers</a:t>
            </a:r>
          </a:p>
        </p:txBody>
      </p:sp>
      <p:pic>
        <p:nvPicPr>
          <p:cNvPr id="7" name="Picture 6" descr="image-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Outlook: Pipeline Remains Strong with Several Unannounced Deals Expected to Close 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Outlook: Pipeline Remains Strong with Several Unannounced Deals Expected to Close Next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4892040" cy="43159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  <a:defRPr sz="819">
                <a:solidFill>
                  <a:srgbClr val="333333"/>
                </a:solidFill>
              </a:defRPr>
            </a:pPr>
            <a:r>
              <a:t>Outlook: Pipeline Remains Strong with Several Unannounced Deals Expected to Close Next Week</a:t>
            </a:r>
          </a:p>
        </p:txBody>
      </p:sp>
      <p:pic>
        <p:nvPicPr>
          <p:cNvPr id="7" name="Picture 6" descr="im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71600"/>
            <a:ext cx="5650992" cy="41879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1: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2: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3: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4: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5: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Exhibit 6: evidence clarifies the strategic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88720"/>
            <a:ext cx="1037844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82935" y="164592"/>
            <a:ext cx="1115568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003087"/>
                </a:solidFill>
              </a:defRPr>
            </a:pPr>
            <a:r>
              <a:t>BlueOcean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601968"/>
            <a:ext cx="1105783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">
                <a:solidFill>
                  <a:srgbClr val="A0A6AD"/>
                </a:solidFill>
              </a:defRPr>
            </a:pPr>
            <a:r>
              <a:t>Closing</a:t>
            </a:r>
          </a:p>
        </p:txBody>
      </p:sp>
      <p:pic>
        <p:nvPicPr>
          <p:cNvPr id="4" name="Picture 3" descr="cover-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51560"/>
            <a:ext cx="5074920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347472"/>
            <a:ext cx="96926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33333"/>
                </a:solidFill>
              </a:defRPr>
            </a:pPr>
            <a:r>
              <a:t>The next step is to convert the research into a short list of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15568"/>
            <a:ext cx="11057839" cy="9144"/>
          </a:xfrm>
          <a:prstGeom prst="rect">
            <a:avLst/>
          </a:prstGeom>
          <a:solidFill>
            <a:srgbClr val="C8C8C8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715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003087"/>
                </a:solidFill>
              </a:defRPr>
            </a:pPr>
            <a:r>
              <a:t>A comprehensive weekly intelligence brief for investment bankers, corporate development professionals, private equity investors, and tech executives.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