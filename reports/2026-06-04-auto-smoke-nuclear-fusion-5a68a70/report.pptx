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Decision-Ready Assessment for Senior Executives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Likely Post-2035 with Significant Uncertainty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Fusion Faces High Cost Hurdles but Could Be Competitive in Baseload Markets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Fusion Will Reshape Energy Geopolitics, Reducing Dependence on Fossil Fuels</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Private Startups Are Accelerating Development but Public Projects Remain Critical</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Strategic Investments Should Focus on Enabling Technologies and Early Partnerships</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Regulatory and Policy Frameworks Must Be Developed to Enable Fusion Commercialization</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Nuclear Fusion Commercialization Outlook and Strategic Implications should be managed as a staged strategic op</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commercialization is likely post-2035, with private ventures targeting 2028-2032 pilot plants but significant technical and regu</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Fusion LCOE is projected at $50-100/MWh by 2050, competing with renewables+storage ($30-60/MWh) but offering high-capacity-factor basel</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Fusion could reshape energy geopolitics by reducing dependence on fossil fuel reserves, but initial deployment will be in advanced econ</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Private fusion startups have raised over $5 billion, but public projects like ITER remain critical for foundational science and infrast</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Strategic investments should focus on enabling technologies (high-temperature superconductors, tritium breeding) and early partnerships</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open questions before committing capital, partnerships or market-e</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Technical evidence only matters when it changes revenue potential, cost position, investment return, execution risk or the timing of 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Likely Post-2035 with Significant Uncertainty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Likely Post-2035 with Significant Uncertainty</a:t>
            </a:r>
          </a:p>
          <a:p>
            <a:pPr>
              <a:defRPr sz="830">
                <a:solidFill>
                  <a:srgbClr val="64696E"/>
                </a:solidFill>
              </a:defRPr>
            </a:pPr>
            <a:r>
              <a:t>The commercialization timeline for fusion energy is highly uncertain, with private ventures targeting 2028-2032 pilot plants but public projects like ITER facing delays 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path to commercial fusion energy is defined by a series of ambitious public and private projects, each targeting key milestones. The most prominent public project, ITER, is an international tokamak under construction in France, with first plasma expected i</a:t>
            </a:r>
          </a:p>
          <a:p>
            <a:pPr>
              <a:spcAft>
                <a:spcPts val="600"/>
              </a:spcAft>
              <a:defRPr sz="819">
                <a:solidFill>
                  <a:srgbClr val="333333"/>
                </a:solidFill>
              </a:defRPr>
            </a:pPr>
            <a:r>
              <a:t>Private ventures are pursuing faster timelines. Commonwealth Fusion Systems (CFS), a spinout from MIT, is building SPARC, a compact tokamak using high-temperature superconducting magnets. SPARC aims to achieve net energy gain (Q&gt;1) by 2025-2026, with a commerc</a:t>
            </a:r>
          </a:p>
          <a:p>
            <a:pPr>
              <a:spcAft>
                <a:spcPts val="600"/>
              </a:spcAft>
              <a:defRPr sz="819">
                <a:solidFill>
                  <a:srgbClr val="333333"/>
                </a:solidFill>
              </a:defRPr>
            </a:pPr>
            <a:r>
              <a:t>The 2022 achievement of fusion ignition at Lawrence Livermore National Laboratory (LLNL) was a historic scientific milestone, demonstrating that a controlled fusion reaction can produce more energy than the laser energy used to drive it. However, this was a si</a:t>
            </a:r>
          </a:p>
          <a:p>
            <a:pPr>
              <a:spcBef>
                <a:spcPts val="600"/>
              </a:spcBef>
              <a:defRPr sz="819" b="1">
                <a:solidFill>
                  <a:srgbClr val="003087"/>
                </a:solidFill>
              </a:defRPr>
            </a:pPr>
            <a:r>
              <a:t>Key implications</a:t>
            </a:r>
          </a:p>
          <a:p>
            <a:pPr>
              <a:defRPr sz="730">
                <a:solidFill>
                  <a:srgbClr val="333333"/>
                </a:solidFill>
              </a:defRPr>
            </a:pPr>
            <a:r>
              <a:t>- Plan for 2035-2050 commercialization; stage investments based on SPARC and ITER milestones.</a:t>
            </a:r>
          </a:p>
          <a:p>
            <a:pPr>
              <a:defRPr sz="730">
                <a:solidFill>
                  <a:srgbClr val="333333"/>
                </a:solidFill>
              </a:defRPr>
            </a:pPr>
            <a:r>
              <a:t>- Private ventures offer faster timelines but higher risk; public projects provide foundational sc</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Faces High Cost Hurdles but Could Be Competitive in Baseload Markets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Faces High Cost Hurdles but Could Be Competitive in Baseload Markets</a:t>
            </a:r>
          </a:p>
          <a:p>
            <a:pPr>
              <a:defRPr sz="830">
                <a:solidFill>
                  <a:srgbClr val="64696E"/>
                </a:solidFill>
              </a:defRPr>
            </a:pPr>
            <a:r>
              <a:t>Fusion LCOE is projected at $50-100/MWh by 2050, higher than current renewables but competitive for baseload applications. Executives should view fusion as a complement 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economic viability of fusion energy depends on its levelized cost of energy (LCOE) relative to other sources. Current estimates from the DOE and industry analysts project fusion LCOE in the range of $50-100/MWh by 2050, assuming successful commercializatio</a:t>
            </a:r>
          </a:p>
          <a:p>
            <a:pPr>
              <a:spcAft>
                <a:spcPts val="600"/>
              </a:spcAft>
              <a:defRPr sz="819">
                <a:solidFill>
                  <a:srgbClr val="333333"/>
                </a:solidFill>
              </a:defRPr>
            </a:pPr>
            <a:r>
              <a:t>Fusion's potential advantage lies in its high capacity factor (90%+), low fuel cost (deuterium from seawater is virtually free), and lack of carbon emissions or long-lived radioactive waste. This makes it an attractive option for baseload power, especially in</a:t>
            </a:r>
          </a:p>
          <a:p>
            <a:pPr>
              <a:spcAft>
                <a:spcPts val="600"/>
              </a:spcAft>
              <a:defRPr sz="819">
                <a:solidFill>
                  <a:srgbClr val="333333"/>
                </a:solidFill>
              </a:defRPr>
            </a:pPr>
            <a:r>
              <a:t>Financing fusion plants will be challenging due to the high upfront capital and perceived technology risk. Government loan guarantees, power purchase agreements (PPAs), and carbon pricing could help de-risk investments. The DOE's Loan Programs Office has alrea</a:t>
            </a:r>
          </a:p>
          <a:p>
            <a:pPr>
              <a:spcBef>
                <a:spcPts val="600"/>
              </a:spcBef>
              <a:defRPr sz="819" b="1">
                <a:solidFill>
                  <a:srgbClr val="003087"/>
                </a:solidFill>
              </a:defRPr>
            </a:pPr>
            <a:r>
              <a:t>Key implications</a:t>
            </a:r>
          </a:p>
          <a:p>
            <a:pPr>
              <a:defRPr sz="730">
                <a:solidFill>
                  <a:srgbClr val="333333"/>
                </a:solidFill>
              </a:defRPr>
            </a:pPr>
            <a:r>
              <a:t>- Fusion LCOE of $50-100/MWh by 2050 is competitive for baseload but not for peaking power.</a:t>
            </a:r>
          </a:p>
          <a:p>
            <a:pPr>
              <a:defRPr sz="730">
                <a:solidFill>
                  <a:srgbClr val="333333"/>
                </a:solidFill>
              </a:defRPr>
            </a:pPr>
            <a:r>
              <a:t>- Focus on high-value applications: industrial heat, hydrogen, and regions with poor renewable res</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Will Reshape Energy Geopolitics, Reducing Dependence on Fossil Fuels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Will Reshape Energy Geopolitics, Reducing Dependence on Fossil Fuels</a:t>
            </a:r>
          </a:p>
          <a:p>
            <a:pPr>
              <a:defRPr sz="830">
                <a:solidFill>
                  <a:srgbClr val="64696E"/>
                </a:solidFill>
              </a:defRPr>
            </a:pPr>
            <a:r>
              <a:t>Fusion fuel is abundant and widely distributed, potentially decoupling energy security from fossil fuel reserves. Executives should view fusion as a long-term hedge again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energy has the potential to fundamentally alter global energy geopolitics. Unlike fossil fuels, which are concentrated in a few regions, fusion fuel (deuterium and tritium) is virtually unlimited and widely available. Deuterium can be extracted from sea</a:t>
            </a:r>
          </a:p>
          <a:p>
            <a:pPr>
              <a:spcAft>
                <a:spcPts val="600"/>
              </a:spcAft>
              <a:defRPr sz="819">
                <a:solidFill>
                  <a:srgbClr val="333333"/>
                </a:solidFill>
              </a:defRPr>
            </a:pPr>
            <a:r>
              <a:t>For energy-importing nations, fusion offers the prospect of energy independence. Countries like Japan, South Korea, and many European nations that currently rely on imported fossil fuels could generate their own fusion power, reducing vulnerability to supply d</a:t>
            </a:r>
          </a:p>
          <a:p>
            <a:pPr>
              <a:spcAft>
                <a:spcPts val="600"/>
              </a:spcAft>
              <a:defRPr sz="819">
                <a:solidFill>
                  <a:srgbClr val="333333"/>
                </a:solidFill>
              </a:defRPr>
            </a:pPr>
            <a:r>
              <a:t>However, the initial deployment of fusion is likely to be in advanced economies with strong R&amp;D infrastructure and regulatory frameworks. Developing countries may face barriers to adoption due to high capital costs and technical complexity. This could create a</a:t>
            </a:r>
          </a:p>
          <a:p>
            <a:pPr>
              <a:spcBef>
                <a:spcPts val="600"/>
              </a:spcBef>
              <a:defRPr sz="819" b="1">
                <a:solidFill>
                  <a:srgbClr val="003087"/>
                </a:solidFill>
              </a:defRPr>
            </a:pPr>
            <a:r>
              <a:t>Key implications</a:t>
            </a:r>
          </a:p>
          <a:p>
            <a:pPr>
              <a:defRPr sz="730">
                <a:solidFill>
                  <a:srgbClr val="333333"/>
                </a:solidFill>
              </a:defRPr>
            </a:pPr>
            <a:r>
              <a:t>- Fusion fuel is abundant and widely distributed, reducing dependence on fossil fuel imports.</a:t>
            </a:r>
          </a:p>
          <a:p>
            <a:pPr>
              <a:defRPr sz="730">
                <a:solidFill>
                  <a:srgbClr val="333333"/>
                </a:solidFill>
              </a:defRPr>
            </a:pPr>
            <a:r>
              <a:t>- Initial deployment will be in advanced economies; developing countries may face barriers.</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Startups Are Accelerating Development but Public Projects Remain Critical</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Startups Are Accelerating Development but Public Projects Remain Critical</a:t>
            </a:r>
          </a:p>
          <a:p>
            <a:pPr>
              <a:defRPr sz="830">
                <a:solidFill>
                  <a:srgbClr val="64696E"/>
                </a:solidFill>
              </a:defRPr>
            </a:pPr>
            <a:r>
              <a:t>Private fusion companies have raised over $5 billion and are pursuing aggressive timelines, but public projects like ITER provide essential foundational science and infra</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landscape has been transformed by the emergence of private startups. Since 2020, over 30 private companies have raised more than $5 billion, according to the Fusion Industry Association. The largest private player is Commonwealth Fusion Systems (CFS</a:t>
            </a:r>
          </a:p>
          <a:p>
            <a:pPr>
              <a:spcAft>
                <a:spcPts val="600"/>
              </a:spcAft>
              <a:defRPr sz="819">
                <a:solidFill>
                  <a:srgbClr val="333333"/>
                </a:solidFill>
              </a:defRPr>
            </a:pPr>
            <a:r>
              <a:t>Other notable private companies include Helion Energy, which has raised $500 million and plans to demonstrate a 50 MW commercial reactor by 2028 using a field-reversed configuration. TAE Technologies has raised over $1 billion and is pursuing a linear design w</a:t>
            </a:r>
          </a:p>
          <a:p>
            <a:pPr>
              <a:spcAft>
                <a:spcPts val="600"/>
              </a:spcAft>
              <a:defRPr sz="819">
                <a:solidFill>
                  <a:srgbClr val="333333"/>
                </a:solidFill>
              </a:defRPr>
            </a:pPr>
            <a:r>
              <a:t>These private companies are driven by a sense of urgency and a willingness to take risks. They are pursuing innovative designs and faster timelines than public projects. However, they also face significant technical and financial risks. Many are still at the p</a:t>
            </a:r>
          </a:p>
          <a:p>
            <a:pPr>
              <a:spcBef>
                <a:spcPts val="600"/>
              </a:spcBef>
              <a:defRPr sz="819" b="1">
                <a:solidFill>
                  <a:srgbClr val="003087"/>
                </a:solidFill>
              </a:defRPr>
            </a:pPr>
            <a:r>
              <a:t>Key implications</a:t>
            </a:r>
          </a:p>
          <a:p>
            <a:pPr>
              <a:defRPr sz="730">
                <a:solidFill>
                  <a:srgbClr val="333333"/>
                </a:solidFill>
              </a:defRPr>
            </a:pPr>
            <a:r>
              <a:t>- Private startups have raised over $5 billion and are pursuing aggressive timelines.</a:t>
            </a:r>
          </a:p>
          <a:p>
            <a:pPr>
              <a:defRPr sz="730">
                <a:solidFill>
                  <a:srgbClr val="333333"/>
                </a:solidFill>
              </a:defRPr>
            </a:pPr>
            <a:r>
              <a:t>- Public projects like ITER provide essential foundational science and infrastructure.</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Investments Should Focus on Enabling Technologies and Early Partnerships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Investments Should Focus on Enabling Technologies and Early Partnerships</a:t>
            </a:r>
          </a:p>
          <a:p>
            <a:pPr>
              <a:defRPr sz="830">
                <a:solidFill>
                  <a:srgbClr val="64696E"/>
                </a:solidFill>
              </a:defRPr>
            </a:pPr>
            <a:r>
              <a:t>Key enabling technologies include high-temperature superconductors, tritium breeding, and advanced materials. Early partnerships with fusion developers can provide prefer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Strategic investments in fusion should focus on enabling technologies that are critical to multiple reactor designs. High-temperature superconductors (HTS) are a key enabler for compact tokamaks like SPARC, allowing stronger magnetic fields in a smaller device</a:t>
            </a:r>
          </a:p>
          <a:p>
            <a:pPr>
              <a:spcAft>
                <a:spcPts val="600"/>
              </a:spcAft>
              <a:defRPr sz="819">
                <a:solidFill>
                  <a:srgbClr val="333333"/>
                </a:solidFill>
              </a:defRPr>
            </a:pPr>
            <a:r>
              <a:t>Tritium breeding is another critical technology. Fusion reactors require tritium as fuel, but tritium is scarce and must be bred from lithium in a blanket surrounding the reactor. Developing efficient tritium breeding systems is essential for commercial fusion</a:t>
            </a:r>
          </a:p>
          <a:p>
            <a:pPr>
              <a:spcAft>
                <a:spcPts val="600"/>
              </a:spcAft>
              <a:defRPr sz="819">
                <a:solidFill>
                  <a:srgbClr val="333333"/>
                </a:solidFill>
              </a:defRPr>
            </a:pPr>
            <a:r>
              <a:t>Advanced materials for reactor walls and components are also needed. Fusion reactors produce high-energy neutrons that can damage materials over time. Developing materials that can withstand high neutron fluxes and high temperatures is a key challenge. Researc</a:t>
            </a:r>
          </a:p>
          <a:p>
            <a:pPr>
              <a:spcBef>
                <a:spcPts val="600"/>
              </a:spcBef>
              <a:defRPr sz="819" b="1">
                <a:solidFill>
                  <a:srgbClr val="003087"/>
                </a:solidFill>
              </a:defRPr>
            </a:pPr>
            <a:r>
              <a:t>Key implications</a:t>
            </a:r>
          </a:p>
          <a:p>
            <a:pPr>
              <a:defRPr sz="730">
                <a:solidFill>
                  <a:srgbClr val="333333"/>
                </a:solidFill>
              </a:defRPr>
            </a:pPr>
            <a:r>
              <a:t>- Invest in enabling technologies: high-temperature superconductors, tritium breeding, advanced ma</a:t>
            </a:r>
          </a:p>
          <a:p>
            <a:pPr>
              <a:defRPr sz="730">
                <a:solidFill>
                  <a:srgbClr val="333333"/>
                </a:solidFill>
              </a:defRPr>
            </a:pPr>
            <a:r>
              <a:t>- Early partnerships with fusion developers can secure preferential access to PPAs.</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and Policy Frameworks Must Be Developed to Enable Fusion Commercialization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and Policy Frameworks Must Be Developed to Enable Fusion Commercialization</a:t>
            </a:r>
          </a:p>
          <a:p>
            <a:pPr>
              <a:defRPr sz="830">
                <a:solidFill>
                  <a:srgbClr val="64696E"/>
                </a:solidFill>
              </a:defRPr>
            </a:pPr>
            <a:r>
              <a:t>Fusion-specific regulatory frameworks are still undeveloped, creating uncertainty for investors and developers. Executives should engage with regulators and support risk-</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regulatory landscape for fusion energy is still in its infancy. Unlike nuclear fission, which has a well-established regulatory framework, fusion does not have a dedicated licensing process in most countries. This creates uncertainty for developers and inv</a:t>
            </a:r>
          </a:p>
          <a:p>
            <a:pPr>
              <a:spcAft>
                <a:spcPts val="600"/>
              </a:spcAft>
              <a:defRPr sz="819">
                <a:solidFill>
                  <a:srgbClr val="333333"/>
                </a:solidFill>
              </a:defRPr>
            </a:pPr>
            <a:r>
              <a:t>In the United States, the Nuclear Regulatory Commission (NRC) is working on a risk-informed, performance-based framework for fusion. The NRC has issued a white paper outlining its approach, which would treat fusion differently from fission due to its lower ris</a:t>
            </a:r>
          </a:p>
          <a:p>
            <a:pPr>
              <a:spcAft>
                <a:spcPts val="600"/>
              </a:spcAft>
              <a:defRPr sz="819">
                <a:solidFill>
                  <a:srgbClr val="333333"/>
                </a:solidFill>
              </a:defRPr>
            </a:pPr>
            <a:r>
              <a:t>The United Kingdom has taken a more proactive approach. The UK government has established a regulatory framework for fusion that treats it separately from nuclear fission, with a focus on safety and environmental protection. The UK's STEP program aims to build</a:t>
            </a:r>
          </a:p>
          <a:p>
            <a:pPr>
              <a:spcBef>
                <a:spcPts val="600"/>
              </a:spcBef>
              <a:defRPr sz="819" b="1">
                <a:solidFill>
                  <a:srgbClr val="003087"/>
                </a:solidFill>
              </a:defRPr>
            </a:pPr>
            <a:r>
              <a:t>Key implications</a:t>
            </a:r>
          </a:p>
          <a:p>
            <a:pPr>
              <a:defRPr sz="730">
                <a:solidFill>
                  <a:srgbClr val="333333"/>
                </a:solidFill>
              </a:defRPr>
            </a:pPr>
            <a:r>
              <a:t>- Fusion-specific regulatory frameworks are still undeveloped, creating uncertainty.</a:t>
            </a:r>
          </a:p>
          <a:p>
            <a:pPr>
              <a:defRPr sz="730">
                <a:solidFill>
                  <a:srgbClr val="333333"/>
                </a:solidFill>
              </a:defRPr>
            </a:pPr>
            <a:r>
              <a:t>- Engage with regulators early; support risk-informed, performance-based regulations.</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Outlook and Strategic Implications should be managed as a staged strategic option, not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Outlook and Strategic Implications should be managed as a staged strategic option, no</a:t>
            </a:r>
          </a:p>
          <a:p>
            <a:pPr>
              <a:defRPr sz="830">
                <a:solidFill>
                  <a:srgbClr val="64696E"/>
                </a:solidFill>
              </a:defRPr>
            </a:pPr>
            <a:r>
              <a:t>The CEO question is which moves are safe now and which should wait for stronger proof.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Commercialization Outlook and Strategic Implications is easier to misread when it is framed as a yes-or-no bet. The better reading separates near-term learning moves, option-building partnerships and commitments that would require stronger comme</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Aft>
                <a:spcPts val="600"/>
              </a:spcAft>
              <a:defRPr sz="819">
                <a:solidFill>
                  <a:srgbClr val="333333"/>
                </a:solidFill>
              </a:defRPr>
            </a:pPr>
            <a:r>
              <a:t>In capital terms, the current source base is useful but incomplete. A public source anchors this point: The Department of Energy has been a leader in fusion energy research since the 1950s and supports groundbreaking advances today. A quarterly review rhythm i</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Reserve major commitments for stronger proof</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teams, 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Every major assumption needs a verifiable claim behind it: target customer, buying trigger, budget owner, substitute, use case and payback path. Where sourced evidence is missing, the claim should remain directional.</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for Senior Executives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