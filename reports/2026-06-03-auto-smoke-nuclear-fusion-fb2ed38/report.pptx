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Strategic Implications for Energy Markets and Investment</a:t>
            </a:r>
          </a:p>
          <a:p>
            <a:pPr>
              <a:spcBef>
                <a:spcPts val="1400"/>
              </a:spcBef>
              <a:defRPr sz="950">
                <a:solidFill>
                  <a:srgbClr val="64696E"/>
                </a:solidFill>
              </a:defRPr>
            </a:pPr>
            <a:r>
              <a:t>A Decision-Ready Assessment for Senior Executives and Investors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Commercialization Is Unlikely Before the 2040s Despite Recent Progress</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Private Fusion Ventures Are Accelerating Timelines but Face Significant Hurdles</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Fusion Will Complement Renewables Rather Than Replace Them in a Decarbonized Grid</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First-Mover Advantages in Fusion Are Limited Due to Long Development Cycles and High Capital Costs</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Geopolitical Competition in Fusion Is Intensifying, Especially Between the US and China</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Nuclear Fusion Commercialization: Strategic Implications for Energy Markets and Investment should be managed a</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Commercial readiness depends on bankability, deliverability and repeat customer proof</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Cost, return and timing will determine the real deployment window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Nuclear fusion commercialization is unlikely before the 2040s despite recent technical breakthroughs, with private ventures acceleratin</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Fusion will complement renewables in a decarbonized grid, not replace them, and first-mover advantages are limited due to long developm</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Key technical challenges (plasma confinement, materials, tritium breeding) are unresolved, and no complete regulatory framework exists.</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The primary risk is that fusion may remain uneconomical compared to rapidly falling renewables and storage costs.</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Immediate next step: organizations should invest in strategic partnerships and monitor milestones from leading projects (SPARC, ITER, S</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Commercialization Is Unlikely Before the 2040s Despite Recent Progress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Commercialization Is Unlikely Before the 2040s Despite Recent Progress</a:t>
            </a:r>
          </a:p>
          <a:p>
            <a:pPr>
              <a:defRPr sz="830">
                <a:solidFill>
                  <a:srgbClr val="64696E"/>
                </a:solidFill>
              </a:defRPr>
            </a:pPr>
            <a:r>
              <a:t>This chapter concludes that fusion commercialization is unlikely before the 2040s, meaning executives should plan for a 15-20 year horizon and avoid near-term capital all</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path to commercial fusion power remains long and uncertain. ITER, the flagship international experiment, has experienced repeated delays and cost overruns; its first plasma is now expected in 2025, with full deuterium-tritium operation not until the 2030s.</a:t>
            </a:r>
          </a:p>
          <a:p>
            <a:pPr>
              <a:spcAft>
                <a:spcPts val="600"/>
              </a:spcAft>
              <a:defRPr sz="819">
                <a:solidFill>
                  <a:srgbClr val="333333"/>
                </a:solidFill>
              </a:defRPr>
            </a:pPr>
            <a:r>
              <a:t>Key technical hurdles include achieving stable plasma confinement for extended periods, developing materials that can withstand extreme neutron bombardment, and demonstrating tritium breeding at scale. Tritium supply is a critical bottleneck: first-generation</a:t>
            </a:r>
          </a:p>
          <a:p>
            <a:pPr>
              <a:spcAft>
                <a:spcPts val="600"/>
              </a:spcAft>
              <a:defRPr sz="819">
                <a:solidFill>
                  <a:srgbClr val="333333"/>
                </a:solidFill>
              </a:defRPr>
            </a:pPr>
            <a:r>
              <a:t>For leadership teams, the implication is clear: fusion is not a near-term solution. Capital allocation decisions should be based on a 15-20 year horizon, and organizations should avoid overcommitting to unproven timelines. Monitoring technical milestones from</a:t>
            </a:r>
          </a:p>
          <a:p>
            <a:pPr>
              <a:spcBef>
                <a:spcPts val="600"/>
              </a:spcBef>
              <a:defRPr sz="819" b="1">
                <a:solidFill>
                  <a:srgbClr val="003087"/>
                </a:solidFill>
              </a:defRPr>
            </a:pPr>
            <a:r>
              <a:t>Key implications</a:t>
            </a:r>
          </a:p>
          <a:p>
            <a:pPr>
              <a:defRPr sz="730">
                <a:solidFill>
                  <a:srgbClr val="333333"/>
                </a:solidFill>
              </a:defRPr>
            </a:pPr>
            <a:r>
              <a:t>- Fusion commercialization is unlikely before the 2040s.</a:t>
            </a:r>
          </a:p>
          <a:p>
            <a:pPr>
              <a:defRPr sz="730">
                <a:solidFill>
                  <a:srgbClr val="333333"/>
                </a:solidFill>
              </a:defRPr>
            </a:pPr>
            <a:r>
              <a:t>- Key technical hurdles remain unresolved.</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Private Fusion Ventures Are Accelerating Timelines but Face Significant Hurdles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Private Fusion Ventures Are Accelerating Timelines but Face Significant Hurdles</a:t>
            </a:r>
          </a:p>
          <a:p>
            <a:pPr>
              <a:defRPr sz="830">
                <a:solidFill>
                  <a:srgbClr val="64696E"/>
                </a:solidFill>
              </a:defRPr>
            </a:pPr>
            <a:r>
              <a:t>This chapter concludes that private fusion ventures are accelerating timelines but face significant hurdles, meaning executives should treat private timelines as aspirati</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Over 30 private fusion companies have raised more than $5 billion in total funding since 2015, with notable rounds from Commonwealth Fusion Systems ($2 billion), Helion Energy ($500 million), and TAE Technologies ($1.2 billion). These ventures promise faster t</a:t>
            </a:r>
          </a:p>
          <a:p>
            <a:pPr>
              <a:spcAft>
                <a:spcPts val="600"/>
              </a:spcAft>
              <a:defRPr sz="819">
                <a:solidFill>
                  <a:srgbClr val="333333"/>
                </a:solidFill>
              </a:defRPr>
            </a:pPr>
            <a:r>
              <a:t>The economic viability of private fusion remains uncertain. First-of-a-kind plants are expected to cost $5-10 billion or more, with construction timelines of 10-15 years. Learning curves may reduce costs over time, but early movers face technology risk and reg</a:t>
            </a:r>
          </a:p>
          <a:p>
            <a:pPr>
              <a:spcAft>
                <a:spcPts val="600"/>
              </a:spcAft>
              <a:defRPr sz="819">
                <a:solidFill>
                  <a:srgbClr val="333333"/>
                </a:solidFill>
              </a:defRPr>
            </a:pPr>
            <a:r>
              <a:t>For decision-makers, the key is to treat private timelines as aspirational. Strategic partnerships with milestone-based investment options can provide upside exposure while limiting downside risk. Companies should also consider investing in enabling technologi</a:t>
            </a:r>
          </a:p>
          <a:p>
            <a:pPr>
              <a:spcBef>
                <a:spcPts val="600"/>
              </a:spcBef>
              <a:defRPr sz="819" b="1">
                <a:solidFill>
                  <a:srgbClr val="003087"/>
                </a:solidFill>
              </a:defRPr>
            </a:pPr>
            <a:r>
              <a:t>Key implications</a:t>
            </a:r>
          </a:p>
          <a:p>
            <a:pPr>
              <a:defRPr sz="730">
                <a:solidFill>
                  <a:srgbClr val="333333"/>
                </a:solidFill>
              </a:defRPr>
            </a:pPr>
            <a:r>
              <a:t>- Private fusion ventures have raised over $5 billion but no net energy gain demonstrated.</a:t>
            </a:r>
          </a:p>
          <a:p>
            <a:pPr>
              <a:defRPr sz="730">
                <a:solidFill>
                  <a:srgbClr val="333333"/>
                </a:solidFill>
              </a:defRPr>
            </a:pPr>
            <a:r>
              <a:t>- Economic viability uncertain; first-of-a-kind plants cost $5-10 billion.</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Will Complement Renewables Rather Than Replace Them in a Decarbonized Grid</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Will Complement Renewables Rather Than Replace Them in a Decarbonized Grid</a:t>
            </a:r>
          </a:p>
          <a:p>
            <a:pPr>
              <a:defRPr sz="830">
                <a:solidFill>
                  <a:srgbClr val="64696E"/>
                </a:solidFill>
              </a:defRPr>
            </a:pPr>
            <a:r>
              <a:t>This chapter concludes that fusion will complement renewables rather than replace them, meaning executives should integrate fusion into long-term planning as a complement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is best suited for baseload power and industrial heat, not for peaking or distributed generation. Renewables like solar and wind are projected to reach levelized costs of $20-40 per MWh by 2030, while fusion LCOE estimates range from $50-100 per MWh for</a:t>
            </a:r>
          </a:p>
          <a:p>
            <a:pPr>
              <a:spcAft>
                <a:spcPts val="600"/>
              </a:spcAft>
              <a:defRPr sz="819">
                <a:solidFill>
                  <a:srgbClr val="333333"/>
                </a:solidFill>
              </a:defRPr>
            </a:pPr>
            <a:r>
              <a:t>In hard-to-abate sectors such as heavy industry, shipping, and aviation, fusion could play a transformative role by providing high-temperature heat for industrial processes or enabling green hydrogen production. These applications may offer higher value than g</a:t>
            </a:r>
          </a:p>
          <a:p>
            <a:pPr>
              <a:spcAft>
                <a:spcPts val="600"/>
              </a:spcAft>
              <a:defRPr sz="819">
                <a:solidFill>
                  <a:srgbClr val="333333"/>
                </a:solidFill>
              </a:defRPr>
            </a:pPr>
            <a:r>
              <a:t>For energy companies, the strategic implication is to integrate fusion into long-term planning as a complement to renewables, not a competitor. Investments in grid flexibility, storage, and hydrogen infrastructure will remain critical regardless of fusion's ti</a:t>
            </a:r>
          </a:p>
          <a:p>
            <a:pPr>
              <a:spcBef>
                <a:spcPts val="600"/>
              </a:spcBef>
              <a:defRPr sz="819" b="1">
                <a:solidFill>
                  <a:srgbClr val="003087"/>
                </a:solidFill>
              </a:defRPr>
            </a:pPr>
            <a:r>
              <a:t>Key implications</a:t>
            </a:r>
          </a:p>
          <a:p>
            <a:pPr>
              <a:defRPr sz="730">
                <a:solidFill>
                  <a:srgbClr val="333333"/>
                </a:solidFill>
              </a:defRPr>
            </a:pPr>
            <a:r>
              <a:t>- Fusion LCOE $50-100/MWh vs renewables $20-40/MWh by 2030.</a:t>
            </a:r>
          </a:p>
          <a:p>
            <a:pPr>
              <a:defRPr sz="730">
                <a:solidFill>
                  <a:srgbClr val="333333"/>
                </a:solidFill>
              </a:defRPr>
            </a:pPr>
            <a:r>
              <a:t>- Fusion best for baseload and industrial heat, not peaking.</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First-Mover Advantages in Fusion Are Limited Due to Long Development Cycles and High Capital Costs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First-Mover Advantages in Fusion Are Limited Due to Long Development Cycles and High Capital Costs</a:t>
            </a:r>
          </a:p>
          <a:p>
            <a:pPr>
              <a:defRPr sz="830">
                <a:solidFill>
                  <a:srgbClr val="64696E"/>
                </a:solidFill>
              </a:defRPr>
            </a:pPr>
            <a:r>
              <a:t>This chapter concludes that first-mover advantages are limited, meaning executives should avoid large early commitments and consider fast-follower strategies or consortiu</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high capital costs and long construction timelines of fusion plants limit the value of being first to market. First-of-a-kind plants are expected to cost $5-10 billion or more, with construction taking 10-15 years. Learning curves may reduce costs for subs</a:t>
            </a:r>
          </a:p>
          <a:p>
            <a:pPr>
              <a:spcAft>
                <a:spcPts val="600"/>
              </a:spcAft>
              <a:defRPr sz="819">
                <a:solidFill>
                  <a:srgbClr val="333333"/>
                </a:solidFill>
              </a:defRPr>
            </a:pPr>
            <a:r>
              <a:t>Instead of pursuing first-mover status, companies should consider a 'fast follower' strategy: invest in enabling technologies and supply chains, and be ready to deploy once the technology is proven at commercial scale. Consortium participation or technology li</a:t>
            </a:r>
          </a:p>
          <a:p>
            <a:pPr>
              <a:spcAft>
                <a:spcPts val="600"/>
              </a:spcAft>
              <a:defRPr sz="819">
                <a:solidFill>
                  <a:srgbClr val="333333"/>
                </a:solidFill>
              </a:defRPr>
            </a:pPr>
            <a:r>
              <a:t>For investors, the implication is to avoid large early commitments. Milestone-based investments and diversified portfolios across multiple fusion concepts can manage risk while maintaining exposure to potential upside.</a:t>
            </a:r>
          </a:p>
          <a:p>
            <a:pPr>
              <a:spcBef>
                <a:spcPts val="600"/>
              </a:spcBef>
              <a:defRPr sz="819" b="1">
                <a:solidFill>
                  <a:srgbClr val="003087"/>
                </a:solidFill>
              </a:defRPr>
            </a:pPr>
            <a:r>
              <a:t>Key implications</a:t>
            </a:r>
          </a:p>
          <a:p>
            <a:pPr>
              <a:defRPr sz="730">
                <a:solidFill>
                  <a:srgbClr val="333333"/>
                </a:solidFill>
              </a:defRPr>
            </a:pPr>
            <a:r>
              <a:t>- First-of-a-kind plants cost $5-10 billion; construction 10-15 years.</a:t>
            </a:r>
          </a:p>
          <a:p>
            <a:pPr>
              <a:defRPr sz="730">
                <a:solidFill>
                  <a:srgbClr val="333333"/>
                </a:solidFill>
              </a:defRPr>
            </a:pPr>
            <a:r>
              <a:t>- Fast-follower strategy reduces risk.</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Geopolitical Competition in Fusion Is Intensifying, Especially Between the US and China</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Geopolitical Competition in Fusion Is Intensifying, Especially Between the US and China</a:t>
            </a:r>
          </a:p>
          <a:p>
            <a:pPr>
              <a:defRPr sz="830">
                <a:solidFill>
                  <a:srgbClr val="64696E"/>
                </a:solidFill>
              </a:defRPr>
            </a:pPr>
            <a:r>
              <a:t>This chapter concludes that geopolitical competition is intensifying, meaning executives should monitor national strategies for supply chain and talent implications and c</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 has announced a $1.5 billion national fusion program and is building the CFETR reactor, aiming for operation by the 2030s. The US Department of Energy launched a $50 million public-private fusion program in 2023.</a:t>
            </a:r>
          </a:p>
          <a:p>
            <a:pPr>
              <a:spcAft>
                <a:spcPts val="600"/>
              </a:spcAft>
              <a:defRPr sz="819">
                <a:solidFill>
                  <a:srgbClr val="333333"/>
                </a:solidFill>
              </a:defRPr>
            </a:pPr>
            <a:r>
              <a:t>The source backup should be used to validate this section before it is used for a decision.</a:t>
            </a:r>
          </a:p>
          <a:p>
            <a:pPr>
              <a:spcBef>
                <a:spcPts val="600"/>
              </a:spcBef>
              <a:defRPr sz="819" b="1">
                <a:solidFill>
                  <a:srgbClr val="003087"/>
                </a:solidFill>
              </a:defRPr>
            </a:pPr>
            <a:r>
              <a:t>Key implications</a:t>
            </a:r>
          </a:p>
          <a:p>
            <a:pPr>
              <a:defRPr sz="730">
                <a:solidFill>
                  <a:srgbClr val="333333"/>
                </a:solidFill>
              </a:defRPr>
            </a:pPr>
            <a:r>
              <a:t>- Geopolitical competition is intensifying.</a:t>
            </a:r>
          </a:p>
          <a:p>
            <a:pPr>
              <a:defRPr sz="730">
                <a:solidFill>
                  <a:srgbClr val="333333"/>
                </a:solidFill>
              </a:defRPr>
            </a:pPr>
            <a:r>
              <a:t>- Monitor national strategies for supply chain and talent implications.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Strategic Implications for Energy Markets and Investment should be managed as a staged</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Strategic Implications for Energy Markets and Investment should be managed as a stag</a:t>
            </a:r>
          </a:p>
          <a:p>
            <a:pPr>
              <a:defRPr sz="830">
                <a:solidFill>
                  <a:srgbClr val="64696E"/>
                </a:solidFill>
              </a:defRPr>
            </a:pPr>
            <a:r>
              <a:t>The CEO question is which moves are safe now and which should wait for stronger evidence.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leadership, Nuclear Fusion Commercialization: Strategic Implications for Energy Markets and Investment should be separated into verified facts, directional scenarios and open diligence items. That boundary keeps the report from turning market enthusiasm or</a:t>
            </a:r>
          </a:p>
          <a:p>
            <a:pPr>
              <a:spcAft>
                <a:spcPts val="600"/>
              </a:spcAft>
              <a:defRPr sz="819">
                <a:solidFill>
                  <a:srgbClr val="333333"/>
                </a:solidFill>
              </a:defRPr>
            </a:pPr>
            <a:r>
              <a:t>The immediate management question is not whether the opportunity is exciting; it is whether budget, partner access or management attention should be committed now. Low-cost validation can start early, while larger capital commitments should wait for customer,</a:t>
            </a:r>
          </a:p>
          <a:p>
            <a:pPr>
              <a:spcAft>
                <a:spcPts val="600"/>
              </a:spcAft>
              <a:defRPr sz="819">
                <a:solidFill>
                  <a:srgbClr val="333333"/>
                </a:solidFill>
              </a:defRPr>
            </a:pPr>
            <a:r>
              <a:t>The current evidence posture is: Public evidence retained in the source backup; additional validation is required for unsupported claims. This makes a quarterly decision cadence more useful than a one-time yes-or-no judgment.</a:t>
            </a:r>
          </a:p>
          <a:p>
            <a:pPr>
              <a:spcBef>
                <a:spcPts val="600"/>
              </a:spcBef>
              <a:defRPr sz="819" b="1">
                <a:solidFill>
                  <a:srgbClr val="003087"/>
                </a:solidFill>
              </a:defRPr>
            </a:pPr>
            <a:r>
              <a:t>Key implications</a:t>
            </a:r>
          </a:p>
          <a:p>
            <a:pPr>
              <a:defRPr sz="730">
                <a:solidFill>
                  <a:srgbClr val="333333"/>
                </a:solidFill>
              </a:defRPr>
            </a:pPr>
            <a:r>
              <a:t>- Start with low-cost validation</a:t>
            </a:r>
          </a:p>
          <a:p>
            <a:pPr>
              <a:defRPr sz="730">
                <a:solidFill>
                  <a:srgbClr val="333333"/>
                </a:solidFill>
              </a:defRPr>
            </a:pPr>
            <a:r>
              <a:t>- Hold major commitments behind evidence gates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Commercial readiness depends on bankability, deliverability and repeat customer proof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Commercial readiness depends on bankability, deliverability and repeat customer proof</a:t>
            </a:r>
          </a:p>
          <a:p>
            <a:pPr>
              <a:defRPr sz="830">
                <a:solidFill>
                  <a:srgbClr val="64696E"/>
                </a:solidFill>
              </a:defRPr>
            </a:pPr>
            <a:r>
              <a:t>Technical feasibility matters only when it changes customer value, cost position and execution confidence.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Commercial readiness should be judged through customer adoption, cost structure, delivery cycle, service capability and financing availability. A technical milestone alone does not prove bankability or repeat demand.</a:t>
            </a:r>
          </a:p>
          <a:p>
            <a:pPr>
              <a:spcAft>
                <a:spcPts val="600"/>
              </a:spcAft>
              <a:defRPr sz="819">
                <a:solidFill>
                  <a:srgbClr val="333333"/>
                </a:solidFill>
              </a:defRPr>
            </a:pPr>
            <a:r>
              <a:t>Management should require every major assumption to tie back to a verifiable claim: target customer, buying trigger, budget owner, substitute, use case and payback path. Where public evidence is missing, the report should keep the claim directional.</a:t>
            </a:r>
          </a:p>
          <a:p>
            <a:pPr>
              <a:spcAft>
                <a:spcPts val="600"/>
              </a:spcAft>
              <a:defRPr sz="819">
                <a:solidFill>
                  <a:srgbClr val="333333"/>
                </a:solidFill>
              </a:defRPr>
            </a:pPr>
            <a:r>
              <a:t>A more robust path is to build credible proof through pilots, partner diligence and third-party validation before moving into larger commitments.</a:t>
            </a:r>
          </a:p>
          <a:p>
            <a:pPr>
              <a:spcBef>
                <a:spcPts val="600"/>
              </a:spcBef>
              <a:defRPr sz="819" b="1">
                <a:solidFill>
                  <a:srgbClr val="003087"/>
                </a:solidFill>
              </a:defRPr>
            </a:pPr>
            <a:r>
              <a:t>Key implications</a:t>
            </a:r>
          </a:p>
          <a:p>
            <a:pPr>
              <a:defRPr sz="730">
                <a:solidFill>
                  <a:srgbClr val="333333"/>
                </a:solidFill>
              </a:defRPr>
            </a:pPr>
            <a:r>
              <a:t>- Customer value changes decisions more than technical narrative</a:t>
            </a:r>
          </a:p>
          <a:p>
            <a:pPr>
              <a:defRPr sz="730">
                <a:solidFill>
                  <a:srgbClr val="333333"/>
                </a:solidFill>
              </a:defRPr>
            </a:pPr>
            <a:r>
              <a:t>- Validate bankability and delivery risk first</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Cost, return and timing will determine the real deployment window</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Cost, return and timing will determine the real deployment window</a:t>
            </a:r>
          </a:p>
          <a:p>
            <a:pPr>
              <a:defRPr sz="830">
                <a:solidFill>
                  <a:srgbClr val="64696E"/>
                </a:solidFill>
              </a:defRPr>
            </a:pPr>
            <a:r>
              <a:t>Market size should not enter an investment case until the cost and return logic can be checked.</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Every opportunity eventually returns to cost, revenue, margin, cash flow and timing. If public evidence does not support market size, ROI, unit economics or share, those items should remain validation tasks rather than report conclusions.</a:t>
            </a:r>
          </a:p>
          <a:p>
            <a:pPr>
              <a:spcAft>
                <a:spcPts val="600"/>
              </a:spcAft>
              <a:defRPr sz="819">
                <a:solidFill>
                  <a:srgbClr val="333333"/>
                </a:solidFill>
              </a:defRPr>
            </a:pPr>
            <a:r>
              <a:t>Near-term action should focus on verifiable cost drivers and customer willingness to pay instead of relying on optimistic long-range scenarios. That protects strategic optionality while reducing premature commitment risk.</a:t>
            </a:r>
          </a:p>
          <a:p>
            <a:pPr>
              <a:spcAft>
                <a:spcPts val="600"/>
              </a:spcAft>
              <a:defRPr sz="819">
                <a:solidFill>
                  <a:srgbClr val="333333"/>
                </a:solidFill>
              </a:defRPr>
            </a:pPr>
            <a:r>
              <a:t>As cost, customer and financing evidence improves, management can shift resources from monitoring and partnerships toward pilots or scaled deployment.</a:t>
            </a:r>
          </a:p>
          <a:p>
            <a:pPr>
              <a:spcBef>
                <a:spcPts val="600"/>
              </a:spcBef>
              <a:defRPr sz="819" b="1">
                <a:solidFill>
                  <a:srgbClr val="003087"/>
                </a:solidFill>
              </a:defRPr>
            </a:pPr>
            <a:r>
              <a:t>Key implications</a:t>
            </a:r>
          </a:p>
          <a:p>
            <a:pPr>
              <a:defRPr sz="730">
                <a:solidFill>
                  <a:srgbClr val="333333"/>
                </a:solidFill>
              </a:defRPr>
            </a:pPr>
            <a:r>
              <a:t>- Cost and ROI are priority diligence items</a:t>
            </a:r>
          </a:p>
          <a:p>
            <a:pPr>
              <a:defRPr sz="730">
                <a:solidFill>
                  <a:srgbClr val="333333"/>
                </a:solidFill>
              </a:defRPr>
            </a:pPr>
            <a:r>
              <a:t>- Timing should move with evidence quality</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Assessment for Senior Executives and Investors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