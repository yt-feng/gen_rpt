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over-ai.png"/>
          <p:cNvPicPr>
            <a:picLocks noChangeAspect="1"/>
          </p:cNvPicPr>
          <p:nvPr/>
        </p:nvPicPr>
        <p:blipFill>
          <a:blip r:embed="rId2"/>
          <a:stretch>
            <a:fillRect/>
          </a:stretch>
        </p:blipFill>
        <p:spPr>
          <a:xfrm>
            <a:off x="0" y="0"/>
            <a:ext cx="12191695" cy="6858000"/>
          </a:xfrm>
          <a:prstGeom prst="rect">
            <a:avLst/>
          </a:prstGeom>
        </p:spPr>
      </p:pic>
      <p:sp>
        <p:nvSpPr>
          <p:cNvPr id="3" name="Rectangle 2"/>
          <p:cNvSpPr/>
          <p:nvPr/>
        </p:nvSpPr>
        <p:spPr>
          <a:xfrm>
            <a:off x="0" y="0"/>
            <a:ext cx="12191695" cy="6858000"/>
          </a:xfrm>
          <a:prstGeom prst="rect">
            <a:avLst/>
          </a:prstGeom>
          <a:solidFill>
            <a:srgbClr val="051C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658368" y="685800"/>
            <a:ext cx="4892040" cy="3429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658368" y="685800"/>
            <a:ext cx="4892040" cy="73152"/>
          </a:xfrm>
          <a:prstGeom prst="rect">
            <a:avLst/>
          </a:prstGeom>
          <a:solidFill>
            <a:srgbClr val="3273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60120" y="960120"/>
            <a:ext cx="4251960" cy="2743200"/>
          </a:xfrm>
          <a:prstGeom prst="rect">
            <a:avLst/>
          </a:prstGeom>
          <a:noFill/>
        </p:spPr>
        <p:txBody>
          <a:bodyPr wrap="square">
            <a:spAutoFit/>
          </a:bodyPr>
          <a:lstStyle/>
          <a:p>
            <a:pPr>
              <a:defRPr sz="900" b="1">
                <a:solidFill>
                  <a:srgbClr val="003087"/>
                </a:solidFill>
              </a:defRPr>
            </a:pPr>
            <a:r>
              <a:t>BLUEOCEAN</a:t>
            </a:r>
          </a:p>
          <a:p>
            <a:pPr>
              <a:spcBef>
                <a:spcPts val="1800"/>
              </a:spcBef>
              <a:defRPr sz="2300">
                <a:solidFill>
                  <a:srgbClr val="333333"/>
                </a:solidFill>
              </a:defRPr>
            </a:pPr>
            <a:r>
              <a:t>Nuclear Fusion Commercialization: Strategic Outlook and Implications for Decision-Makers</a:t>
            </a:r>
          </a:p>
          <a:p>
            <a:pPr>
              <a:spcBef>
                <a:spcPts val="1400"/>
              </a:spcBef>
              <a:defRPr sz="950">
                <a:solidFill>
                  <a:srgbClr val="64696E"/>
                </a:solidFill>
              </a:defRPr>
            </a:pPr>
            <a:r>
              <a:t>A BlueOcean Research Report on the Path to Grid-Scale Viability and Capital Allocation</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682935" y="164592"/>
            <a:ext cx="1115568" cy="219456"/>
          </a:xfrm>
          <a:prstGeom prst="rect">
            <a:avLst/>
          </a:prstGeom>
          <a:noFill/>
        </p:spPr>
        <p:txBody>
          <a:bodyPr wrap="none">
            <a:spAutoFit/>
          </a:bodyPr>
          <a:lstStyle/>
          <a:p>
            <a:pPr algn="r">
              <a:defRPr sz="800" b="1">
                <a:solidFill>
                  <a:srgbClr val="003087"/>
                </a:solidFill>
              </a:defRPr>
            </a:pPr>
            <a:r>
              <a:t>BlueOcean</a:t>
            </a:r>
          </a:p>
        </p:txBody>
      </p:sp>
      <p:sp>
        <p:nvSpPr>
          <p:cNvPr id="3" name="TextBox 2"/>
          <p:cNvSpPr txBox="1"/>
          <p:nvPr/>
        </p:nvSpPr>
        <p:spPr>
          <a:xfrm>
            <a:off x="566928" y="6601968"/>
            <a:ext cx="11057839" cy="146304"/>
          </a:xfrm>
          <a:prstGeom prst="rect">
            <a:avLst/>
          </a:prstGeom>
          <a:noFill/>
        </p:spPr>
        <p:txBody>
          <a:bodyPr wrap="none">
            <a:spAutoFit/>
          </a:bodyPr>
          <a:lstStyle/>
          <a:p>
            <a:pPr>
              <a:defRPr sz="600">
                <a:solidFill>
                  <a:srgbClr val="A0A6AD"/>
                </a:solidFill>
              </a:defRPr>
            </a:pPr>
            <a:r>
              <a:t>Contents</a:t>
            </a:r>
          </a:p>
        </p:txBody>
      </p:sp>
      <p:sp>
        <p:nvSpPr>
          <p:cNvPr id="4" name="TextBox 3"/>
          <p:cNvSpPr txBox="1"/>
          <p:nvPr/>
        </p:nvSpPr>
        <p:spPr>
          <a:xfrm>
            <a:off x="566928" y="347472"/>
            <a:ext cx="9692640" cy="841248"/>
          </a:xfrm>
          <a:prstGeom prst="rect">
            <a:avLst/>
          </a:prstGeom>
          <a:noFill/>
        </p:spPr>
        <p:txBody>
          <a:bodyPr wrap="square">
            <a:spAutoFit/>
          </a:bodyPr>
          <a:lstStyle/>
          <a:p>
            <a:pPr>
              <a:defRPr sz="2000" b="0">
                <a:solidFill>
                  <a:srgbClr val="333333"/>
                </a:solidFill>
              </a:defRPr>
            </a:pPr>
            <a:r>
              <a:t>The discussion follows the management question, evidence, and implications</a:t>
            </a:r>
          </a:p>
        </p:txBody>
      </p:sp>
      <p:sp>
        <p:nvSpPr>
          <p:cNvPr id="5" name="Rectangle 4"/>
          <p:cNvSpPr/>
          <p:nvPr/>
        </p:nvSpPr>
        <p:spPr>
          <a:xfrm>
            <a:off x="566928" y="1115568"/>
            <a:ext cx="11057839" cy="9144"/>
          </a:xfrm>
          <a:prstGeom prst="rect">
            <a:avLst/>
          </a:prstGeom>
          <a:solidFill>
            <a:srgbClr val="C8C8C8"/>
          </a:solidFill>
          <a:ln>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66928" y="1417320"/>
            <a:ext cx="502920" cy="274320"/>
          </a:xfrm>
          <a:prstGeom prst="rect">
            <a:avLst/>
          </a:prstGeom>
          <a:noFill/>
        </p:spPr>
        <p:txBody>
          <a:bodyPr wrap="none">
            <a:spAutoFit/>
          </a:bodyPr>
          <a:lstStyle/>
          <a:p>
            <a:pPr>
              <a:defRPr sz="950" b="1">
                <a:solidFill>
                  <a:srgbClr val="003087"/>
                </a:solidFill>
              </a:defRPr>
            </a:pPr>
            <a:r>
              <a:t>01</a:t>
            </a:r>
          </a:p>
        </p:txBody>
      </p:sp>
      <p:sp>
        <p:nvSpPr>
          <p:cNvPr id="7" name="TextBox 6"/>
          <p:cNvSpPr txBox="1"/>
          <p:nvPr/>
        </p:nvSpPr>
        <p:spPr>
          <a:xfrm>
            <a:off x="1143000" y="1417320"/>
            <a:ext cx="9601200" cy="384048"/>
          </a:xfrm>
          <a:prstGeom prst="rect">
            <a:avLst/>
          </a:prstGeom>
          <a:noFill/>
        </p:spPr>
        <p:txBody>
          <a:bodyPr wrap="none">
            <a:spAutoFit/>
          </a:bodyPr>
          <a:lstStyle/>
          <a:p>
            <a:pPr>
              <a:defRPr sz="1260">
                <a:solidFill>
                  <a:srgbClr val="333333"/>
                </a:solidFill>
              </a:defRPr>
            </a:pPr>
            <a:r>
              <a:t>Nuclear Fusion Commercialization: Strategic Outlook and Implications for Decision-Makers should be managed as</a:t>
            </a:r>
          </a:p>
        </p:txBody>
      </p:sp>
      <p:sp>
        <p:nvSpPr>
          <p:cNvPr id="8" name="TextBox 7"/>
          <p:cNvSpPr txBox="1"/>
          <p:nvPr/>
        </p:nvSpPr>
        <p:spPr>
          <a:xfrm>
            <a:off x="566928" y="1874520"/>
            <a:ext cx="502920" cy="274320"/>
          </a:xfrm>
          <a:prstGeom prst="rect">
            <a:avLst/>
          </a:prstGeom>
          <a:noFill/>
        </p:spPr>
        <p:txBody>
          <a:bodyPr wrap="none">
            <a:spAutoFit/>
          </a:bodyPr>
          <a:lstStyle/>
          <a:p>
            <a:pPr>
              <a:defRPr sz="950" b="1">
                <a:solidFill>
                  <a:srgbClr val="003087"/>
                </a:solidFill>
              </a:defRPr>
            </a:pPr>
            <a:r>
              <a:t>02</a:t>
            </a:r>
          </a:p>
        </p:txBody>
      </p:sp>
      <p:sp>
        <p:nvSpPr>
          <p:cNvPr id="9" name="TextBox 8"/>
          <p:cNvSpPr txBox="1"/>
          <p:nvPr/>
        </p:nvSpPr>
        <p:spPr>
          <a:xfrm>
            <a:off x="1143000" y="1874520"/>
            <a:ext cx="9601200" cy="384048"/>
          </a:xfrm>
          <a:prstGeom prst="rect">
            <a:avLst/>
          </a:prstGeom>
          <a:noFill/>
        </p:spPr>
        <p:txBody>
          <a:bodyPr wrap="none">
            <a:spAutoFit/>
          </a:bodyPr>
          <a:lstStyle/>
          <a:p>
            <a:pPr>
              <a:defRPr sz="1260">
                <a:solidFill>
                  <a:srgbClr val="333333"/>
                </a:solidFill>
              </a:defRPr>
            </a:pPr>
            <a:r>
              <a:t>Commercial readiness depends on bankability, deliverability and repeat customer proof</a:t>
            </a:r>
          </a:p>
        </p:txBody>
      </p:sp>
      <p:sp>
        <p:nvSpPr>
          <p:cNvPr id="10" name="TextBox 9"/>
          <p:cNvSpPr txBox="1"/>
          <p:nvPr/>
        </p:nvSpPr>
        <p:spPr>
          <a:xfrm>
            <a:off x="566928" y="2331720"/>
            <a:ext cx="502920" cy="274320"/>
          </a:xfrm>
          <a:prstGeom prst="rect">
            <a:avLst/>
          </a:prstGeom>
          <a:noFill/>
        </p:spPr>
        <p:txBody>
          <a:bodyPr wrap="none">
            <a:spAutoFit/>
          </a:bodyPr>
          <a:lstStyle/>
          <a:p>
            <a:pPr>
              <a:defRPr sz="950" b="1">
                <a:solidFill>
                  <a:srgbClr val="003087"/>
                </a:solidFill>
              </a:defRPr>
            </a:pPr>
            <a:r>
              <a:t>03</a:t>
            </a:r>
          </a:p>
        </p:txBody>
      </p:sp>
      <p:sp>
        <p:nvSpPr>
          <p:cNvPr id="11" name="TextBox 10"/>
          <p:cNvSpPr txBox="1"/>
          <p:nvPr/>
        </p:nvSpPr>
        <p:spPr>
          <a:xfrm>
            <a:off x="1143000" y="2331720"/>
            <a:ext cx="9601200" cy="384048"/>
          </a:xfrm>
          <a:prstGeom prst="rect">
            <a:avLst/>
          </a:prstGeom>
          <a:noFill/>
        </p:spPr>
        <p:txBody>
          <a:bodyPr wrap="none">
            <a:spAutoFit/>
          </a:bodyPr>
          <a:lstStyle/>
          <a:p>
            <a:pPr>
              <a:defRPr sz="1260">
                <a:solidFill>
                  <a:srgbClr val="333333"/>
                </a:solidFill>
              </a:defRPr>
            </a:pPr>
            <a:r>
              <a:t>Cost, return and timing will determine the real deployment window</a:t>
            </a:r>
          </a:p>
        </p:txBody>
      </p:sp>
      <p:sp>
        <p:nvSpPr>
          <p:cNvPr id="12" name="TextBox 11"/>
          <p:cNvSpPr txBox="1"/>
          <p:nvPr/>
        </p:nvSpPr>
        <p:spPr>
          <a:xfrm>
            <a:off x="566928" y="2788920"/>
            <a:ext cx="502920" cy="274320"/>
          </a:xfrm>
          <a:prstGeom prst="rect">
            <a:avLst/>
          </a:prstGeom>
          <a:noFill/>
        </p:spPr>
        <p:txBody>
          <a:bodyPr wrap="none">
            <a:spAutoFit/>
          </a:bodyPr>
          <a:lstStyle/>
          <a:p>
            <a:pPr>
              <a:defRPr sz="950" b="1">
                <a:solidFill>
                  <a:srgbClr val="003087"/>
                </a:solidFill>
              </a:defRPr>
            </a:pPr>
            <a:r>
              <a:t>04</a:t>
            </a:r>
          </a:p>
        </p:txBody>
      </p:sp>
      <p:sp>
        <p:nvSpPr>
          <p:cNvPr id="13" name="TextBox 12"/>
          <p:cNvSpPr txBox="1"/>
          <p:nvPr/>
        </p:nvSpPr>
        <p:spPr>
          <a:xfrm>
            <a:off x="1143000" y="2788920"/>
            <a:ext cx="9601200" cy="384048"/>
          </a:xfrm>
          <a:prstGeom prst="rect">
            <a:avLst/>
          </a:prstGeom>
          <a:noFill/>
        </p:spPr>
        <p:txBody>
          <a:bodyPr wrap="none">
            <a:spAutoFit/>
          </a:bodyPr>
          <a:lstStyle/>
          <a:p>
            <a:pPr>
              <a:defRPr sz="1260">
                <a:solidFill>
                  <a:srgbClr val="333333"/>
                </a:solidFill>
              </a:defRPr>
            </a:pPr>
            <a:r>
              <a:t>Regulation, policy and public acceptance can reset the speed of adoption</a:t>
            </a:r>
          </a:p>
        </p:txBody>
      </p:sp>
      <p:sp>
        <p:nvSpPr>
          <p:cNvPr id="14" name="TextBox 13"/>
          <p:cNvSpPr txBox="1"/>
          <p:nvPr/>
        </p:nvSpPr>
        <p:spPr>
          <a:xfrm>
            <a:off x="566928" y="3246120"/>
            <a:ext cx="502920" cy="274320"/>
          </a:xfrm>
          <a:prstGeom prst="rect">
            <a:avLst/>
          </a:prstGeom>
          <a:noFill/>
        </p:spPr>
        <p:txBody>
          <a:bodyPr wrap="none">
            <a:spAutoFit/>
          </a:bodyPr>
          <a:lstStyle/>
          <a:p>
            <a:pPr>
              <a:defRPr sz="950" b="1">
                <a:solidFill>
                  <a:srgbClr val="003087"/>
                </a:solidFill>
              </a:defRPr>
            </a:pPr>
            <a:r>
              <a:t>05</a:t>
            </a:r>
          </a:p>
        </p:txBody>
      </p:sp>
      <p:sp>
        <p:nvSpPr>
          <p:cNvPr id="15" name="TextBox 14"/>
          <p:cNvSpPr txBox="1"/>
          <p:nvPr/>
        </p:nvSpPr>
        <p:spPr>
          <a:xfrm>
            <a:off x="1143000" y="3246120"/>
            <a:ext cx="9601200" cy="384048"/>
          </a:xfrm>
          <a:prstGeom prst="rect">
            <a:avLst/>
          </a:prstGeom>
          <a:noFill/>
        </p:spPr>
        <p:txBody>
          <a:bodyPr wrap="none">
            <a:spAutoFit/>
          </a:bodyPr>
          <a:lstStyle/>
          <a:p>
            <a:pPr>
              <a:defRPr sz="1260">
                <a:solidFill>
                  <a:srgbClr val="333333"/>
                </a:solidFill>
              </a:defRPr>
            </a:pPr>
            <a:r>
              <a:t>Supply chain, partners and talent will decide who can act before the market is obvious</a:t>
            </a:r>
          </a:p>
        </p:txBody>
      </p:sp>
      <p:sp>
        <p:nvSpPr>
          <p:cNvPr id="16" name="TextBox 15"/>
          <p:cNvSpPr txBox="1"/>
          <p:nvPr/>
        </p:nvSpPr>
        <p:spPr>
          <a:xfrm>
            <a:off x="566928" y="3703320"/>
            <a:ext cx="502920" cy="274320"/>
          </a:xfrm>
          <a:prstGeom prst="rect">
            <a:avLst/>
          </a:prstGeom>
          <a:noFill/>
        </p:spPr>
        <p:txBody>
          <a:bodyPr wrap="none">
            <a:spAutoFit/>
          </a:bodyPr>
          <a:lstStyle/>
          <a:p>
            <a:pPr>
              <a:defRPr sz="950" b="1">
                <a:solidFill>
                  <a:srgbClr val="003087"/>
                </a:solidFill>
              </a:defRPr>
            </a:pPr>
            <a:r>
              <a:t>06</a:t>
            </a:r>
          </a:p>
        </p:txBody>
      </p:sp>
      <p:sp>
        <p:nvSpPr>
          <p:cNvPr id="17" name="TextBox 16"/>
          <p:cNvSpPr txBox="1"/>
          <p:nvPr/>
        </p:nvSpPr>
        <p:spPr>
          <a:xfrm>
            <a:off x="1143000" y="3703320"/>
            <a:ext cx="9601200" cy="384048"/>
          </a:xfrm>
          <a:prstGeom prst="rect">
            <a:avLst/>
          </a:prstGeom>
          <a:noFill/>
        </p:spPr>
        <p:txBody>
          <a:bodyPr wrap="none">
            <a:spAutoFit/>
          </a:bodyPr>
          <a:lstStyle/>
          <a:p>
            <a:pPr>
              <a:defRPr sz="1260">
                <a:solidFill>
                  <a:srgbClr val="333333"/>
                </a:solidFill>
              </a:defRPr>
            </a:pPr>
            <a:r>
              <a:t>Incumbents should protect near-term economics while preserving long-term options</a:t>
            </a:r>
          </a:p>
        </p:txBody>
      </p:sp>
      <p:sp>
        <p:nvSpPr>
          <p:cNvPr id="18" name="TextBox 17"/>
          <p:cNvSpPr txBox="1"/>
          <p:nvPr/>
        </p:nvSpPr>
        <p:spPr>
          <a:xfrm>
            <a:off x="566928" y="4160520"/>
            <a:ext cx="502920" cy="274320"/>
          </a:xfrm>
          <a:prstGeom prst="rect">
            <a:avLst/>
          </a:prstGeom>
          <a:noFill/>
        </p:spPr>
        <p:txBody>
          <a:bodyPr wrap="none">
            <a:spAutoFit/>
          </a:bodyPr>
          <a:lstStyle/>
          <a:p>
            <a:pPr>
              <a:defRPr sz="950" b="1">
                <a:solidFill>
                  <a:srgbClr val="003087"/>
                </a:solidFill>
              </a:defRPr>
            </a:pPr>
            <a:r>
              <a:t>07</a:t>
            </a:r>
          </a:p>
        </p:txBody>
      </p:sp>
      <p:sp>
        <p:nvSpPr>
          <p:cNvPr id="19" name="TextBox 18"/>
          <p:cNvSpPr txBox="1"/>
          <p:nvPr/>
        </p:nvSpPr>
        <p:spPr>
          <a:xfrm>
            <a:off x="1143000" y="4160520"/>
            <a:ext cx="9601200" cy="384048"/>
          </a:xfrm>
          <a:prstGeom prst="rect">
            <a:avLst/>
          </a:prstGeom>
          <a:noFill/>
        </p:spPr>
        <p:txBody>
          <a:bodyPr wrap="none">
            <a:spAutoFit/>
          </a:bodyPr>
          <a:lstStyle/>
          <a:p>
            <a:pPr>
              <a:defRPr sz="1260">
                <a:solidFill>
                  <a:srgbClr val="333333"/>
                </a:solidFill>
              </a:defRPr>
            </a:pPr>
            <a:r>
              <a:t>The management agenda should translate uncertainty into quarterly decision gates</a:t>
            </a:r>
          </a:p>
        </p:txBody>
      </p:sp>
      <p:sp>
        <p:nvSpPr>
          <p:cNvPr id="20" name="TextBox 19"/>
          <p:cNvSpPr txBox="1"/>
          <p:nvPr/>
        </p:nvSpPr>
        <p:spPr>
          <a:xfrm>
            <a:off x="566928" y="4617720"/>
            <a:ext cx="502920" cy="274320"/>
          </a:xfrm>
          <a:prstGeom prst="rect">
            <a:avLst/>
          </a:prstGeom>
          <a:noFill/>
        </p:spPr>
        <p:txBody>
          <a:bodyPr wrap="none">
            <a:spAutoFit/>
          </a:bodyPr>
          <a:lstStyle/>
          <a:p>
            <a:pPr>
              <a:defRPr sz="950" b="1">
                <a:solidFill>
                  <a:srgbClr val="003087"/>
                </a:solidFill>
              </a:defRPr>
            </a:pPr>
            <a:r>
              <a:t>08</a:t>
            </a:r>
          </a:p>
        </p:txBody>
      </p:sp>
      <p:sp>
        <p:nvSpPr>
          <p:cNvPr id="21" name="TextBox 20"/>
          <p:cNvSpPr txBox="1"/>
          <p:nvPr/>
        </p:nvSpPr>
        <p:spPr>
          <a:xfrm>
            <a:off x="1143000" y="4617720"/>
            <a:ext cx="9601200" cy="384048"/>
          </a:xfrm>
          <a:prstGeom prst="rect">
            <a:avLst/>
          </a:prstGeom>
          <a:noFill/>
        </p:spPr>
        <p:txBody>
          <a:bodyPr wrap="none">
            <a:spAutoFit/>
          </a:bodyPr>
          <a:lstStyle/>
          <a:p>
            <a:pPr>
              <a:defRPr sz="1260">
                <a:solidFill>
                  <a:srgbClr val="333333"/>
                </a:solidFill>
              </a:defRPr>
            </a:pPr>
            <a:r>
              <a:t>Decision-moving facts matter more than market noise</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682935" y="164592"/>
            <a:ext cx="1115568" cy="219456"/>
          </a:xfrm>
          <a:prstGeom prst="rect">
            <a:avLst/>
          </a:prstGeom>
          <a:noFill/>
        </p:spPr>
        <p:txBody>
          <a:bodyPr wrap="none">
            <a:spAutoFit/>
          </a:bodyPr>
          <a:lstStyle/>
          <a:p>
            <a:pPr algn="r">
              <a:defRPr sz="800" b="1">
                <a:solidFill>
                  <a:srgbClr val="003087"/>
                </a:solidFill>
              </a:defRPr>
            </a:pPr>
            <a:r>
              <a:t>BlueOcean</a:t>
            </a:r>
          </a:p>
        </p:txBody>
      </p:sp>
      <p:sp>
        <p:nvSpPr>
          <p:cNvPr id="3" name="TextBox 2"/>
          <p:cNvSpPr txBox="1"/>
          <p:nvPr/>
        </p:nvSpPr>
        <p:spPr>
          <a:xfrm>
            <a:off x="566928" y="6601968"/>
            <a:ext cx="11057839" cy="146304"/>
          </a:xfrm>
          <a:prstGeom prst="rect">
            <a:avLst/>
          </a:prstGeom>
          <a:noFill/>
        </p:spPr>
        <p:txBody>
          <a:bodyPr wrap="none">
            <a:spAutoFit/>
          </a:bodyPr>
          <a:lstStyle/>
          <a:p>
            <a:pPr>
              <a:defRPr sz="600">
                <a:solidFill>
                  <a:srgbClr val="A0A6AD"/>
                </a:solidFill>
              </a:defRPr>
            </a:pPr>
            <a:r>
              <a:t>Key highlights</a:t>
            </a:r>
          </a:p>
        </p:txBody>
      </p:sp>
      <p:sp>
        <p:nvSpPr>
          <p:cNvPr id="4" name="TextBox 3"/>
          <p:cNvSpPr txBox="1"/>
          <p:nvPr/>
        </p:nvSpPr>
        <p:spPr>
          <a:xfrm>
            <a:off x="566928" y="347472"/>
            <a:ext cx="9692640" cy="841248"/>
          </a:xfrm>
          <a:prstGeom prst="rect">
            <a:avLst/>
          </a:prstGeom>
          <a:noFill/>
        </p:spPr>
        <p:txBody>
          <a:bodyPr wrap="square">
            <a:spAutoFit/>
          </a:bodyPr>
          <a:lstStyle/>
          <a:p>
            <a:pPr>
              <a:defRPr sz="2000" b="0">
                <a:solidFill>
                  <a:srgbClr val="333333"/>
                </a:solidFill>
              </a:defRPr>
            </a:pPr>
            <a:r>
              <a:t>The analysis narrows the agenda to a focused set of management priorities</a:t>
            </a:r>
          </a:p>
        </p:txBody>
      </p:sp>
      <p:sp>
        <p:nvSpPr>
          <p:cNvPr id="5" name="Rectangle 4"/>
          <p:cNvSpPr/>
          <p:nvPr/>
        </p:nvSpPr>
        <p:spPr>
          <a:xfrm>
            <a:off x="566928" y="1115568"/>
            <a:ext cx="11057839" cy="9144"/>
          </a:xfrm>
          <a:prstGeom prst="rect">
            <a:avLst/>
          </a:prstGeom>
          <a:solidFill>
            <a:srgbClr val="C8C8C8"/>
          </a:solidFill>
          <a:ln>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66928" y="1389888"/>
            <a:ext cx="5394960" cy="868680"/>
          </a:xfrm>
          <a:prstGeom prst="rect">
            <a:avLst/>
          </a:prstGeom>
          <a:solidFill>
            <a:srgbClr val="FFFFFF"/>
          </a:solidFill>
          <a:ln>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66928" y="1389888"/>
            <a:ext cx="54864" cy="868680"/>
          </a:xfrm>
          <a:prstGeom prst="rect">
            <a:avLst/>
          </a:prstGeom>
          <a:solidFill>
            <a:srgbClr val="0030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13232" y="1481328"/>
            <a:ext cx="438912" cy="201168"/>
          </a:xfrm>
          <a:prstGeom prst="rect">
            <a:avLst/>
          </a:prstGeom>
          <a:noFill/>
        </p:spPr>
        <p:txBody>
          <a:bodyPr wrap="none">
            <a:spAutoFit/>
          </a:bodyPr>
          <a:lstStyle/>
          <a:p>
            <a:pPr>
              <a:defRPr sz="900" b="1">
                <a:solidFill>
                  <a:srgbClr val="003087"/>
                </a:solidFill>
              </a:defRPr>
            </a:pPr>
            <a:r>
              <a:t>01</a:t>
            </a:r>
          </a:p>
        </p:txBody>
      </p:sp>
      <p:sp>
        <p:nvSpPr>
          <p:cNvPr id="9" name="TextBox 8"/>
          <p:cNvSpPr txBox="1"/>
          <p:nvPr/>
        </p:nvSpPr>
        <p:spPr>
          <a:xfrm>
            <a:off x="1207008" y="1499616"/>
            <a:ext cx="4590288" cy="704088"/>
          </a:xfrm>
          <a:prstGeom prst="rect">
            <a:avLst/>
          </a:prstGeom>
          <a:noFill/>
        </p:spPr>
        <p:txBody>
          <a:bodyPr wrap="square">
            <a:spAutoFit/>
          </a:bodyPr>
          <a:lstStyle/>
          <a:p>
            <a:pPr>
              <a:defRPr sz="770">
                <a:solidFill>
                  <a:srgbClr val="333333"/>
                </a:solidFill>
              </a:defRPr>
            </a:pPr>
            <a:r>
              <a:t>Private fusion ventures are accelerating faster than public projects, but no verified data confirms net-positive energy milestones befo</a:t>
            </a:r>
          </a:p>
        </p:txBody>
      </p:sp>
      <p:sp>
        <p:nvSpPr>
          <p:cNvPr id="10" name="Rectangle 9"/>
          <p:cNvSpPr/>
          <p:nvPr/>
        </p:nvSpPr>
        <p:spPr>
          <a:xfrm>
            <a:off x="6163056" y="1389888"/>
            <a:ext cx="5394960" cy="868680"/>
          </a:xfrm>
          <a:prstGeom prst="rect">
            <a:avLst/>
          </a:prstGeom>
          <a:solidFill>
            <a:srgbClr val="FFFFFF"/>
          </a:solidFill>
          <a:ln>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163056" y="1389888"/>
            <a:ext cx="54864" cy="868680"/>
          </a:xfrm>
          <a:prstGeom prst="rect">
            <a:avLst/>
          </a:prstGeom>
          <a:solidFill>
            <a:srgbClr val="0030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309360" y="1481328"/>
            <a:ext cx="438912" cy="201168"/>
          </a:xfrm>
          <a:prstGeom prst="rect">
            <a:avLst/>
          </a:prstGeom>
          <a:noFill/>
        </p:spPr>
        <p:txBody>
          <a:bodyPr wrap="none">
            <a:spAutoFit/>
          </a:bodyPr>
          <a:lstStyle/>
          <a:p>
            <a:pPr>
              <a:defRPr sz="900" b="1">
                <a:solidFill>
                  <a:srgbClr val="003087"/>
                </a:solidFill>
              </a:defRPr>
            </a:pPr>
            <a:r>
              <a:t>02</a:t>
            </a:r>
          </a:p>
        </p:txBody>
      </p:sp>
      <p:sp>
        <p:nvSpPr>
          <p:cNvPr id="13" name="TextBox 12"/>
          <p:cNvSpPr txBox="1"/>
          <p:nvPr/>
        </p:nvSpPr>
        <p:spPr>
          <a:xfrm>
            <a:off x="6803136" y="1499616"/>
            <a:ext cx="4590288" cy="704088"/>
          </a:xfrm>
          <a:prstGeom prst="rect">
            <a:avLst/>
          </a:prstGeom>
          <a:noFill/>
        </p:spPr>
        <p:txBody>
          <a:bodyPr wrap="square">
            <a:spAutoFit/>
          </a:bodyPr>
          <a:lstStyle/>
          <a:p>
            <a:pPr>
              <a:defRPr sz="770">
                <a:solidFill>
                  <a:srgbClr val="333333"/>
                </a:solidFill>
              </a:defRPr>
            </a:pPr>
            <a:r>
              <a:t>Economic competitiveness of fusion hinges on achieving levelized cost of energy (LCOE) parity with renewables by 2035-2040, but current</a:t>
            </a:r>
          </a:p>
        </p:txBody>
      </p:sp>
      <p:sp>
        <p:nvSpPr>
          <p:cNvPr id="14" name="Rectangle 13"/>
          <p:cNvSpPr/>
          <p:nvPr/>
        </p:nvSpPr>
        <p:spPr>
          <a:xfrm>
            <a:off x="566928" y="2404872"/>
            <a:ext cx="5394960" cy="868680"/>
          </a:xfrm>
          <a:prstGeom prst="rect">
            <a:avLst/>
          </a:prstGeom>
          <a:solidFill>
            <a:srgbClr val="FFFFFF"/>
          </a:solidFill>
          <a:ln>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66928" y="2404872"/>
            <a:ext cx="54864" cy="868680"/>
          </a:xfrm>
          <a:prstGeom prst="rect">
            <a:avLst/>
          </a:prstGeom>
          <a:solidFill>
            <a:srgbClr val="0030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13232" y="2496312"/>
            <a:ext cx="438912" cy="201168"/>
          </a:xfrm>
          <a:prstGeom prst="rect">
            <a:avLst/>
          </a:prstGeom>
          <a:noFill/>
        </p:spPr>
        <p:txBody>
          <a:bodyPr wrap="none">
            <a:spAutoFit/>
          </a:bodyPr>
          <a:lstStyle/>
          <a:p>
            <a:pPr>
              <a:defRPr sz="900" b="1">
                <a:solidFill>
                  <a:srgbClr val="003087"/>
                </a:solidFill>
              </a:defRPr>
            </a:pPr>
            <a:r>
              <a:t>03</a:t>
            </a:r>
          </a:p>
        </p:txBody>
      </p:sp>
      <p:sp>
        <p:nvSpPr>
          <p:cNvPr id="17" name="TextBox 16"/>
          <p:cNvSpPr txBox="1"/>
          <p:nvPr/>
        </p:nvSpPr>
        <p:spPr>
          <a:xfrm>
            <a:off x="1207008" y="2514600"/>
            <a:ext cx="4590288" cy="704088"/>
          </a:xfrm>
          <a:prstGeom prst="rect">
            <a:avLst/>
          </a:prstGeom>
          <a:noFill/>
        </p:spPr>
        <p:txBody>
          <a:bodyPr wrap="square">
            <a:spAutoFit/>
          </a:bodyPr>
          <a:lstStyle/>
          <a:p>
            <a:pPr>
              <a:defRPr sz="770">
                <a:solidFill>
                  <a:srgbClr val="333333"/>
                </a:solidFill>
              </a:defRPr>
            </a:pPr>
            <a:r>
              <a:t>Regulatory frameworks remain a critical bottleneck, with no commercial fusion licensing established in any jurisdiction; early engageme</a:t>
            </a:r>
          </a:p>
        </p:txBody>
      </p:sp>
      <p:sp>
        <p:nvSpPr>
          <p:cNvPr id="18" name="Rectangle 17"/>
          <p:cNvSpPr/>
          <p:nvPr/>
        </p:nvSpPr>
        <p:spPr>
          <a:xfrm>
            <a:off x="6163056" y="2404872"/>
            <a:ext cx="5394960" cy="868680"/>
          </a:xfrm>
          <a:prstGeom prst="rect">
            <a:avLst/>
          </a:prstGeom>
          <a:solidFill>
            <a:srgbClr val="FFFFFF"/>
          </a:solidFill>
          <a:ln>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163056" y="2404872"/>
            <a:ext cx="54864" cy="868680"/>
          </a:xfrm>
          <a:prstGeom prst="rect">
            <a:avLst/>
          </a:prstGeom>
          <a:solidFill>
            <a:srgbClr val="0030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309360" y="2496312"/>
            <a:ext cx="438912" cy="201168"/>
          </a:xfrm>
          <a:prstGeom prst="rect">
            <a:avLst/>
          </a:prstGeom>
          <a:noFill/>
        </p:spPr>
        <p:txBody>
          <a:bodyPr wrap="none">
            <a:spAutoFit/>
          </a:bodyPr>
          <a:lstStyle/>
          <a:p>
            <a:pPr>
              <a:defRPr sz="900" b="1">
                <a:solidFill>
                  <a:srgbClr val="003087"/>
                </a:solidFill>
              </a:defRPr>
            </a:pPr>
            <a:r>
              <a:t>04</a:t>
            </a:r>
          </a:p>
        </p:txBody>
      </p:sp>
      <p:sp>
        <p:nvSpPr>
          <p:cNvPr id="21" name="TextBox 20"/>
          <p:cNvSpPr txBox="1"/>
          <p:nvPr/>
        </p:nvSpPr>
        <p:spPr>
          <a:xfrm>
            <a:off x="6803136" y="2514600"/>
            <a:ext cx="4590288" cy="704088"/>
          </a:xfrm>
          <a:prstGeom prst="rect">
            <a:avLst/>
          </a:prstGeom>
          <a:noFill/>
        </p:spPr>
        <p:txBody>
          <a:bodyPr wrap="square">
            <a:spAutoFit/>
          </a:bodyPr>
          <a:lstStyle/>
          <a:p>
            <a:pPr>
              <a:defRPr sz="770">
                <a:solidFill>
                  <a:srgbClr val="333333"/>
                </a:solidFill>
              </a:defRPr>
            </a:pPr>
            <a:r>
              <a:t>Tritium supply is a hidden bottleneck, as current global production is insufficient for commercial reactors; investment in breeding tec</a:t>
            </a:r>
          </a:p>
        </p:txBody>
      </p:sp>
      <p:sp>
        <p:nvSpPr>
          <p:cNvPr id="22" name="Rectangle 21"/>
          <p:cNvSpPr/>
          <p:nvPr/>
        </p:nvSpPr>
        <p:spPr>
          <a:xfrm>
            <a:off x="566928" y="3419856"/>
            <a:ext cx="5394960" cy="868680"/>
          </a:xfrm>
          <a:prstGeom prst="rect">
            <a:avLst/>
          </a:prstGeom>
          <a:solidFill>
            <a:srgbClr val="FFFFFF"/>
          </a:solidFill>
          <a:ln>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566928" y="3419856"/>
            <a:ext cx="54864" cy="868680"/>
          </a:xfrm>
          <a:prstGeom prst="rect">
            <a:avLst/>
          </a:prstGeom>
          <a:solidFill>
            <a:srgbClr val="0030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13232" y="3511296"/>
            <a:ext cx="438912" cy="201168"/>
          </a:xfrm>
          <a:prstGeom prst="rect">
            <a:avLst/>
          </a:prstGeom>
          <a:noFill/>
        </p:spPr>
        <p:txBody>
          <a:bodyPr wrap="none">
            <a:spAutoFit/>
          </a:bodyPr>
          <a:lstStyle/>
          <a:p>
            <a:pPr>
              <a:defRPr sz="900" b="1">
                <a:solidFill>
                  <a:srgbClr val="003087"/>
                </a:solidFill>
              </a:defRPr>
            </a:pPr>
            <a:r>
              <a:t>05</a:t>
            </a:r>
          </a:p>
        </p:txBody>
      </p:sp>
      <p:sp>
        <p:nvSpPr>
          <p:cNvPr id="25" name="TextBox 24"/>
          <p:cNvSpPr txBox="1"/>
          <p:nvPr/>
        </p:nvSpPr>
        <p:spPr>
          <a:xfrm>
            <a:off x="1207008" y="3529584"/>
            <a:ext cx="4590288" cy="704088"/>
          </a:xfrm>
          <a:prstGeom prst="rect">
            <a:avLst/>
          </a:prstGeom>
          <a:noFill/>
        </p:spPr>
        <p:txBody>
          <a:bodyPr wrap="square">
            <a:spAutoFit/>
          </a:bodyPr>
          <a:lstStyle/>
          <a:p>
            <a:pPr>
              <a:defRPr sz="770">
                <a:solidFill>
                  <a:srgbClr val="333333"/>
                </a:solidFill>
              </a:defRPr>
            </a:pPr>
            <a:r>
              <a:t>Geopolitical dynamics are shifting, with the US, China, UK, and Japan leading fusion development; forming international consortia can s</a:t>
            </a:r>
          </a:p>
        </p:txBody>
      </p:sp>
      <p:sp>
        <p:nvSpPr>
          <p:cNvPr id="26" name="Rectangle 25"/>
          <p:cNvSpPr/>
          <p:nvPr/>
        </p:nvSpPr>
        <p:spPr>
          <a:xfrm>
            <a:off x="6163056" y="3419856"/>
            <a:ext cx="5394960" cy="868680"/>
          </a:xfrm>
          <a:prstGeom prst="rect">
            <a:avLst/>
          </a:prstGeom>
          <a:solidFill>
            <a:srgbClr val="FFFFFF"/>
          </a:solidFill>
          <a:ln>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6163056" y="3419856"/>
            <a:ext cx="54864" cy="868680"/>
          </a:xfrm>
          <a:prstGeom prst="rect">
            <a:avLst/>
          </a:prstGeom>
          <a:solidFill>
            <a:srgbClr val="0030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309360" y="3511296"/>
            <a:ext cx="438912" cy="201168"/>
          </a:xfrm>
          <a:prstGeom prst="rect">
            <a:avLst/>
          </a:prstGeom>
          <a:noFill/>
        </p:spPr>
        <p:txBody>
          <a:bodyPr wrap="none">
            <a:spAutoFit/>
          </a:bodyPr>
          <a:lstStyle/>
          <a:p>
            <a:pPr>
              <a:defRPr sz="900" b="1">
                <a:solidFill>
                  <a:srgbClr val="003087"/>
                </a:solidFill>
              </a:defRPr>
            </a:pPr>
            <a:r>
              <a:t>06</a:t>
            </a:r>
          </a:p>
        </p:txBody>
      </p:sp>
      <p:sp>
        <p:nvSpPr>
          <p:cNvPr id="29" name="TextBox 28"/>
          <p:cNvSpPr txBox="1"/>
          <p:nvPr/>
        </p:nvSpPr>
        <p:spPr>
          <a:xfrm>
            <a:off x="6803136" y="3529584"/>
            <a:ext cx="4590288" cy="704088"/>
          </a:xfrm>
          <a:prstGeom prst="rect">
            <a:avLst/>
          </a:prstGeom>
          <a:noFill/>
        </p:spPr>
        <p:txBody>
          <a:bodyPr wrap="square">
            <a:spAutoFit/>
          </a:bodyPr>
          <a:lstStyle/>
          <a:p>
            <a:pPr>
              <a:defRPr sz="770">
                <a:solidFill>
                  <a:srgbClr val="333333"/>
                </a:solidFill>
              </a:defRPr>
            </a:pPr>
            <a:r>
              <a:t>The CEO-level question is not whether Nuclear fusion commercialization outlook and strategic implications is interesting, but which dec</a:t>
            </a:r>
          </a:p>
        </p:txBody>
      </p:sp>
      <p:sp>
        <p:nvSpPr>
          <p:cNvPr id="30" name="Rectangle 29"/>
          <p:cNvSpPr/>
          <p:nvPr/>
        </p:nvSpPr>
        <p:spPr>
          <a:xfrm>
            <a:off x="566928" y="4434840"/>
            <a:ext cx="5394960" cy="868680"/>
          </a:xfrm>
          <a:prstGeom prst="rect">
            <a:avLst/>
          </a:prstGeom>
          <a:solidFill>
            <a:srgbClr val="FFFFFF"/>
          </a:solidFill>
          <a:ln>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566928" y="4434840"/>
            <a:ext cx="54864" cy="868680"/>
          </a:xfrm>
          <a:prstGeom prst="rect">
            <a:avLst/>
          </a:prstGeom>
          <a:solidFill>
            <a:srgbClr val="0030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713232" y="4526280"/>
            <a:ext cx="438912" cy="201168"/>
          </a:xfrm>
          <a:prstGeom prst="rect">
            <a:avLst/>
          </a:prstGeom>
          <a:noFill/>
        </p:spPr>
        <p:txBody>
          <a:bodyPr wrap="none">
            <a:spAutoFit/>
          </a:bodyPr>
          <a:lstStyle/>
          <a:p>
            <a:pPr>
              <a:defRPr sz="900" b="1">
                <a:solidFill>
                  <a:srgbClr val="003087"/>
                </a:solidFill>
              </a:defRPr>
            </a:pPr>
            <a:r>
              <a:t>07</a:t>
            </a:r>
          </a:p>
        </p:txBody>
      </p:sp>
      <p:sp>
        <p:nvSpPr>
          <p:cNvPr id="33" name="TextBox 32"/>
          <p:cNvSpPr txBox="1"/>
          <p:nvPr/>
        </p:nvSpPr>
        <p:spPr>
          <a:xfrm>
            <a:off x="1207008" y="4544568"/>
            <a:ext cx="4590288" cy="704088"/>
          </a:xfrm>
          <a:prstGeom prst="rect">
            <a:avLst/>
          </a:prstGeom>
          <a:noFill/>
        </p:spPr>
        <p:txBody>
          <a:bodyPr wrap="square">
            <a:spAutoFit/>
          </a:bodyPr>
          <a:lstStyle/>
          <a:p>
            <a:pPr>
              <a:defRPr sz="770">
                <a:solidFill>
                  <a:srgbClr val="333333"/>
                </a:solidFill>
              </a:defRPr>
            </a:pPr>
            <a:r>
              <a:t>Management should separate verified facts, directional scenarios and missing diligence items before committing capital, partnerships or</a:t>
            </a:r>
          </a:p>
        </p:txBody>
      </p:sp>
      <p:sp>
        <p:nvSpPr>
          <p:cNvPr id="34" name="Rectangle 33"/>
          <p:cNvSpPr/>
          <p:nvPr/>
        </p:nvSpPr>
        <p:spPr>
          <a:xfrm>
            <a:off x="6163056" y="4434840"/>
            <a:ext cx="5394960" cy="868680"/>
          </a:xfrm>
          <a:prstGeom prst="rect">
            <a:avLst/>
          </a:prstGeom>
          <a:solidFill>
            <a:srgbClr val="FFFFFF"/>
          </a:solidFill>
          <a:ln>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6163056" y="4434840"/>
            <a:ext cx="54864" cy="868680"/>
          </a:xfrm>
          <a:prstGeom prst="rect">
            <a:avLst/>
          </a:prstGeom>
          <a:solidFill>
            <a:srgbClr val="0030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6309360" y="4526280"/>
            <a:ext cx="438912" cy="201168"/>
          </a:xfrm>
          <a:prstGeom prst="rect">
            <a:avLst/>
          </a:prstGeom>
          <a:noFill/>
        </p:spPr>
        <p:txBody>
          <a:bodyPr wrap="none">
            <a:spAutoFit/>
          </a:bodyPr>
          <a:lstStyle/>
          <a:p>
            <a:pPr>
              <a:defRPr sz="900" b="1">
                <a:solidFill>
                  <a:srgbClr val="003087"/>
                </a:solidFill>
              </a:defRPr>
            </a:pPr>
            <a:r>
              <a:t>08</a:t>
            </a:r>
          </a:p>
        </p:txBody>
      </p:sp>
      <p:sp>
        <p:nvSpPr>
          <p:cNvPr id="37" name="TextBox 36"/>
          <p:cNvSpPr txBox="1"/>
          <p:nvPr/>
        </p:nvSpPr>
        <p:spPr>
          <a:xfrm>
            <a:off x="6803136" y="4544568"/>
            <a:ext cx="4590288" cy="704088"/>
          </a:xfrm>
          <a:prstGeom prst="rect">
            <a:avLst/>
          </a:prstGeom>
          <a:noFill/>
        </p:spPr>
        <p:txBody>
          <a:bodyPr wrap="square">
            <a:spAutoFit/>
          </a:bodyPr>
          <a:lstStyle/>
          <a:p>
            <a:pPr>
              <a:defRPr sz="770">
                <a:solidFill>
                  <a:srgbClr val="333333"/>
                </a:solidFill>
              </a:defRPr>
            </a:pPr>
            <a:r>
              <a:t>The report should translate technical evidence into revenue potential, cost position, investment return, execution risk and decision ga</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682935" y="164592"/>
            <a:ext cx="1115568" cy="219456"/>
          </a:xfrm>
          <a:prstGeom prst="rect">
            <a:avLst/>
          </a:prstGeom>
          <a:noFill/>
        </p:spPr>
        <p:txBody>
          <a:bodyPr wrap="none">
            <a:spAutoFit/>
          </a:bodyPr>
          <a:lstStyle/>
          <a:p>
            <a:pPr algn="r">
              <a:defRPr sz="800" b="1">
                <a:solidFill>
                  <a:srgbClr val="003087"/>
                </a:solidFill>
              </a:defRPr>
            </a:pPr>
            <a:r>
              <a:t>BlueOcean</a:t>
            </a:r>
          </a:p>
        </p:txBody>
      </p:sp>
      <p:sp>
        <p:nvSpPr>
          <p:cNvPr id="3" name="TextBox 2"/>
          <p:cNvSpPr txBox="1"/>
          <p:nvPr/>
        </p:nvSpPr>
        <p:spPr>
          <a:xfrm>
            <a:off x="566928" y="6601968"/>
            <a:ext cx="11057839" cy="146304"/>
          </a:xfrm>
          <a:prstGeom prst="rect">
            <a:avLst/>
          </a:prstGeom>
          <a:noFill/>
        </p:spPr>
        <p:txBody>
          <a:bodyPr wrap="none">
            <a:spAutoFit/>
          </a:bodyPr>
          <a:lstStyle/>
          <a:p>
            <a:pPr>
              <a:defRPr sz="600">
                <a:solidFill>
                  <a:srgbClr val="A0A6AD"/>
                </a:solidFill>
              </a:defRPr>
            </a:pPr>
            <a:r>
              <a:t>Nuclear Fusion Commercialization: Strategic Outlook and Implications for Decision-Makers should be managed as a staged s</a:t>
            </a:r>
          </a:p>
        </p:txBody>
      </p:sp>
      <p:sp>
        <p:nvSpPr>
          <p:cNvPr id="4" name="TextBox 3"/>
          <p:cNvSpPr txBox="1"/>
          <p:nvPr/>
        </p:nvSpPr>
        <p:spPr>
          <a:xfrm>
            <a:off x="566928" y="347472"/>
            <a:ext cx="9692640" cy="841248"/>
          </a:xfrm>
          <a:prstGeom prst="rect">
            <a:avLst/>
          </a:prstGeom>
          <a:noFill/>
        </p:spPr>
        <p:txBody>
          <a:bodyPr wrap="square">
            <a:spAutoFit/>
          </a:bodyPr>
          <a:lstStyle/>
          <a:p>
            <a:pPr>
              <a:defRPr sz="2000" b="0">
                <a:solidFill>
                  <a:srgbClr val="333333"/>
                </a:solidFill>
              </a:defRPr>
            </a:pPr>
            <a:r>
              <a:t>Nuclear Fusion Commercialization: Strategic Outlook and Implications for Decision-Makers should be managed as a staged</a:t>
            </a:r>
          </a:p>
          <a:p>
            <a:pPr>
              <a:defRPr sz="830">
                <a:solidFill>
                  <a:srgbClr val="64696E"/>
                </a:solidFill>
              </a:defRPr>
            </a:pPr>
            <a:r>
              <a:t>This chapter concludes that fusion is progressing faster than expected, but grid-scale viability remains at least a decade away, requiring executives to balance early inv</a:t>
            </a:r>
          </a:p>
        </p:txBody>
      </p:sp>
      <p:sp>
        <p:nvSpPr>
          <p:cNvPr id="5" name="Rectangle 4"/>
          <p:cNvSpPr/>
          <p:nvPr/>
        </p:nvSpPr>
        <p:spPr>
          <a:xfrm>
            <a:off x="566928" y="1115568"/>
            <a:ext cx="11057839" cy="9144"/>
          </a:xfrm>
          <a:prstGeom prst="rect">
            <a:avLst/>
          </a:prstGeom>
          <a:solidFill>
            <a:srgbClr val="C8C8C8"/>
          </a:solidFill>
          <a:ln>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66928" y="1353312"/>
            <a:ext cx="4892040" cy="4315968"/>
          </a:xfrm>
          <a:prstGeom prst="rect">
            <a:avLst/>
          </a:prstGeom>
          <a:noFill/>
        </p:spPr>
        <p:txBody>
          <a:bodyPr wrap="square" tIns="0" bIns="0">
            <a:spAutoFit/>
          </a:bodyPr>
          <a:lstStyle/>
          <a:p>
            <a:pPr>
              <a:spcAft>
                <a:spcPts val="600"/>
              </a:spcAft>
              <a:defRPr sz="819">
                <a:solidFill>
                  <a:srgbClr val="333333"/>
                </a:solidFill>
              </a:defRPr>
            </a:pPr>
            <a:r>
              <a:t>Nuclear fusion has long been considered the holy grail of energy, but recent advances in private ventures and public projects are bringing commercial viability closer. The key question for executives is not whether fusion will work, but when and at what cost.</a:t>
            </a:r>
          </a:p>
          <a:p>
            <a:pPr>
              <a:spcAft>
                <a:spcPts val="600"/>
              </a:spcAft>
              <a:defRPr sz="819">
                <a:solidFill>
                  <a:srgbClr val="333333"/>
                </a:solidFill>
              </a:defRPr>
            </a:pPr>
            <a:r>
              <a:t>Private companies like Commonwealth Fusion Systems (SPARC) and TAE Technologies are targeting net-positive energy by the late 2020s, while the international ITER project aims for first plasma in 2025 but has faced repeated delays. This divergence highlights a</a:t>
            </a:r>
          </a:p>
          <a:p>
            <a:pPr>
              <a:spcAft>
                <a:spcPts val="600"/>
              </a:spcAft>
              <a:defRPr sz="819">
                <a:solidFill>
                  <a:srgbClr val="333333"/>
                </a:solidFill>
              </a:defRPr>
            </a:pPr>
            <a:r>
              <a:t>The commercial implication is clear: early investment in fusion carries high risk but potential for outsized returns. Decision-makers should monitor key milestones, such as SPARC's Q&gt;10 demonstration, as triggers for increased commitment. Without verified data</a:t>
            </a:r>
          </a:p>
          <a:p>
            <a:pPr>
              <a:spcBef>
                <a:spcPts val="600"/>
              </a:spcBef>
              <a:defRPr sz="819" b="1">
                <a:solidFill>
                  <a:srgbClr val="003087"/>
                </a:solidFill>
              </a:defRPr>
            </a:pPr>
            <a:r>
              <a:t>Key implications</a:t>
            </a:r>
          </a:p>
          <a:p>
            <a:pPr>
              <a:defRPr sz="730">
                <a:solidFill>
                  <a:srgbClr val="333333"/>
                </a:solidFill>
              </a:defRPr>
            </a:pPr>
            <a:r>
              <a:t>- Grid-scale fusion is unlikely before 2035-2040.</a:t>
            </a:r>
          </a:p>
          <a:p>
            <a:pPr>
              <a:defRPr sz="730">
                <a:solidFill>
                  <a:srgbClr val="333333"/>
                </a:solidFill>
              </a:defRPr>
            </a:pPr>
            <a:r>
              <a:t>- Private ventures are outpacing public projects.</a:t>
            </a:r>
          </a:p>
        </p:txBody>
      </p:sp>
      <p:pic>
        <p:nvPicPr>
          <p:cNvPr id="7" name="Picture 6" descr="image-1.png"/>
          <p:cNvPicPr>
            <a:picLocks noChangeAspect="1"/>
          </p:cNvPicPr>
          <p:nvPr/>
        </p:nvPicPr>
        <p:blipFill>
          <a:blip r:embed="rId2"/>
          <a:stretch>
            <a:fillRect/>
          </a:stretch>
        </p:blipFill>
        <p:spPr>
          <a:xfrm>
            <a:off x="5897880" y="1371600"/>
            <a:ext cx="5650992" cy="4187952"/>
          </a:xfrm>
          <a:prstGeom prst="rect">
            <a:avLst/>
          </a:prstGeom>
        </p:spPr>
      </p:pic>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682935" y="164592"/>
            <a:ext cx="1115568" cy="219456"/>
          </a:xfrm>
          <a:prstGeom prst="rect">
            <a:avLst/>
          </a:prstGeom>
          <a:noFill/>
        </p:spPr>
        <p:txBody>
          <a:bodyPr wrap="none">
            <a:spAutoFit/>
          </a:bodyPr>
          <a:lstStyle/>
          <a:p>
            <a:pPr algn="r">
              <a:defRPr sz="800" b="1">
                <a:solidFill>
                  <a:srgbClr val="003087"/>
                </a:solidFill>
              </a:defRPr>
            </a:pPr>
            <a:r>
              <a:t>BlueOcean</a:t>
            </a:r>
          </a:p>
        </p:txBody>
      </p:sp>
      <p:sp>
        <p:nvSpPr>
          <p:cNvPr id="3" name="TextBox 2"/>
          <p:cNvSpPr txBox="1"/>
          <p:nvPr/>
        </p:nvSpPr>
        <p:spPr>
          <a:xfrm>
            <a:off x="566928" y="6601968"/>
            <a:ext cx="11057839" cy="146304"/>
          </a:xfrm>
          <a:prstGeom prst="rect">
            <a:avLst/>
          </a:prstGeom>
          <a:noFill/>
        </p:spPr>
        <p:txBody>
          <a:bodyPr wrap="none">
            <a:spAutoFit/>
          </a:bodyPr>
          <a:lstStyle/>
          <a:p>
            <a:pPr>
              <a:defRPr sz="600">
                <a:solidFill>
                  <a:srgbClr val="A0A6AD"/>
                </a:solidFill>
              </a:defRPr>
            </a:pPr>
            <a:r>
              <a:t>Commercial readiness depends on bankability, deliverability and repeat customer proof</a:t>
            </a:r>
          </a:p>
        </p:txBody>
      </p:sp>
      <p:sp>
        <p:nvSpPr>
          <p:cNvPr id="4" name="TextBox 3"/>
          <p:cNvSpPr txBox="1"/>
          <p:nvPr/>
        </p:nvSpPr>
        <p:spPr>
          <a:xfrm>
            <a:off x="566928" y="347472"/>
            <a:ext cx="9692640" cy="841248"/>
          </a:xfrm>
          <a:prstGeom prst="rect">
            <a:avLst/>
          </a:prstGeom>
          <a:noFill/>
        </p:spPr>
        <p:txBody>
          <a:bodyPr wrap="square">
            <a:spAutoFit/>
          </a:bodyPr>
          <a:lstStyle/>
          <a:p>
            <a:pPr>
              <a:defRPr sz="2000" b="0">
                <a:solidFill>
                  <a:srgbClr val="333333"/>
                </a:solidFill>
              </a:defRPr>
            </a:pPr>
            <a:r>
              <a:t>Commercial readiness depends on bankability, deliverability and repeat customer proof</a:t>
            </a:r>
          </a:p>
          <a:p>
            <a:pPr>
              <a:defRPr sz="830">
                <a:solidFill>
                  <a:srgbClr val="64696E"/>
                </a:solidFill>
              </a:defRPr>
            </a:pPr>
            <a:r>
              <a:t>This chapter concludes that private ventures are leading fusion innovation, but their scalability remains unproven, requiring diversified investment across multiple desig</a:t>
            </a:r>
          </a:p>
        </p:txBody>
      </p:sp>
      <p:sp>
        <p:nvSpPr>
          <p:cNvPr id="5" name="Rectangle 4"/>
          <p:cNvSpPr/>
          <p:nvPr/>
        </p:nvSpPr>
        <p:spPr>
          <a:xfrm>
            <a:off x="566928" y="1115568"/>
            <a:ext cx="11057839" cy="9144"/>
          </a:xfrm>
          <a:prstGeom prst="rect">
            <a:avLst/>
          </a:prstGeom>
          <a:solidFill>
            <a:srgbClr val="C8C8C8"/>
          </a:solidFill>
          <a:ln>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66928" y="1353312"/>
            <a:ext cx="4892040" cy="4315968"/>
          </a:xfrm>
          <a:prstGeom prst="rect">
            <a:avLst/>
          </a:prstGeom>
          <a:noFill/>
        </p:spPr>
        <p:txBody>
          <a:bodyPr wrap="square" tIns="0" bIns="0">
            <a:spAutoFit/>
          </a:bodyPr>
          <a:lstStyle/>
          <a:p>
            <a:pPr>
              <a:spcAft>
                <a:spcPts val="600"/>
              </a:spcAft>
              <a:defRPr sz="819">
                <a:solidFill>
                  <a:srgbClr val="333333"/>
                </a:solidFill>
              </a:defRPr>
            </a:pPr>
            <a:r>
              <a:t>The fusion landscape has shifted dramatically in the past five years, with private companies attracting over $5 billion in investment globally. This influx of capital has enabled rapid prototyping and iterative development, in contrast to the slower pace of go</a:t>
            </a:r>
          </a:p>
          <a:p>
            <a:pPr>
              <a:spcAft>
                <a:spcPts val="600"/>
              </a:spcAft>
              <a:defRPr sz="819">
                <a:solidFill>
                  <a:srgbClr val="333333"/>
                </a:solidFill>
              </a:defRPr>
            </a:pPr>
            <a:r>
              <a:t>The strategic implication is that private ventures may achieve commercial fusion before public projects, potentially disrupting energy markets earlier than expected. However, the failure rate for startups is high, and many designs may not scale. Investors shou</a:t>
            </a:r>
          </a:p>
          <a:p>
            <a:pPr>
              <a:spcAft>
                <a:spcPts val="600"/>
              </a:spcAft>
              <a:defRPr sz="819">
                <a:solidFill>
                  <a:srgbClr val="333333"/>
                </a:solidFill>
              </a:defRPr>
            </a:pPr>
            <a:r>
              <a:t>The evidence for these claims is based on company announcements and industry reports, but no independent verification of timelines or funding amounts exists. Decision-makers should treat these projections as directional and require milestone-based validation.</a:t>
            </a:r>
          </a:p>
          <a:p>
            <a:pPr>
              <a:spcBef>
                <a:spcPts val="600"/>
              </a:spcBef>
              <a:defRPr sz="819" b="1">
                <a:solidFill>
                  <a:srgbClr val="003087"/>
                </a:solidFill>
              </a:defRPr>
            </a:pPr>
            <a:r>
              <a:t>Key implications</a:t>
            </a:r>
          </a:p>
          <a:p>
            <a:pPr>
              <a:defRPr sz="730">
                <a:solidFill>
                  <a:srgbClr val="333333"/>
                </a:solidFill>
              </a:defRPr>
            </a:pPr>
            <a:r>
              <a:t>- Private ventures have attracted over $5 billion in investment.</a:t>
            </a:r>
          </a:p>
          <a:p>
            <a:pPr>
              <a:defRPr sz="730">
                <a:solidFill>
                  <a:srgbClr val="333333"/>
                </a:solidFill>
              </a:defRPr>
            </a:pPr>
            <a:r>
              <a:t>- Diversification across reactor designs is essential.</a:t>
            </a:r>
          </a:p>
        </p:txBody>
      </p:sp>
      <p:pic>
        <p:nvPicPr>
          <p:cNvPr id="7" name="Picture 6" descr="image-1.png"/>
          <p:cNvPicPr>
            <a:picLocks noChangeAspect="1"/>
          </p:cNvPicPr>
          <p:nvPr/>
        </p:nvPicPr>
        <p:blipFill>
          <a:blip r:embed="rId2"/>
          <a:stretch>
            <a:fillRect/>
          </a:stretch>
        </p:blipFill>
        <p:spPr>
          <a:xfrm>
            <a:off x="5897880" y="1371600"/>
            <a:ext cx="5650992" cy="4187952"/>
          </a:xfrm>
          <a:prstGeom prst="rect">
            <a:avLst/>
          </a:prstGeom>
        </p:spPr>
      </p:pic>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682935" y="164592"/>
            <a:ext cx="1115568" cy="219456"/>
          </a:xfrm>
          <a:prstGeom prst="rect">
            <a:avLst/>
          </a:prstGeom>
          <a:noFill/>
        </p:spPr>
        <p:txBody>
          <a:bodyPr wrap="none">
            <a:spAutoFit/>
          </a:bodyPr>
          <a:lstStyle/>
          <a:p>
            <a:pPr algn="r">
              <a:defRPr sz="800" b="1">
                <a:solidFill>
                  <a:srgbClr val="003087"/>
                </a:solidFill>
              </a:defRPr>
            </a:pPr>
            <a:r>
              <a:t>BlueOcean</a:t>
            </a:r>
          </a:p>
        </p:txBody>
      </p:sp>
      <p:sp>
        <p:nvSpPr>
          <p:cNvPr id="3" name="TextBox 2"/>
          <p:cNvSpPr txBox="1"/>
          <p:nvPr/>
        </p:nvSpPr>
        <p:spPr>
          <a:xfrm>
            <a:off x="566928" y="6601968"/>
            <a:ext cx="11057839" cy="146304"/>
          </a:xfrm>
          <a:prstGeom prst="rect">
            <a:avLst/>
          </a:prstGeom>
          <a:noFill/>
        </p:spPr>
        <p:txBody>
          <a:bodyPr wrap="none">
            <a:spAutoFit/>
          </a:bodyPr>
          <a:lstStyle/>
          <a:p>
            <a:pPr>
              <a:defRPr sz="600">
                <a:solidFill>
                  <a:srgbClr val="A0A6AD"/>
                </a:solidFill>
              </a:defRPr>
            </a:pPr>
            <a:r>
              <a:t>Cost, return and timing will determine the real deployment window</a:t>
            </a:r>
          </a:p>
        </p:txBody>
      </p:sp>
      <p:sp>
        <p:nvSpPr>
          <p:cNvPr id="4" name="TextBox 3"/>
          <p:cNvSpPr txBox="1"/>
          <p:nvPr/>
        </p:nvSpPr>
        <p:spPr>
          <a:xfrm>
            <a:off x="566928" y="347472"/>
            <a:ext cx="9692640" cy="841248"/>
          </a:xfrm>
          <a:prstGeom prst="rect">
            <a:avLst/>
          </a:prstGeom>
          <a:noFill/>
        </p:spPr>
        <p:txBody>
          <a:bodyPr wrap="square">
            <a:spAutoFit/>
          </a:bodyPr>
          <a:lstStyle/>
          <a:p>
            <a:pPr>
              <a:defRPr sz="2000" b="0">
                <a:solidFill>
                  <a:srgbClr val="333333"/>
                </a:solidFill>
              </a:defRPr>
            </a:pPr>
            <a:r>
              <a:t>Cost, return and timing will determine the real deployment window</a:t>
            </a:r>
          </a:p>
          <a:p>
            <a:pPr>
              <a:defRPr sz="830">
                <a:solidFill>
                  <a:srgbClr val="64696E"/>
                </a:solidFill>
              </a:defRPr>
            </a:pPr>
            <a:r>
              <a:t>This chapter concludes that fusion must achieve LCOE parity with renewables to be viable, but current cost estimates are unverified; focus on high-value applications like</a:t>
            </a:r>
          </a:p>
        </p:txBody>
      </p:sp>
      <p:sp>
        <p:nvSpPr>
          <p:cNvPr id="5" name="Rectangle 4"/>
          <p:cNvSpPr/>
          <p:nvPr/>
        </p:nvSpPr>
        <p:spPr>
          <a:xfrm>
            <a:off x="566928" y="1115568"/>
            <a:ext cx="11057839" cy="9144"/>
          </a:xfrm>
          <a:prstGeom prst="rect">
            <a:avLst/>
          </a:prstGeom>
          <a:solidFill>
            <a:srgbClr val="C8C8C8"/>
          </a:solidFill>
          <a:ln>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66928" y="1353312"/>
            <a:ext cx="4892040" cy="4315968"/>
          </a:xfrm>
          <a:prstGeom prst="rect">
            <a:avLst/>
          </a:prstGeom>
          <a:noFill/>
        </p:spPr>
        <p:txBody>
          <a:bodyPr wrap="square" tIns="0" bIns="0">
            <a:spAutoFit/>
          </a:bodyPr>
          <a:lstStyle/>
          <a:p>
            <a:pPr>
              <a:spcAft>
                <a:spcPts val="600"/>
              </a:spcAft>
              <a:defRPr sz="819">
                <a:solidFill>
                  <a:srgbClr val="333333"/>
                </a:solidFill>
              </a:defRPr>
            </a:pPr>
            <a:r>
              <a:t>The levelized cost of energy (LCOE) for fusion is the single most important metric for commercial viability. Current estimates suggest fusion could achieve LCOE of $50-100/MWh by 2040, but this is highly uncertain. In comparison, solar and wind LCOE have falle</a:t>
            </a:r>
          </a:p>
          <a:p>
            <a:pPr>
              <a:spcAft>
                <a:spcPts val="600"/>
              </a:spcAft>
              <a:defRPr sz="819">
                <a:solidFill>
                  <a:srgbClr val="333333"/>
                </a:solidFill>
              </a:defRPr>
            </a:pPr>
            <a:r>
              <a:t>For fusion to compete, it must offer advantages beyond cost, such as baseload reliability and low land use. High-value applications like industrial heat and hydrogen production may provide initial markets where fusion's 24/7 output commands a premium. The mark</a:t>
            </a:r>
          </a:p>
          <a:p>
            <a:pPr>
              <a:spcAft>
                <a:spcPts val="600"/>
              </a:spcAft>
              <a:defRPr sz="819">
                <a:solidFill>
                  <a:srgbClr val="333333"/>
                </a:solidFill>
              </a:defRPr>
            </a:pPr>
            <a:r>
              <a:t>The risk is that fusion may never achieve cost parity, especially if renewables plus storage continue to improve. Executives should focus on applications where fusion's unique attributes provide a clear advantage, and avoid betting the company on grid-scale el</a:t>
            </a:r>
          </a:p>
          <a:p>
            <a:pPr>
              <a:spcBef>
                <a:spcPts val="600"/>
              </a:spcBef>
              <a:defRPr sz="819" b="1">
                <a:solidFill>
                  <a:srgbClr val="003087"/>
                </a:solidFill>
              </a:defRPr>
            </a:pPr>
            <a:r>
              <a:t>Key implications</a:t>
            </a:r>
          </a:p>
          <a:p>
            <a:pPr>
              <a:defRPr sz="730">
                <a:solidFill>
                  <a:srgbClr val="333333"/>
                </a:solidFill>
              </a:defRPr>
            </a:pPr>
            <a:r>
              <a:t>- Fusion LCOE estimates are $50-100/MWh by 2040, but unverified.</a:t>
            </a:r>
          </a:p>
          <a:p>
            <a:pPr>
              <a:defRPr sz="730">
                <a:solidFill>
                  <a:srgbClr val="333333"/>
                </a:solidFill>
              </a:defRPr>
            </a:pPr>
            <a:r>
              <a:t>- High-value applications like industrial heat are initial targets.</a:t>
            </a:r>
          </a:p>
        </p:txBody>
      </p:sp>
      <p:pic>
        <p:nvPicPr>
          <p:cNvPr id="7" name="Picture 6" descr="image-1.png"/>
          <p:cNvPicPr>
            <a:picLocks noChangeAspect="1"/>
          </p:cNvPicPr>
          <p:nvPr/>
        </p:nvPicPr>
        <p:blipFill>
          <a:blip r:embed="rId2"/>
          <a:stretch>
            <a:fillRect/>
          </a:stretch>
        </p:blipFill>
        <p:spPr>
          <a:xfrm>
            <a:off x="5897880" y="1371600"/>
            <a:ext cx="5650992" cy="4187952"/>
          </a:xfrm>
          <a:prstGeom prst="rect">
            <a:avLst/>
          </a:prstGeom>
        </p:spPr>
      </p:pic>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682935" y="164592"/>
            <a:ext cx="1115568" cy="219456"/>
          </a:xfrm>
          <a:prstGeom prst="rect">
            <a:avLst/>
          </a:prstGeom>
          <a:noFill/>
        </p:spPr>
        <p:txBody>
          <a:bodyPr wrap="none">
            <a:spAutoFit/>
          </a:bodyPr>
          <a:lstStyle/>
          <a:p>
            <a:pPr algn="r">
              <a:defRPr sz="800" b="1">
                <a:solidFill>
                  <a:srgbClr val="003087"/>
                </a:solidFill>
              </a:defRPr>
            </a:pPr>
            <a:r>
              <a:t>BlueOcean</a:t>
            </a:r>
          </a:p>
        </p:txBody>
      </p:sp>
      <p:sp>
        <p:nvSpPr>
          <p:cNvPr id="3" name="TextBox 2"/>
          <p:cNvSpPr txBox="1"/>
          <p:nvPr/>
        </p:nvSpPr>
        <p:spPr>
          <a:xfrm>
            <a:off x="566928" y="6601968"/>
            <a:ext cx="11057839" cy="146304"/>
          </a:xfrm>
          <a:prstGeom prst="rect">
            <a:avLst/>
          </a:prstGeom>
          <a:noFill/>
        </p:spPr>
        <p:txBody>
          <a:bodyPr wrap="none">
            <a:spAutoFit/>
          </a:bodyPr>
          <a:lstStyle/>
          <a:p>
            <a:pPr>
              <a:defRPr sz="600">
                <a:solidFill>
                  <a:srgbClr val="A0A6AD"/>
                </a:solidFill>
              </a:defRPr>
            </a:pPr>
            <a:r>
              <a:t>Regulation, policy and public acceptance can reset the speed of adoption</a:t>
            </a:r>
          </a:p>
        </p:txBody>
      </p:sp>
      <p:sp>
        <p:nvSpPr>
          <p:cNvPr id="4" name="TextBox 3"/>
          <p:cNvSpPr txBox="1"/>
          <p:nvPr/>
        </p:nvSpPr>
        <p:spPr>
          <a:xfrm>
            <a:off x="566928" y="347472"/>
            <a:ext cx="9692640" cy="841248"/>
          </a:xfrm>
          <a:prstGeom prst="rect">
            <a:avLst/>
          </a:prstGeom>
          <a:noFill/>
        </p:spPr>
        <p:txBody>
          <a:bodyPr wrap="square">
            <a:spAutoFit/>
          </a:bodyPr>
          <a:lstStyle/>
          <a:p>
            <a:pPr>
              <a:defRPr sz="2000" b="0">
                <a:solidFill>
                  <a:srgbClr val="333333"/>
                </a:solidFill>
              </a:defRPr>
            </a:pPr>
            <a:r>
              <a:t>Regulation, policy and public acceptance can reset the speed of adoption</a:t>
            </a:r>
          </a:p>
          <a:p>
            <a:pPr>
              <a:defRPr sz="830">
                <a:solidFill>
                  <a:srgbClr val="64696E"/>
                </a:solidFill>
              </a:defRPr>
            </a:pPr>
            <a:r>
              <a:t>This chapter concludes that regulatory uncertainty is a major barrier, requiring early engagement with regulators to shape licensing frameworks.</a:t>
            </a:r>
          </a:p>
        </p:txBody>
      </p:sp>
      <p:sp>
        <p:nvSpPr>
          <p:cNvPr id="5" name="Rectangle 4"/>
          <p:cNvSpPr/>
          <p:nvPr/>
        </p:nvSpPr>
        <p:spPr>
          <a:xfrm>
            <a:off x="566928" y="1115568"/>
            <a:ext cx="11057839" cy="9144"/>
          </a:xfrm>
          <a:prstGeom prst="rect">
            <a:avLst/>
          </a:prstGeom>
          <a:solidFill>
            <a:srgbClr val="C8C8C8"/>
          </a:solidFill>
          <a:ln>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66928" y="1353312"/>
            <a:ext cx="4892040" cy="4315968"/>
          </a:xfrm>
          <a:prstGeom prst="rect">
            <a:avLst/>
          </a:prstGeom>
          <a:noFill/>
        </p:spPr>
        <p:txBody>
          <a:bodyPr wrap="square" tIns="0" bIns="0">
            <a:spAutoFit/>
          </a:bodyPr>
          <a:lstStyle/>
          <a:p>
            <a:pPr>
              <a:spcAft>
                <a:spcPts val="600"/>
              </a:spcAft>
              <a:defRPr sz="819">
                <a:solidFill>
                  <a:srgbClr val="333333"/>
                </a:solidFill>
              </a:defRPr>
            </a:pPr>
            <a:r>
              <a:t>No commercial fusion reactor has ever been licensed, and regulatory frameworks are still in development. The U.S. Nuclear Regulatory Commission (NRC) is working on a licensing framework, but no timeline has been announced. The International Atomic Energy Agenc</a:t>
            </a:r>
          </a:p>
          <a:p>
            <a:pPr>
              <a:spcAft>
                <a:spcPts val="600"/>
              </a:spcAft>
              <a:defRPr sz="819">
                <a:solidFill>
                  <a:srgbClr val="333333"/>
                </a:solidFill>
              </a:defRPr>
            </a:pPr>
            <a:r>
              <a:t>The lack of regulatory clarity creates significant uncertainty for investors and project developers. Licensing delays could push back commercial deployment by years, even if technical milestones are met. Early engagement with regulators is essential to shape f</a:t>
            </a:r>
          </a:p>
          <a:p>
            <a:pPr>
              <a:spcAft>
                <a:spcPts val="600"/>
              </a:spcAft>
              <a:defRPr sz="819">
                <a:solidFill>
                  <a:srgbClr val="333333"/>
                </a:solidFill>
              </a:defRPr>
            </a:pPr>
            <a:r>
              <a:t>Companies should invest in regulatory affairs teams and participate in public consultations. International harmonization of standards could reduce costs and accelerate deployment, but geopolitical tensions may hinder cooperation. The evidence for regulatory pr</a:t>
            </a:r>
          </a:p>
          <a:p>
            <a:pPr>
              <a:spcBef>
                <a:spcPts val="600"/>
              </a:spcBef>
              <a:defRPr sz="819" b="1">
                <a:solidFill>
                  <a:srgbClr val="003087"/>
                </a:solidFill>
              </a:defRPr>
            </a:pPr>
            <a:r>
              <a:t>Key implications</a:t>
            </a:r>
          </a:p>
          <a:p>
            <a:pPr>
              <a:defRPr sz="730">
                <a:solidFill>
                  <a:srgbClr val="333333"/>
                </a:solidFill>
              </a:defRPr>
            </a:pPr>
            <a:r>
              <a:t>- No commercial fusion licensing exists yet.</a:t>
            </a:r>
          </a:p>
          <a:p>
            <a:pPr>
              <a:defRPr sz="730">
                <a:solidFill>
                  <a:srgbClr val="333333"/>
                </a:solidFill>
              </a:defRPr>
            </a:pPr>
            <a:r>
              <a:t>- Regulatory delays could push deployment back years.</a:t>
            </a:r>
          </a:p>
        </p:txBody>
      </p:sp>
      <p:pic>
        <p:nvPicPr>
          <p:cNvPr id="7" name="Picture 6" descr="image-1.png"/>
          <p:cNvPicPr>
            <a:picLocks noChangeAspect="1"/>
          </p:cNvPicPr>
          <p:nvPr/>
        </p:nvPicPr>
        <p:blipFill>
          <a:blip r:embed="rId2"/>
          <a:stretch>
            <a:fillRect/>
          </a:stretch>
        </p:blipFill>
        <p:spPr>
          <a:xfrm>
            <a:off x="5897880" y="1371600"/>
            <a:ext cx="5650992" cy="4187952"/>
          </a:xfrm>
          <a:prstGeom prst="rect">
            <a:avLst/>
          </a:prstGeom>
        </p:spPr>
      </p:pic>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682935" y="164592"/>
            <a:ext cx="1115568" cy="219456"/>
          </a:xfrm>
          <a:prstGeom prst="rect">
            <a:avLst/>
          </a:prstGeom>
          <a:noFill/>
        </p:spPr>
        <p:txBody>
          <a:bodyPr wrap="none">
            <a:spAutoFit/>
          </a:bodyPr>
          <a:lstStyle/>
          <a:p>
            <a:pPr algn="r">
              <a:defRPr sz="800" b="1">
                <a:solidFill>
                  <a:srgbClr val="003087"/>
                </a:solidFill>
              </a:defRPr>
            </a:pPr>
            <a:r>
              <a:t>BlueOcean</a:t>
            </a:r>
          </a:p>
        </p:txBody>
      </p:sp>
      <p:sp>
        <p:nvSpPr>
          <p:cNvPr id="3" name="TextBox 2"/>
          <p:cNvSpPr txBox="1"/>
          <p:nvPr/>
        </p:nvSpPr>
        <p:spPr>
          <a:xfrm>
            <a:off x="566928" y="6601968"/>
            <a:ext cx="11057839" cy="146304"/>
          </a:xfrm>
          <a:prstGeom prst="rect">
            <a:avLst/>
          </a:prstGeom>
          <a:noFill/>
        </p:spPr>
        <p:txBody>
          <a:bodyPr wrap="none">
            <a:spAutoFit/>
          </a:bodyPr>
          <a:lstStyle/>
          <a:p>
            <a:pPr>
              <a:defRPr sz="600">
                <a:solidFill>
                  <a:srgbClr val="A0A6AD"/>
                </a:solidFill>
              </a:defRPr>
            </a:pPr>
            <a:r>
              <a:t>Supply chain, partners and talent will decide who can act before the market is obvious</a:t>
            </a:r>
          </a:p>
        </p:txBody>
      </p:sp>
      <p:sp>
        <p:nvSpPr>
          <p:cNvPr id="4" name="TextBox 3"/>
          <p:cNvSpPr txBox="1"/>
          <p:nvPr/>
        </p:nvSpPr>
        <p:spPr>
          <a:xfrm>
            <a:off x="566928" y="347472"/>
            <a:ext cx="9692640" cy="841248"/>
          </a:xfrm>
          <a:prstGeom prst="rect">
            <a:avLst/>
          </a:prstGeom>
          <a:noFill/>
        </p:spPr>
        <p:txBody>
          <a:bodyPr wrap="square">
            <a:spAutoFit/>
          </a:bodyPr>
          <a:lstStyle/>
          <a:p>
            <a:pPr>
              <a:defRPr sz="2000" b="0">
                <a:solidFill>
                  <a:srgbClr val="333333"/>
                </a:solidFill>
              </a:defRPr>
            </a:pPr>
            <a:r>
              <a:t>Supply chain, partners and talent will decide who can act before the market is obvious</a:t>
            </a:r>
          </a:p>
          <a:p>
            <a:pPr>
              <a:defRPr sz="830">
                <a:solidFill>
                  <a:srgbClr val="64696E"/>
                </a:solidFill>
              </a:defRPr>
            </a:pPr>
            <a:r>
              <a:t>This chapter concludes that fusion could reshape energy dynamics, but geopolitical risks require international consortia and supply chain security.</a:t>
            </a:r>
          </a:p>
        </p:txBody>
      </p:sp>
      <p:sp>
        <p:nvSpPr>
          <p:cNvPr id="5" name="Rectangle 4"/>
          <p:cNvSpPr/>
          <p:nvPr/>
        </p:nvSpPr>
        <p:spPr>
          <a:xfrm>
            <a:off x="566928" y="1115568"/>
            <a:ext cx="11057839" cy="9144"/>
          </a:xfrm>
          <a:prstGeom prst="rect">
            <a:avLst/>
          </a:prstGeom>
          <a:solidFill>
            <a:srgbClr val="C8C8C8"/>
          </a:solidFill>
          <a:ln>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66928" y="1353312"/>
            <a:ext cx="4892040" cy="4315968"/>
          </a:xfrm>
          <a:prstGeom prst="rect">
            <a:avLst/>
          </a:prstGeom>
          <a:noFill/>
        </p:spPr>
        <p:txBody>
          <a:bodyPr wrap="square" tIns="0" bIns="0">
            <a:spAutoFit/>
          </a:bodyPr>
          <a:lstStyle/>
          <a:p>
            <a:pPr>
              <a:spcAft>
                <a:spcPts val="600"/>
              </a:spcAft>
              <a:defRPr sz="819">
                <a:solidFill>
                  <a:srgbClr val="333333"/>
                </a:solidFill>
              </a:defRPr>
            </a:pPr>
            <a:r>
              <a:t>Fusion energy could fundamentally alter global energy dynamics by providing abundant, low-carbon baseload power. Countries with advanced fusion programs, such as the United States, China, the United Kingdom, and Japan, may gain significant energy independence</a:t>
            </a:r>
          </a:p>
          <a:p>
            <a:pPr>
              <a:spcAft>
                <a:spcPts val="600"/>
              </a:spcAft>
              <a:defRPr sz="819">
                <a:solidFill>
                  <a:srgbClr val="333333"/>
                </a:solidFill>
              </a:defRPr>
            </a:pPr>
            <a:r>
              <a:t>For industrial sectors, fusion offers a path to deep decarbonization, particularly for hard-to-abate industries like steel, cement, and chemicals. The ability to produce high-temperature heat and hydrogen could transform these industries, but the timeline for</a:t>
            </a:r>
          </a:p>
          <a:p>
            <a:pPr>
              <a:spcAft>
                <a:spcPts val="600"/>
              </a:spcAft>
              <a:defRPr sz="819">
                <a:solidFill>
                  <a:srgbClr val="333333"/>
                </a:solidFill>
              </a:defRPr>
            </a:pPr>
            <a:r>
              <a:t>Geopolitical risks include technology export controls and intellectual property disputes. Companies should consider forming international consortia to share costs and risks, while also securing supply chains for critical components like superconducting magnets</a:t>
            </a:r>
          </a:p>
          <a:p>
            <a:pPr>
              <a:spcBef>
                <a:spcPts val="600"/>
              </a:spcBef>
              <a:defRPr sz="819" b="1">
                <a:solidFill>
                  <a:srgbClr val="003087"/>
                </a:solidFill>
              </a:defRPr>
            </a:pPr>
            <a:r>
              <a:t>Key implications</a:t>
            </a:r>
          </a:p>
          <a:p>
            <a:pPr>
              <a:defRPr sz="730">
                <a:solidFill>
                  <a:srgbClr val="333333"/>
                </a:solidFill>
              </a:defRPr>
            </a:pPr>
            <a:r>
              <a:t>- Fusion could provide energy independence for leading nations.</a:t>
            </a:r>
          </a:p>
          <a:p>
            <a:pPr>
              <a:defRPr sz="730">
                <a:solidFill>
                  <a:srgbClr val="333333"/>
                </a:solidFill>
              </a:defRPr>
            </a:pPr>
            <a:r>
              <a:t>- Industrial decarbonization is a key opportunity.</a:t>
            </a:r>
          </a:p>
        </p:txBody>
      </p:sp>
      <p:pic>
        <p:nvPicPr>
          <p:cNvPr id="7" name="Picture 6" descr="image-1.png"/>
          <p:cNvPicPr>
            <a:picLocks noChangeAspect="1"/>
          </p:cNvPicPr>
          <p:nvPr/>
        </p:nvPicPr>
        <p:blipFill>
          <a:blip r:embed="rId2"/>
          <a:stretch>
            <a:fillRect/>
          </a:stretch>
        </p:blipFill>
        <p:spPr>
          <a:xfrm>
            <a:off x="5897880" y="1371600"/>
            <a:ext cx="5650992" cy="4187952"/>
          </a:xfrm>
          <a:prstGeom prst="rect">
            <a:avLst/>
          </a:prstGeom>
        </p:spPr>
      </p:pic>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682935" y="164592"/>
            <a:ext cx="1115568" cy="219456"/>
          </a:xfrm>
          <a:prstGeom prst="rect">
            <a:avLst/>
          </a:prstGeom>
          <a:noFill/>
        </p:spPr>
        <p:txBody>
          <a:bodyPr wrap="none">
            <a:spAutoFit/>
          </a:bodyPr>
          <a:lstStyle/>
          <a:p>
            <a:pPr algn="r">
              <a:defRPr sz="800" b="1">
                <a:solidFill>
                  <a:srgbClr val="003087"/>
                </a:solidFill>
              </a:defRPr>
            </a:pPr>
            <a:r>
              <a:t>BlueOcean</a:t>
            </a:r>
          </a:p>
        </p:txBody>
      </p:sp>
      <p:sp>
        <p:nvSpPr>
          <p:cNvPr id="3" name="TextBox 2"/>
          <p:cNvSpPr txBox="1"/>
          <p:nvPr/>
        </p:nvSpPr>
        <p:spPr>
          <a:xfrm>
            <a:off x="566928" y="6601968"/>
            <a:ext cx="11057839" cy="146304"/>
          </a:xfrm>
          <a:prstGeom prst="rect">
            <a:avLst/>
          </a:prstGeom>
          <a:noFill/>
        </p:spPr>
        <p:txBody>
          <a:bodyPr wrap="none">
            <a:spAutoFit/>
          </a:bodyPr>
          <a:lstStyle/>
          <a:p>
            <a:pPr>
              <a:defRPr sz="600">
                <a:solidFill>
                  <a:srgbClr val="A0A6AD"/>
                </a:solidFill>
              </a:defRPr>
            </a:pPr>
            <a:r>
              <a:t>Incumbents should protect near-term economics while preserving long-term options</a:t>
            </a:r>
          </a:p>
        </p:txBody>
      </p:sp>
      <p:sp>
        <p:nvSpPr>
          <p:cNvPr id="4" name="TextBox 3"/>
          <p:cNvSpPr txBox="1"/>
          <p:nvPr/>
        </p:nvSpPr>
        <p:spPr>
          <a:xfrm>
            <a:off x="566928" y="347472"/>
            <a:ext cx="9692640" cy="841248"/>
          </a:xfrm>
          <a:prstGeom prst="rect">
            <a:avLst/>
          </a:prstGeom>
          <a:noFill/>
        </p:spPr>
        <p:txBody>
          <a:bodyPr wrap="square">
            <a:spAutoFit/>
          </a:bodyPr>
          <a:lstStyle/>
          <a:p>
            <a:pPr>
              <a:defRPr sz="2000" b="0">
                <a:solidFill>
                  <a:srgbClr val="333333"/>
                </a:solidFill>
              </a:defRPr>
            </a:pPr>
            <a:r>
              <a:t>Incumbents should protect near-term economics while preserving long-term options</a:t>
            </a:r>
          </a:p>
          <a:p>
            <a:pPr>
              <a:defRPr sz="830">
                <a:solidFill>
                  <a:srgbClr val="64696E"/>
                </a:solidFill>
              </a:defRPr>
            </a:pPr>
            <a:r>
              <a:t>This chapter concludes that a staged investment approach with milestone-based tranches is optimal to capture upside while managing downside risk.</a:t>
            </a:r>
          </a:p>
        </p:txBody>
      </p:sp>
      <p:sp>
        <p:nvSpPr>
          <p:cNvPr id="5" name="Rectangle 4"/>
          <p:cNvSpPr/>
          <p:nvPr/>
        </p:nvSpPr>
        <p:spPr>
          <a:xfrm>
            <a:off x="566928" y="1115568"/>
            <a:ext cx="11057839" cy="9144"/>
          </a:xfrm>
          <a:prstGeom prst="rect">
            <a:avLst/>
          </a:prstGeom>
          <a:solidFill>
            <a:srgbClr val="C8C8C8"/>
          </a:solidFill>
          <a:ln>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66928" y="1353312"/>
            <a:ext cx="4892040" cy="4315968"/>
          </a:xfrm>
          <a:prstGeom prst="rect">
            <a:avLst/>
          </a:prstGeom>
          <a:noFill/>
        </p:spPr>
        <p:txBody>
          <a:bodyPr wrap="square" tIns="0" bIns="0">
            <a:spAutoFit/>
          </a:bodyPr>
          <a:lstStyle/>
          <a:p>
            <a:pPr>
              <a:spcAft>
                <a:spcPts val="600"/>
              </a:spcAft>
              <a:defRPr sz="819">
                <a:solidFill>
                  <a:srgbClr val="333333"/>
                </a:solidFill>
              </a:defRPr>
            </a:pPr>
            <a:r>
              <a:t>The fusion investment landscape is characterized by high risk and high potential reward. Historical analogies, such as the solar PV tipping point in 2010, suggest that early investors in breakthrough energy technologies can achieve significant returns. However</a:t>
            </a:r>
          </a:p>
          <a:p>
            <a:pPr>
              <a:spcAft>
                <a:spcPts val="600"/>
              </a:spcAft>
              <a:defRPr sz="819">
                <a:solidFill>
                  <a:srgbClr val="333333"/>
                </a:solidFill>
              </a:defRPr>
            </a:pPr>
            <a:r>
              <a:t>A staged investment approach is recommended, with milestone-based tranches that allow for course correction. Key milestones include Q&gt;10 demonstration, tritium breeding proof, and regulatory approval. Each milestone should trigger a decision gate where investm</a:t>
            </a:r>
          </a:p>
          <a:p>
            <a:pPr>
              <a:spcAft>
                <a:spcPts val="600"/>
              </a:spcAft>
              <a:defRPr sz="819">
                <a:solidFill>
                  <a:srgbClr val="333333"/>
                </a:solidFill>
              </a:defRPr>
            </a:pPr>
            <a:r>
              <a:t>The asymmetric nature of fusion risk means that even a small probability of success can justify investment, provided the potential payoff is large enough. However, executives must be disciplined about cutting losses if key milestones are missed. Without verifi</a:t>
            </a:r>
          </a:p>
          <a:p>
            <a:pPr>
              <a:spcBef>
                <a:spcPts val="600"/>
              </a:spcBef>
              <a:defRPr sz="819" b="1">
                <a:solidFill>
                  <a:srgbClr val="003087"/>
                </a:solidFill>
              </a:defRPr>
            </a:pPr>
            <a:r>
              <a:t>Key implications</a:t>
            </a:r>
          </a:p>
          <a:p>
            <a:pPr>
              <a:defRPr sz="730">
                <a:solidFill>
                  <a:srgbClr val="333333"/>
                </a:solidFill>
              </a:defRPr>
            </a:pPr>
            <a:r>
              <a:t>- Staged investment with milestone-based tranches is recommended.</a:t>
            </a:r>
          </a:p>
          <a:p>
            <a:pPr>
              <a:defRPr sz="730">
                <a:solidFill>
                  <a:srgbClr val="333333"/>
                </a:solidFill>
              </a:defRPr>
            </a:pPr>
            <a:r>
              <a:t>- Asymmetric risk justifies early investment with caution.</a:t>
            </a:r>
          </a:p>
        </p:txBody>
      </p:sp>
      <p:pic>
        <p:nvPicPr>
          <p:cNvPr id="7" name="Picture 6" descr="image-1.png"/>
          <p:cNvPicPr>
            <a:picLocks noChangeAspect="1"/>
          </p:cNvPicPr>
          <p:nvPr/>
        </p:nvPicPr>
        <p:blipFill>
          <a:blip r:embed="rId2"/>
          <a:stretch>
            <a:fillRect/>
          </a:stretch>
        </p:blipFill>
        <p:spPr>
          <a:xfrm>
            <a:off x="5897880" y="1371600"/>
            <a:ext cx="5650992" cy="4187952"/>
          </a:xfrm>
          <a:prstGeom prst="rect">
            <a:avLst/>
          </a:prstGeom>
        </p:spPr>
      </p:pic>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682935" y="164592"/>
            <a:ext cx="1115568" cy="219456"/>
          </a:xfrm>
          <a:prstGeom prst="rect">
            <a:avLst/>
          </a:prstGeom>
          <a:noFill/>
        </p:spPr>
        <p:txBody>
          <a:bodyPr wrap="none">
            <a:spAutoFit/>
          </a:bodyPr>
          <a:lstStyle/>
          <a:p>
            <a:pPr algn="r">
              <a:defRPr sz="800" b="1">
                <a:solidFill>
                  <a:srgbClr val="003087"/>
                </a:solidFill>
              </a:defRPr>
            </a:pPr>
            <a:r>
              <a:t>BlueOcean</a:t>
            </a:r>
          </a:p>
        </p:txBody>
      </p:sp>
      <p:sp>
        <p:nvSpPr>
          <p:cNvPr id="3" name="TextBox 2"/>
          <p:cNvSpPr txBox="1"/>
          <p:nvPr/>
        </p:nvSpPr>
        <p:spPr>
          <a:xfrm>
            <a:off x="566928" y="6601968"/>
            <a:ext cx="11057839" cy="146304"/>
          </a:xfrm>
          <a:prstGeom prst="rect">
            <a:avLst/>
          </a:prstGeom>
          <a:noFill/>
        </p:spPr>
        <p:txBody>
          <a:bodyPr wrap="none">
            <a:spAutoFit/>
          </a:bodyPr>
          <a:lstStyle/>
          <a:p>
            <a:pPr>
              <a:defRPr sz="600">
                <a:solidFill>
                  <a:srgbClr val="A0A6AD"/>
                </a:solidFill>
              </a:defRPr>
            </a:pPr>
            <a:r>
              <a:t>The management agenda should translate uncertainty into quarterly decision gates</a:t>
            </a:r>
          </a:p>
        </p:txBody>
      </p:sp>
      <p:sp>
        <p:nvSpPr>
          <p:cNvPr id="4" name="TextBox 3"/>
          <p:cNvSpPr txBox="1"/>
          <p:nvPr/>
        </p:nvSpPr>
        <p:spPr>
          <a:xfrm>
            <a:off x="566928" y="347472"/>
            <a:ext cx="9692640" cy="841248"/>
          </a:xfrm>
          <a:prstGeom prst="rect">
            <a:avLst/>
          </a:prstGeom>
          <a:noFill/>
        </p:spPr>
        <p:txBody>
          <a:bodyPr wrap="square">
            <a:spAutoFit/>
          </a:bodyPr>
          <a:lstStyle/>
          <a:p>
            <a:pPr>
              <a:defRPr sz="2000" b="0">
                <a:solidFill>
                  <a:srgbClr val="333333"/>
                </a:solidFill>
              </a:defRPr>
            </a:pPr>
            <a:r>
              <a:t>The management agenda should translate uncertainty into quarterly decision gates</a:t>
            </a:r>
          </a:p>
          <a:p>
            <a:pPr>
              <a:defRPr sz="830">
                <a:solidFill>
                  <a:srgbClr val="64696E"/>
                </a:solidFill>
              </a:defRPr>
            </a:pPr>
            <a:r>
              <a:t>This chapter concludes that no single reactor design has proven superior, so diversification across tokamak, stellarator, and inertial confinement is prudent.</a:t>
            </a:r>
          </a:p>
        </p:txBody>
      </p:sp>
      <p:sp>
        <p:nvSpPr>
          <p:cNvPr id="5" name="Rectangle 4"/>
          <p:cNvSpPr/>
          <p:nvPr/>
        </p:nvSpPr>
        <p:spPr>
          <a:xfrm>
            <a:off x="566928" y="1115568"/>
            <a:ext cx="11057839" cy="9144"/>
          </a:xfrm>
          <a:prstGeom prst="rect">
            <a:avLst/>
          </a:prstGeom>
          <a:solidFill>
            <a:srgbClr val="C8C8C8"/>
          </a:solidFill>
          <a:ln>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66928" y="1353312"/>
            <a:ext cx="4892040" cy="4315968"/>
          </a:xfrm>
          <a:prstGeom prst="rect">
            <a:avLst/>
          </a:prstGeom>
          <a:noFill/>
        </p:spPr>
        <p:txBody>
          <a:bodyPr wrap="square" tIns="0" bIns="0">
            <a:spAutoFit/>
          </a:bodyPr>
          <a:lstStyle/>
          <a:p>
            <a:pPr>
              <a:spcAft>
                <a:spcPts val="600"/>
              </a:spcAft>
              <a:defRPr sz="819">
                <a:solidFill>
                  <a:srgbClr val="333333"/>
                </a:solidFill>
              </a:defRPr>
            </a:pPr>
            <a:r>
              <a:t>The three main fusion reactor designs are tokamak, stellarator, and inertial confinement. Tokamaks, like ITER and SPARC, are the most advanced but face challenges with plasma stability and heat extraction. Stellarators offer better stability but are more compl</a:t>
            </a:r>
          </a:p>
          <a:p>
            <a:pPr>
              <a:spcAft>
                <a:spcPts val="600"/>
              </a:spcAft>
              <a:defRPr sz="819">
                <a:solidFill>
                  <a:srgbClr val="333333"/>
                </a:solidFill>
              </a:defRPr>
            </a:pPr>
            <a:r>
              <a:t>Critical engineering challenges include developing materials that can withstand extreme neutron bombardment, achieving tritium breeding ratios above 1, and efficiently extracting heat for power generation. These challenges are common across all designs and rep</a:t>
            </a:r>
          </a:p>
          <a:p>
            <a:pPr>
              <a:spcAft>
                <a:spcPts val="600"/>
              </a:spcAft>
              <a:defRPr sz="819">
                <a:solidFill>
                  <a:srgbClr val="333333"/>
                </a:solidFill>
              </a:defRPr>
            </a:pPr>
            <a:r>
              <a:t>The management implication is clear: the commercial implication is that no single design has yet proven superior, so diversification is prudent. Companies should also invest in enabling technologies like high-temperature superconductors and advanced manufactur</a:t>
            </a:r>
          </a:p>
          <a:p>
            <a:pPr>
              <a:spcBef>
                <a:spcPts val="600"/>
              </a:spcBef>
              <a:defRPr sz="819" b="1">
                <a:solidFill>
                  <a:srgbClr val="003087"/>
                </a:solidFill>
              </a:defRPr>
            </a:pPr>
            <a:r>
              <a:t>Key implications</a:t>
            </a:r>
          </a:p>
          <a:p>
            <a:pPr>
              <a:defRPr sz="730">
                <a:solidFill>
                  <a:srgbClr val="333333"/>
                </a:solidFill>
              </a:defRPr>
            </a:pPr>
            <a:r>
              <a:t>- Three main designs: tokamak, stellarator, inertial confinement.</a:t>
            </a:r>
          </a:p>
          <a:p>
            <a:pPr>
              <a:defRPr sz="730">
                <a:solidFill>
                  <a:srgbClr val="333333"/>
                </a:solidFill>
              </a:defRPr>
            </a:pPr>
            <a:r>
              <a:t>- Common challenges: materials, tritium breeding, heat extraction.</a:t>
            </a:r>
          </a:p>
        </p:txBody>
      </p:sp>
      <p:pic>
        <p:nvPicPr>
          <p:cNvPr id="7" name="Picture 6" descr="image-1.png"/>
          <p:cNvPicPr>
            <a:picLocks noChangeAspect="1"/>
          </p:cNvPicPr>
          <p:nvPr/>
        </p:nvPicPr>
        <p:blipFill>
          <a:blip r:embed="rId2"/>
          <a:stretch>
            <a:fillRect/>
          </a:stretch>
        </p:blipFill>
        <p:spPr>
          <a:xfrm>
            <a:off x="5897880" y="1371600"/>
            <a:ext cx="5650992" cy="4187952"/>
          </a:xfrm>
          <a:prstGeom prst="rect">
            <a:avLst/>
          </a:prstGeom>
        </p:spPr>
      </p:pic>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682935" y="164592"/>
            <a:ext cx="1115568" cy="219456"/>
          </a:xfrm>
          <a:prstGeom prst="rect">
            <a:avLst/>
          </a:prstGeom>
          <a:noFill/>
        </p:spPr>
        <p:txBody>
          <a:bodyPr wrap="none">
            <a:spAutoFit/>
          </a:bodyPr>
          <a:lstStyle/>
          <a:p>
            <a:pPr algn="r">
              <a:defRPr sz="800" b="1">
                <a:solidFill>
                  <a:srgbClr val="003087"/>
                </a:solidFill>
              </a:defRPr>
            </a:pPr>
            <a:r>
              <a:t>BlueOcean</a:t>
            </a:r>
          </a:p>
        </p:txBody>
      </p:sp>
      <p:sp>
        <p:nvSpPr>
          <p:cNvPr id="3" name="TextBox 2"/>
          <p:cNvSpPr txBox="1"/>
          <p:nvPr/>
        </p:nvSpPr>
        <p:spPr>
          <a:xfrm>
            <a:off x="566928" y="6601968"/>
            <a:ext cx="11057839" cy="146304"/>
          </a:xfrm>
          <a:prstGeom prst="rect">
            <a:avLst/>
          </a:prstGeom>
          <a:noFill/>
        </p:spPr>
        <p:txBody>
          <a:bodyPr wrap="none">
            <a:spAutoFit/>
          </a:bodyPr>
          <a:lstStyle/>
          <a:p>
            <a:pPr>
              <a:defRPr sz="600">
                <a:solidFill>
                  <a:srgbClr val="A0A6AD"/>
                </a:solidFill>
              </a:defRPr>
            </a:pPr>
            <a:r>
              <a:t>Decision-moving facts matter more than market noise</a:t>
            </a:r>
          </a:p>
        </p:txBody>
      </p:sp>
      <p:sp>
        <p:nvSpPr>
          <p:cNvPr id="4" name="TextBox 3"/>
          <p:cNvSpPr txBox="1"/>
          <p:nvPr/>
        </p:nvSpPr>
        <p:spPr>
          <a:xfrm>
            <a:off x="566928" y="347472"/>
            <a:ext cx="9692640" cy="841248"/>
          </a:xfrm>
          <a:prstGeom prst="rect">
            <a:avLst/>
          </a:prstGeom>
          <a:noFill/>
        </p:spPr>
        <p:txBody>
          <a:bodyPr wrap="square">
            <a:spAutoFit/>
          </a:bodyPr>
          <a:lstStyle/>
          <a:p>
            <a:pPr>
              <a:defRPr sz="2000" b="0">
                <a:solidFill>
                  <a:srgbClr val="333333"/>
                </a:solidFill>
              </a:defRPr>
            </a:pPr>
            <a:r>
              <a:t>Decision-moving facts matter more than market noise</a:t>
            </a:r>
          </a:p>
          <a:p>
            <a:pPr>
              <a:defRPr sz="830">
                <a:solidFill>
                  <a:srgbClr val="64696E"/>
                </a:solidFill>
              </a:defRPr>
            </a:pPr>
            <a:r>
              <a:t>This chapter concludes that industrial heat and hydrogen are more attractive early markets than grid electricity, due to fusion's baseload reliability.</a:t>
            </a:r>
          </a:p>
        </p:txBody>
      </p:sp>
      <p:sp>
        <p:nvSpPr>
          <p:cNvPr id="5" name="Rectangle 4"/>
          <p:cNvSpPr/>
          <p:nvPr/>
        </p:nvSpPr>
        <p:spPr>
          <a:xfrm>
            <a:off x="566928" y="1115568"/>
            <a:ext cx="11057839" cy="9144"/>
          </a:xfrm>
          <a:prstGeom prst="rect">
            <a:avLst/>
          </a:prstGeom>
          <a:solidFill>
            <a:srgbClr val="C8C8C8"/>
          </a:solidFill>
          <a:ln>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66928" y="1353312"/>
            <a:ext cx="4892040" cy="4315968"/>
          </a:xfrm>
          <a:prstGeom prst="rect">
            <a:avLst/>
          </a:prstGeom>
          <a:noFill/>
        </p:spPr>
        <p:txBody>
          <a:bodyPr wrap="square" tIns="0" bIns="0">
            <a:spAutoFit/>
          </a:bodyPr>
          <a:lstStyle/>
          <a:p>
            <a:pPr>
              <a:spcAft>
                <a:spcPts val="600"/>
              </a:spcAft>
              <a:defRPr sz="819">
                <a:solidFill>
                  <a:srgbClr val="333333"/>
                </a:solidFill>
              </a:defRPr>
            </a:pPr>
            <a:r>
              <a:t>For leadership teams, fusion energy could serve multiple markets, but the timing and size of each vary. Grid electricity is the largest potential market, but competition from renewables and storage is intense. Industrial heat, which accounts for about 20% of g</a:t>
            </a:r>
          </a:p>
          <a:p>
            <a:pPr>
              <a:spcAft>
                <a:spcPts val="600"/>
              </a:spcAft>
              <a:defRPr sz="819">
                <a:solidFill>
                  <a:srgbClr val="333333"/>
                </a:solidFill>
              </a:defRPr>
            </a:pPr>
            <a:r>
              <a:t>Hydrogen production is another promising application, as fusion could provide both heat and electricity for electrolysis. The global hydrogen market is projected to grow to [insert verified market size data] by 2050, driven by decarbonization policies. Fusion'</a:t>
            </a:r>
          </a:p>
          <a:p>
            <a:pPr>
              <a:spcAft>
                <a:spcPts val="600"/>
              </a:spcAft>
              <a:defRPr sz="819">
                <a:solidFill>
                  <a:srgbClr val="333333"/>
                </a:solidFill>
              </a:defRPr>
            </a:pPr>
            <a:r>
              <a:t>The market size for fusion applications is highly uncertain and depends on cost competitiveness and policy support. Executives should focus on applications where fusion's baseload reliability and low carbon footprint provide clear advantages. Without verified</a:t>
            </a:r>
          </a:p>
          <a:p>
            <a:pPr>
              <a:spcBef>
                <a:spcPts val="600"/>
              </a:spcBef>
              <a:defRPr sz="819" b="1">
                <a:solidFill>
                  <a:srgbClr val="003087"/>
                </a:solidFill>
              </a:defRPr>
            </a:pPr>
            <a:r>
              <a:t>Key implications</a:t>
            </a:r>
          </a:p>
          <a:p>
            <a:pPr>
              <a:defRPr sz="730">
                <a:solidFill>
                  <a:srgbClr val="333333"/>
                </a:solidFill>
              </a:defRPr>
            </a:pPr>
            <a:r>
              <a:t>- Industrial heat and hydrogen are initial target markets.</a:t>
            </a:r>
          </a:p>
          <a:p>
            <a:pPr>
              <a:defRPr sz="730">
                <a:solidFill>
                  <a:srgbClr val="333333"/>
                </a:solidFill>
              </a:defRPr>
            </a:pPr>
            <a:r>
              <a:t>- Grid electricity faces intense competition from renewables.</a:t>
            </a:r>
          </a:p>
        </p:txBody>
      </p:sp>
      <p:pic>
        <p:nvPicPr>
          <p:cNvPr id="7" name="Picture 6" descr="image-1.png"/>
          <p:cNvPicPr>
            <a:picLocks noChangeAspect="1"/>
          </p:cNvPicPr>
          <p:nvPr/>
        </p:nvPicPr>
        <p:blipFill>
          <a:blip r:embed="rId2"/>
          <a:stretch>
            <a:fillRect/>
          </a:stretch>
        </p:blipFill>
        <p:spPr>
          <a:xfrm>
            <a:off x="5897880" y="1371600"/>
            <a:ext cx="5650992" cy="4187952"/>
          </a:xfrm>
          <a:prstGeom prst="rect">
            <a:avLst/>
          </a:prstGeom>
        </p:spPr>
      </p:pic>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682935" y="164592"/>
            <a:ext cx="1115568" cy="219456"/>
          </a:xfrm>
          <a:prstGeom prst="rect">
            <a:avLst/>
          </a:prstGeom>
          <a:noFill/>
        </p:spPr>
        <p:txBody>
          <a:bodyPr wrap="none">
            <a:spAutoFit/>
          </a:bodyPr>
          <a:lstStyle/>
          <a:p>
            <a:pPr algn="r">
              <a:defRPr sz="800" b="1">
                <a:solidFill>
                  <a:srgbClr val="003087"/>
                </a:solidFill>
              </a:defRPr>
            </a:pPr>
            <a:r>
              <a:t>BlueOcean</a:t>
            </a:r>
          </a:p>
        </p:txBody>
      </p:sp>
      <p:sp>
        <p:nvSpPr>
          <p:cNvPr id="3" name="TextBox 2"/>
          <p:cNvSpPr txBox="1"/>
          <p:nvPr/>
        </p:nvSpPr>
        <p:spPr>
          <a:xfrm>
            <a:off x="566928" y="6601968"/>
            <a:ext cx="11057839" cy="146304"/>
          </a:xfrm>
          <a:prstGeom prst="rect">
            <a:avLst/>
          </a:prstGeom>
          <a:noFill/>
        </p:spPr>
        <p:txBody>
          <a:bodyPr wrap="none">
            <a:spAutoFit/>
          </a:bodyPr>
          <a:lstStyle/>
          <a:p>
            <a:pPr>
              <a:defRPr sz="600">
                <a:solidFill>
                  <a:srgbClr val="A0A6AD"/>
                </a:solidFill>
              </a:defRPr>
            </a:pPr>
            <a:r>
              <a:t>Exhibit 1: evidence clarifies the strategic trade-off</a:t>
            </a:r>
          </a:p>
        </p:txBody>
      </p:sp>
      <p:sp>
        <p:nvSpPr>
          <p:cNvPr id="4" name="TextBox 3"/>
          <p:cNvSpPr txBox="1"/>
          <p:nvPr/>
        </p:nvSpPr>
        <p:spPr>
          <a:xfrm>
            <a:off x="566928" y="347472"/>
            <a:ext cx="9692640" cy="841248"/>
          </a:xfrm>
          <a:prstGeom prst="rect">
            <a:avLst/>
          </a:prstGeom>
          <a:noFill/>
        </p:spPr>
        <p:txBody>
          <a:bodyPr wrap="square">
            <a:spAutoFit/>
          </a:bodyPr>
          <a:lstStyle/>
          <a:p>
            <a:pPr>
              <a:defRPr sz="2000" b="0">
                <a:solidFill>
                  <a:srgbClr val="333333"/>
                </a:solidFill>
              </a:defRPr>
            </a:pPr>
            <a:r>
              <a:t>Exhibit 1: evidence clarifies the strategic trade-off</a:t>
            </a:r>
          </a:p>
        </p:txBody>
      </p:sp>
      <p:sp>
        <p:nvSpPr>
          <p:cNvPr id="5" name="Rectangle 4"/>
          <p:cNvSpPr/>
          <p:nvPr/>
        </p:nvSpPr>
        <p:spPr>
          <a:xfrm>
            <a:off x="566928" y="1115568"/>
            <a:ext cx="11057839" cy="9144"/>
          </a:xfrm>
          <a:prstGeom prst="rect">
            <a:avLst/>
          </a:prstGeom>
          <a:solidFill>
            <a:srgbClr val="C8C8C8"/>
          </a:solidFill>
          <a:ln>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chart-1.png"/>
          <p:cNvPicPr>
            <a:picLocks noChangeAspect="1"/>
          </p:cNvPicPr>
          <p:nvPr/>
        </p:nvPicPr>
        <p:blipFill>
          <a:blip r:embed="rId2"/>
          <a:stretch>
            <a:fillRect/>
          </a:stretch>
        </p:blipFill>
        <p:spPr>
          <a:xfrm>
            <a:off x="868680" y="1188720"/>
            <a:ext cx="10378440" cy="4846320"/>
          </a:xfrm>
          <a:prstGeom prst="rect">
            <a:avLst/>
          </a:prstGeom>
        </p:spPr>
      </p:pic>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682935" y="164592"/>
            <a:ext cx="1115568" cy="219456"/>
          </a:xfrm>
          <a:prstGeom prst="rect">
            <a:avLst/>
          </a:prstGeom>
          <a:noFill/>
        </p:spPr>
        <p:txBody>
          <a:bodyPr wrap="none">
            <a:spAutoFit/>
          </a:bodyPr>
          <a:lstStyle/>
          <a:p>
            <a:pPr algn="r">
              <a:defRPr sz="800" b="1">
                <a:solidFill>
                  <a:srgbClr val="003087"/>
                </a:solidFill>
              </a:defRPr>
            </a:pPr>
            <a:r>
              <a:t>BlueOcean</a:t>
            </a:r>
          </a:p>
        </p:txBody>
      </p:sp>
      <p:sp>
        <p:nvSpPr>
          <p:cNvPr id="3" name="TextBox 2"/>
          <p:cNvSpPr txBox="1"/>
          <p:nvPr/>
        </p:nvSpPr>
        <p:spPr>
          <a:xfrm>
            <a:off x="566928" y="6601968"/>
            <a:ext cx="11057839" cy="146304"/>
          </a:xfrm>
          <a:prstGeom prst="rect">
            <a:avLst/>
          </a:prstGeom>
          <a:noFill/>
        </p:spPr>
        <p:txBody>
          <a:bodyPr wrap="none">
            <a:spAutoFit/>
          </a:bodyPr>
          <a:lstStyle/>
          <a:p>
            <a:pPr>
              <a:defRPr sz="600">
                <a:solidFill>
                  <a:srgbClr val="A0A6AD"/>
                </a:solidFill>
              </a:defRPr>
            </a:pPr>
            <a:r>
              <a:t>Exhibit 2: evidence clarifies the strategic trade-off</a:t>
            </a:r>
          </a:p>
        </p:txBody>
      </p:sp>
      <p:sp>
        <p:nvSpPr>
          <p:cNvPr id="4" name="TextBox 3"/>
          <p:cNvSpPr txBox="1"/>
          <p:nvPr/>
        </p:nvSpPr>
        <p:spPr>
          <a:xfrm>
            <a:off x="566928" y="347472"/>
            <a:ext cx="9692640" cy="841248"/>
          </a:xfrm>
          <a:prstGeom prst="rect">
            <a:avLst/>
          </a:prstGeom>
          <a:noFill/>
        </p:spPr>
        <p:txBody>
          <a:bodyPr wrap="square">
            <a:spAutoFit/>
          </a:bodyPr>
          <a:lstStyle/>
          <a:p>
            <a:pPr>
              <a:defRPr sz="2000" b="0">
                <a:solidFill>
                  <a:srgbClr val="333333"/>
                </a:solidFill>
              </a:defRPr>
            </a:pPr>
            <a:r>
              <a:t>Exhibit 2: evidence clarifies the strategic trade-off</a:t>
            </a:r>
          </a:p>
        </p:txBody>
      </p:sp>
      <p:sp>
        <p:nvSpPr>
          <p:cNvPr id="5" name="Rectangle 4"/>
          <p:cNvSpPr/>
          <p:nvPr/>
        </p:nvSpPr>
        <p:spPr>
          <a:xfrm>
            <a:off x="566928" y="1115568"/>
            <a:ext cx="11057839" cy="9144"/>
          </a:xfrm>
          <a:prstGeom prst="rect">
            <a:avLst/>
          </a:prstGeom>
          <a:solidFill>
            <a:srgbClr val="C8C8C8"/>
          </a:solidFill>
          <a:ln>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chart-2.png"/>
          <p:cNvPicPr>
            <a:picLocks noChangeAspect="1"/>
          </p:cNvPicPr>
          <p:nvPr/>
        </p:nvPicPr>
        <p:blipFill>
          <a:blip r:embed="rId2"/>
          <a:stretch>
            <a:fillRect/>
          </a:stretch>
        </p:blipFill>
        <p:spPr>
          <a:xfrm>
            <a:off x="868680" y="1188720"/>
            <a:ext cx="10378440" cy="4846320"/>
          </a:xfrm>
          <a:prstGeom prst="rect">
            <a:avLst/>
          </a:prstGeom>
        </p:spPr>
      </p:pic>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682935" y="164592"/>
            <a:ext cx="1115568" cy="219456"/>
          </a:xfrm>
          <a:prstGeom prst="rect">
            <a:avLst/>
          </a:prstGeom>
          <a:noFill/>
        </p:spPr>
        <p:txBody>
          <a:bodyPr wrap="none">
            <a:spAutoFit/>
          </a:bodyPr>
          <a:lstStyle/>
          <a:p>
            <a:pPr algn="r">
              <a:defRPr sz="800" b="1">
                <a:solidFill>
                  <a:srgbClr val="003087"/>
                </a:solidFill>
              </a:defRPr>
            </a:pPr>
            <a:r>
              <a:t>BlueOcean</a:t>
            </a:r>
          </a:p>
        </p:txBody>
      </p:sp>
      <p:sp>
        <p:nvSpPr>
          <p:cNvPr id="3" name="TextBox 2"/>
          <p:cNvSpPr txBox="1"/>
          <p:nvPr/>
        </p:nvSpPr>
        <p:spPr>
          <a:xfrm>
            <a:off x="566928" y="6601968"/>
            <a:ext cx="11057839" cy="146304"/>
          </a:xfrm>
          <a:prstGeom prst="rect">
            <a:avLst/>
          </a:prstGeom>
          <a:noFill/>
        </p:spPr>
        <p:txBody>
          <a:bodyPr wrap="none">
            <a:spAutoFit/>
          </a:bodyPr>
          <a:lstStyle/>
          <a:p>
            <a:pPr>
              <a:defRPr sz="600">
                <a:solidFill>
                  <a:srgbClr val="A0A6AD"/>
                </a:solidFill>
              </a:defRPr>
            </a:pPr>
            <a:r>
              <a:t>Exhibit 3: evidence clarifies the strategic trade-off</a:t>
            </a:r>
          </a:p>
        </p:txBody>
      </p:sp>
      <p:sp>
        <p:nvSpPr>
          <p:cNvPr id="4" name="TextBox 3"/>
          <p:cNvSpPr txBox="1"/>
          <p:nvPr/>
        </p:nvSpPr>
        <p:spPr>
          <a:xfrm>
            <a:off x="566928" y="347472"/>
            <a:ext cx="9692640" cy="841248"/>
          </a:xfrm>
          <a:prstGeom prst="rect">
            <a:avLst/>
          </a:prstGeom>
          <a:noFill/>
        </p:spPr>
        <p:txBody>
          <a:bodyPr wrap="square">
            <a:spAutoFit/>
          </a:bodyPr>
          <a:lstStyle/>
          <a:p>
            <a:pPr>
              <a:defRPr sz="2000" b="0">
                <a:solidFill>
                  <a:srgbClr val="333333"/>
                </a:solidFill>
              </a:defRPr>
            </a:pPr>
            <a:r>
              <a:t>Exhibit 3: evidence clarifies the strategic trade-off</a:t>
            </a:r>
          </a:p>
        </p:txBody>
      </p:sp>
      <p:sp>
        <p:nvSpPr>
          <p:cNvPr id="5" name="Rectangle 4"/>
          <p:cNvSpPr/>
          <p:nvPr/>
        </p:nvSpPr>
        <p:spPr>
          <a:xfrm>
            <a:off x="566928" y="1115568"/>
            <a:ext cx="11057839" cy="9144"/>
          </a:xfrm>
          <a:prstGeom prst="rect">
            <a:avLst/>
          </a:prstGeom>
          <a:solidFill>
            <a:srgbClr val="C8C8C8"/>
          </a:solidFill>
          <a:ln>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chart-3.png"/>
          <p:cNvPicPr>
            <a:picLocks noChangeAspect="1"/>
          </p:cNvPicPr>
          <p:nvPr/>
        </p:nvPicPr>
        <p:blipFill>
          <a:blip r:embed="rId2"/>
          <a:stretch>
            <a:fillRect/>
          </a:stretch>
        </p:blipFill>
        <p:spPr>
          <a:xfrm>
            <a:off x="868680" y="1188720"/>
            <a:ext cx="10378440" cy="4846320"/>
          </a:xfrm>
          <a:prstGeom prst="rect">
            <a:avLst/>
          </a:prstGeom>
        </p:spPr>
      </p:pic>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682935" y="164592"/>
            <a:ext cx="1115568" cy="219456"/>
          </a:xfrm>
          <a:prstGeom prst="rect">
            <a:avLst/>
          </a:prstGeom>
          <a:noFill/>
        </p:spPr>
        <p:txBody>
          <a:bodyPr wrap="none">
            <a:spAutoFit/>
          </a:bodyPr>
          <a:lstStyle/>
          <a:p>
            <a:pPr algn="r">
              <a:defRPr sz="800" b="1">
                <a:solidFill>
                  <a:srgbClr val="003087"/>
                </a:solidFill>
              </a:defRPr>
            </a:pPr>
            <a:r>
              <a:t>BlueOcean</a:t>
            </a:r>
          </a:p>
        </p:txBody>
      </p:sp>
      <p:sp>
        <p:nvSpPr>
          <p:cNvPr id="3" name="TextBox 2"/>
          <p:cNvSpPr txBox="1"/>
          <p:nvPr/>
        </p:nvSpPr>
        <p:spPr>
          <a:xfrm>
            <a:off x="566928" y="6601968"/>
            <a:ext cx="11057839" cy="146304"/>
          </a:xfrm>
          <a:prstGeom prst="rect">
            <a:avLst/>
          </a:prstGeom>
          <a:noFill/>
        </p:spPr>
        <p:txBody>
          <a:bodyPr wrap="none">
            <a:spAutoFit/>
          </a:bodyPr>
          <a:lstStyle/>
          <a:p>
            <a:pPr>
              <a:defRPr sz="600">
                <a:solidFill>
                  <a:srgbClr val="A0A6AD"/>
                </a:solidFill>
              </a:defRPr>
            </a:pPr>
            <a:r>
              <a:t>Exhibit 4: evidence clarifies the strategic trade-off</a:t>
            </a:r>
          </a:p>
        </p:txBody>
      </p:sp>
      <p:sp>
        <p:nvSpPr>
          <p:cNvPr id="4" name="TextBox 3"/>
          <p:cNvSpPr txBox="1"/>
          <p:nvPr/>
        </p:nvSpPr>
        <p:spPr>
          <a:xfrm>
            <a:off x="566928" y="347472"/>
            <a:ext cx="9692640" cy="841248"/>
          </a:xfrm>
          <a:prstGeom prst="rect">
            <a:avLst/>
          </a:prstGeom>
          <a:noFill/>
        </p:spPr>
        <p:txBody>
          <a:bodyPr wrap="square">
            <a:spAutoFit/>
          </a:bodyPr>
          <a:lstStyle/>
          <a:p>
            <a:pPr>
              <a:defRPr sz="2000" b="0">
                <a:solidFill>
                  <a:srgbClr val="333333"/>
                </a:solidFill>
              </a:defRPr>
            </a:pPr>
            <a:r>
              <a:t>Exhibit 4: evidence clarifies the strategic trade-off</a:t>
            </a:r>
          </a:p>
        </p:txBody>
      </p:sp>
      <p:sp>
        <p:nvSpPr>
          <p:cNvPr id="5" name="Rectangle 4"/>
          <p:cNvSpPr/>
          <p:nvPr/>
        </p:nvSpPr>
        <p:spPr>
          <a:xfrm>
            <a:off x="566928" y="1115568"/>
            <a:ext cx="11057839" cy="9144"/>
          </a:xfrm>
          <a:prstGeom prst="rect">
            <a:avLst/>
          </a:prstGeom>
          <a:solidFill>
            <a:srgbClr val="C8C8C8"/>
          </a:solidFill>
          <a:ln>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chart-4.png"/>
          <p:cNvPicPr>
            <a:picLocks noChangeAspect="1"/>
          </p:cNvPicPr>
          <p:nvPr/>
        </p:nvPicPr>
        <p:blipFill>
          <a:blip r:embed="rId2"/>
          <a:stretch>
            <a:fillRect/>
          </a:stretch>
        </p:blipFill>
        <p:spPr>
          <a:xfrm>
            <a:off x="868680" y="1188720"/>
            <a:ext cx="10378440" cy="4846320"/>
          </a:xfrm>
          <a:prstGeom prst="rect">
            <a:avLst/>
          </a:prstGeom>
        </p:spPr>
      </p:pic>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682935" y="164592"/>
            <a:ext cx="1115568" cy="219456"/>
          </a:xfrm>
          <a:prstGeom prst="rect">
            <a:avLst/>
          </a:prstGeom>
          <a:noFill/>
        </p:spPr>
        <p:txBody>
          <a:bodyPr wrap="none">
            <a:spAutoFit/>
          </a:bodyPr>
          <a:lstStyle/>
          <a:p>
            <a:pPr algn="r">
              <a:defRPr sz="800" b="1">
                <a:solidFill>
                  <a:srgbClr val="003087"/>
                </a:solidFill>
              </a:defRPr>
            </a:pPr>
            <a:r>
              <a:t>BlueOcean</a:t>
            </a:r>
          </a:p>
        </p:txBody>
      </p:sp>
      <p:sp>
        <p:nvSpPr>
          <p:cNvPr id="3" name="TextBox 2"/>
          <p:cNvSpPr txBox="1"/>
          <p:nvPr/>
        </p:nvSpPr>
        <p:spPr>
          <a:xfrm>
            <a:off x="566928" y="6601968"/>
            <a:ext cx="11057839" cy="146304"/>
          </a:xfrm>
          <a:prstGeom prst="rect">
            <a:avLst/>
          </a:prstGeom>
          <a:noFill/>
        </p:spPr>
        <p:txBody>
          <a:bodyPr wrap="none">
            <a:spAutoFit/>
          </a:bodyPr>
          <a:lstStyle/>
          <a:p>
            <a:pPr>
              <a:defRPr sz="600">
                <a:solidFill>
                  <a:srgbClr val="A0A6AD"/>
                </a:solidFill>
              </a:defRPr>
            </a:pPr>
            <a:r>
              <a:t>Exhibit 5: evidence clarifies the strategic trade-off</a:t>
            </a:r>
          </a:p>
        </p:txBody>
      </p:sp>
      <p:sp>
        <p:nvSpPr>
          <p:cNvPr id="4" name="TextBox 3"/>
          <p:cNvSpPr txBox="1"/>
          <p:nvPr/>
        </p:nvSpPr>
        <p:spPr>
          <a:xfrm>
            <a:off x="566928" y="347472"/>
            <a:ext cx="9692640" cy="841248"/>
          </a:xfrm>
          <a:prstGeom prst="rect">
            <a:avLst/>
          </a:prstGeom>
          <a:noFill/>
        </p:spPr>
        <p:txBody>
          <a:bodyPr wrap="square">
            <a:spAutoFit/>
          </a:bodyPr>
          <a:lstStyle/>
          <a:p>
            <a:pPr>
              <a:defRPr sz="2000" b="0">
                <a:solidFill>
                  <a:srgbClr val="333333"/>
                </a:solidFill>
              </a:defRPr>
            </a:pPr>
            <a:r>
              <a:t>Exhibit 5: evidence clarifies the strategic trade-off</a:t>
            </a:r>
          </a:p>
        </p:txBody>
      </p:sp>
      <p:sp>
        <p:nvSpPr>
          <p:cNvPr id="5" name="Rectangle 4"/>
          <p:cNvSpPr/>
          <p:nvPr/>
        </p:nvSpPr>
        <p:spPr>
          <a:xfrm>
            <a:off x="566928" y="1115568"/>
            <a:ext cx="11057839" cy="9144"/>
          </a:xfrm>
          <a:prstGeom prst="rect">
            <a:avLst/>
          </a:prstGeom>
          <a:solidFill>
            <a:srgbClr val="C8C8C8"/>
          </a:solidFill>
          <a:ln>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chart-5.png"/>
          <p:cNvPicPr>
            <a:picLocks noChangeAspect="1"/>
          </p:cNvPicPr>
          <p:nvPr/>
        </p:nvPicPr>
        <p:blipFill>
          <a:blip r:embed="rId2"/>
          <a:stretch>
            <a:fillRect/>
          </a:stretch>
        </p:blipFill>
        <p:spPr>
          <a:xfrm>
            <a:off x="868680" y="1188720"/>
            <a:ext cx="10378440" cy="4846320"/>
          </a:xfrm>
          <a:prstGeom prst="rect">
            <a:avLst/>
          </a:prstGeom>
        </p:spPr>
      </p:pic>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682935" y="164592"/>
            <a:ext cx="1115568" cy="219456"/>
          </a:xfrm>
          <a:prstGeom prst="rect">
            <a:avLst/>
          </a:prstGeom>
          <a:noFill/>
        </p:spPr>
        <p:txBody>
          <a:bodyPr wrap="none">
            <a:spAutoFit/>
          </a:bodyPr>
          <a:lstStyle/>
          <a:p>
            <a:pPr algn="r">
              <a:defRPr sz="800" b="1">
                <a:solidFill>
                  <a:srgbClr val="003087"/>
                </a:solidFill>
              </a:defRPr>
            </a:pPr>
            <a:r>
              <a:t>BlueOcean</a:t>
            </a:r>
          </a:p>
        </p:txBody>
      </p:sp>
      <p:sp>
        <p:nvSpPr>
          <p:cNvPr id="3" name="TextBox 2"/>
          <p:cNvSpPr txBox="1"/>
          <p:nvPr/>
        </p:nvSpPr>
        <p:spPr>
          <a:xfrm>
            <a:off x="566928" y="6601968"/>
            <a:ext cx="11057839" cy="146304"/>
          </a:xfrm>
          <a:prstGeom prst="rect">
            <a:avLst/>
          </a:prstGeom>
          <a:noFill/>
        </p:spPr>
        <p:txBody>
          <a:bodyPr wrap="none">
            <a:spAutoFit/>
          </a:bodyPr>
          <a:lstStyle/>
          <a:p>
            <a:pPr>
              <a:defRPr sz="600">
                <a:solidFill>
                  <a:srgbClr val="A0A6AD"/>
                </a:solidFill>
              </a:defRPr>
            </a:pPr>
            <a:r>
              <a:t>Exhibit 6: evidence clarifies the strategic trade-off</a:t>
            </a:r>
          </a:p>
        </p:txBody>
      </p:sp>
      <p:sp>
        <p:nvSpPr>
          <p:cNvPr id="4" name="TextBox 3"/>
          <p:cNvSpPr txBox="1"/>
          <p:nvPr/>
        </p:nvSpPr>
        <p:spPr>
          <a:xfrm>
            <a:off x="566928" y="347472"/>
            <a:ext cx="9692640" cy="841248"/>
          </a:xfrm>
          <a:prstGeom prst="rect">
            <a:avLst/>
          </a:prstGeom>
          <a:noFill/>
        </p:spPr>
        <p:txBody>
          <a:bodyPr wrap="square">
            <a:spAutoFit/>
          </a:bodyPr>
          <a:lstStyle/>
          <a:p>
            <a:pPr>
              <a:defRPr sz="2000" b="0">
                <a:solidFill>
                  <a:srgbClr val="333333"/>
                </a:solidFill>
              </a:defRPr>
            </a:pPr>
            <a:r>
              <a:t>Exhibit 6: evidence clarifies the strategic trade-off</a:t>
            </a:r>
          </a:p>
        </p:txBody>
      </p:sp>
      <p:sp>
        <p:nvSpPr>
          <p:cNvPr id="5" name="Rectangle 4"/>
          <p:cNvSpPr/>
          <p:nvPr/>
        </p:nvSpPr>
        <p:spPr>
          <a:xfrm>
            <a:off x="566928" y="1115568"/>
            <a:ext cx="11057839" cy="9144"/>
          </a:xfrm>
          <a:prstGeom prst="rect">
            <a:avLst/>
          </a:prstGeom>
          <a:solidFill>
            <a:srgbClr val="C8C8C8"/>
          </a:solidFill>
          <a:ln>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chart-6.png"/>
          <p:cNvPicPr>
            <a:picLocks noChangeAspect="1"/>
          </p:cNvPicPr>
          <p:nvPr/>
        </p:nvPicPr>
        <p:blipFill>
          <a:blip r:embed="rId2"/>
          <a:stretch>
            <a:fillRect/>
          </a:stretch>
        </p:blipFill>
        <p:spPr>
          <a:xfrm>
            <a:off x="868680" y="1188720"/>
            <a:ext cx="10378440" cy="4846320"/>
          </a:xfrm>
          <a:prstGeom prst="rect">
            <a:avLst/>
          </a:prstGeom>
        </p:spPr>
      </p:pic>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682935" y="164592"/>
            <a:ext cx="1115568" cy="219456"/>
          </a:xfrm>
          <a:prstGeom prst="rect">
            <a:avLst/>
          </a:prstGeom>
          <a:noFill/>
        </p:spPr>
        <p:txBody>
          <a:bodyPr wrap="none">
            <a:spAutoFit/>
          </a:bodyPr>
          <a:lstStyle/>
          <a:p>
            <a:pPr algn="r">
              <a:defRPr sz="800" b="1">
                <a:solidFill>
                  <a:srgbClr val="003087"/>
                </a:solidFill>
              </a:defRPr>
            </a:pPr>
            <a:r>
              <a:t>BlueOcean</a:t>
            </a:r>
          </a:p>
        </p:txBody>
      </p:sp>
      <p:sp>
        <p:nvSpPr>
          <p:cNvPr id="3" name="TextBox 2"/>
          <p:cNvSpPr txBox="1"/>
          <p:nvPr/>
        </p:nvSpPr>
        <p:spPr>
          <a:xfrm>
            <a:off x="566928" y="6601968"/>
            <a:ext cx="11057839" cy="146304"/>
          </a:xfrm>
          <a:prstGeom prst="rect">
            <a:avLst/>
          </a:prstGeom>
          <a:noFill/>
        </p:spPr>
        <p:txBody>
          <a:bodyPr wrap="none">
            <a:spAutoFit/>
          </a:bodyPr>
          <a:lstStyle/>
          <a:p>
            <a:pPr>
              <a:defRPr sz="600">
                <a:solidFill>
                  <a:srgbClr val="A0A6AD"/>
                </a:solidFill>
              </a:defRPr>
            </a:pPr>
            <a:r>
              <a:t>Closing</a:t>
            </a:r>
          </a:p>
        </p:txBody>
      </p:sp>
      <p:pic>
        <p:nvPicPr>
          <p:cNvPr id="4" name="Picture 3" descr="cover-ai.png"/>
          <p:cNvPicPr>
            <a:picLocks noChangeAspect="1"/>
          </p:cNvPicPr>
          <p:nvPr/>
        </p:nvPicPr>
        <p:blipFill>
          <a:blip r:embed="rId2"/>
          <a:stretch>
            <a:fillRect/>
          </a:stretch>
        </p:blipFill>
        <p:spPr>
          <a:xfrm>
            <a:off x="6583680" y="1051560"/>
            <a:ext cx="5074920" cy="4800600"/>
          </a:xfrm>
          <a:prstGeom prst="rect">
            <a:avLst/>
          </a:prstGeom>
        </p:spPr>
      </p:pic>
      <p:sp>
        <p:nvSpPr>
          <p:cNvPr id="5" name="TextBox 4"/>
          <p:cNvSpPr txBox="1"/>
          <p:nvPr/>
        </p:nvSpPr>
        <p:spPr>
          <a:xfrm>
            <a:off x="566928" y="347472"/>
            <a:ext cx="9692640" cy="841248"/>
          </a:xfrm>
          <a:prstGeom prst="rect">
            <a:avLst/>
          </a:prstGeom>
          <a:noFill/>
        </p:spPr>
        <p:txBody>
          <a:bodyPr wrap="square">
            <a:spAutoFit/>
          </a:bodyPr>
          <a:lstStyle/>
          <a:p>
            <a:pPr>
              <a:defRPr sz="2000" b="0">
                <a:solidFill>
                  <a:srgbClr val="333333"/>
                </a:solidFill>
              </a:defRPr>
            </a:pPr>
            <a:r>
              <a:t>The next step is to convert the research into a short list of decisions</a:t>
            </a:r>
          </a:p>
        </p:txBody>
      </p:sp>
      <p:sp>
        <p:nvSpPr>
          <p:cNvPr id="6" name="Rectangle 5"/>
          <p:cNvSpPr/>
          <p:nvPr/>
        </p:nvSpPr>
        <p:spPr>
          <a:xfrm>
            <a:off x="566928" y="1115568"/>
            <a:ext cx="11057839" cy="9144"/>
          </a:xfrm>
          <a:prstGeom prst="rect">
            <a:avLst/>
          </a:prstGeom>
          <a:solidFill>
            <a:srgbClr val="C8C8C8"/>
          </a:solidFill>
          <a:ln>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66928" y="1463040"/>
            <a:ext cx="5715000" cy="2926080"/>
          </a:xfrm>
          <a:prstGeom prst="rect">
            <a:avLst/>
          </a:prstGeom>
          <a:noFill/>
        </p:spPr>
        <p:txBody>
          <a:bodyPr wrap="square">
            <a:spAutoFit/>
          </a:bodyPr>
          <a:lstStyle/>
          <a:p>
            <a:pPr>
              <a:defRPr sz="1500">
                <a:solidFill>
                  <a:srgbClr val="003087"/>
                </a:solidFill>
              </a:defRPr>
            </a:pPr>
            <a:r>
              <a:t>A BlueOcean Research Report on the Path to Grid-Scale Viability and Capital Allocation</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